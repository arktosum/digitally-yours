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e0da9627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e0da9627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e0da9627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e0da9627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e0da9627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e0da9627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e0da9627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e0da9627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e0da9627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3e0da9627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3e0da9627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3e0da9627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e0da9627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e0da9627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UNDERSTANDING SAFE ONLINE COMMUNICATION</a:t>
            </a:r>
            <a:endParaRPr/>
          </a:p>
        </p:txBody>
      </p:sp>
      <p:pic>
        <p:nvPicPr>
          <p:cNvPr id="55" name="Google Shape;55;p13" title="images (12).png"/>
          <p:cNvPicPr preferRelativeResize="0"/>
          <p:nvPr/>
        </p:nvPicPr>
        <p:blipFill>
          <a:blip r:embed="rId3">
            <a:alphaModFix/>
          </a:blip>
          <a:stretch>
            <a:fillRect/>
          </a:stretch>
        </p:blipFill>
        <p:spPr>
          <a:xfrm>
            <a:off x="5305525" y="2797175"/>
            <a:ext cx="3730391" cy="234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687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Safe online communication is all about protecting your privacy and personal information while interacting with others online. In India, the digital environment is rapidly evolving, so it is essential to be aware of the tools and best practices that keep you safe.</a:t>
            </a:r>
            <a:endParaRPr>
              <a:solidFill>
                <a:schemeClr val="dk1"/>
              </a:solidFill>
            </a:endParaRPr>
          </a:p>
          <a:p>
            <a:pPr indent="0" lvl="0" marL="0" rtl="0" algn="l">
              <a:spcBef>
                <a:spcPts val="1200"/>
              </a:spcBef>
              <a:spcAft>
                <a:spcPts val="1200"/>
              </a:spcAft>
              <a:buNone/>
            </a:pPr>
            <a:r>
              <a:t/>
            </a:r>
            <a:endParaRPr sz="1500"/>
          </a:p>
        </p:txBody>
      </p:sp>
      <p:pic>
        <p:nvPicPr>
          <p:cNvPr id="61" name="Google Shape;61;p14" title="images (13).png"/>
          <p:cNvPicPr preferRelativeResize="0"/>
          <p:nvPr/>
        </p:nvPicPr>
        <p:blipFill>
          <a:blip r:embed="rId3">
            <a:alphaModFix/>
          </a:blip>
          <a:stretch>
            <a:fillRect/>
          </a:stretch>
        </p:blipFill>
        <p:spPr>
          <a:xfrm>
            <a:off x="4849013" y="2571738"/>
            <a:ext cx="2143125" cy="2143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STRONG PASSWORDS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Passwords</a:t>
            </a:r>
            <a:r>
              <a:rPr lang="en" sz="1500">
                <a:solidFill>
                  <a:schemeClr val="dk1"/>
                </a:solidFill>
              </a:rPr>
              <a:t>: Use unique and complex passwords for every online account. A strong password includes:</a:t>
            </a:r>
            <a:endParaRPr sz="1500">
              <a:solidFill>
                <a:schemeClr val="dk1"/>
              </a:solidFill>
            </a:endParaRPr>
          </a:p>
          <a:p>
            <a:pPr indent="-323850" lvl="2" marL="1371600" rtl="0" algn="l">
              <a:spcBef>
                <a:spcPts val="1200"/>
              </a:spcBef>
              <a:spcAft>
                <a:spcPts val="0"/>
              </a:spcAft>
              <a:buClr>
                <a:schemeClr val="dk1"/>
              </a:buClr>
              <a:buSzPts val="1500"/>
              <a:buChar char="■"/>
            </a:pPr>
            <a:r>
              <a:rPr lang="en" sz="1500">
                <a:solidFill>
                  <a:schemeClr val="dk1"/>
                </a:solidFill>
              </a:rPr>
              <a:t>A mix of upper and lower case letters, numbers, and symbols.</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Avoid using names, dates, or easily guessable combinations.</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download - 2025-03-28T164037.860.jpg"/>
          <p:cNvPicPr preferRelativeResize="0"/>
          <p:nvPr/>
        </p:nvPicPr>
        <p:blipFill>
          <a:blip r:embed="rId3">
            <a:alphaModFix/>
          </a:blip>
          <a:stretch>
            <a:fillRect/>
          </a:stretch>
        </p:blipFill>
        <p:spPr>
          <a:xfrm>
            <a:off x="2655138" y="2689575"/>
            <a:ext cx="3592525" cy="219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FACTOR AUTHENTICATION</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500">
                <a:solidFill>
                  <a:schemeClr val="dk1"/>
                </a:solidFill>
              </a:rPr>
              <a:t>Enable </a:t>
            </a:r>
            <a:r>
              <a:rPr b="1" lang="en" sz="1500">
                <a:solidFill>
                  <a:schemeClr val="dk1"/>
                </a:solidFill>
              </a:rPr>
              <a:t>2FA</a:t>
            </a:r>
            <a:r>
              <a:rPr lang="en" sz="1500">
                <a:solidFill>
                  <a:schemeClr val="dk1"/>
                </a:solidFill>
              </a:rPr>
              <a:t> on services like </a:t>
            </a:r>
            <a:r>
              <a:rPr b="1" lang="en" sz="1500">
                <a:solidFill>
                  <a:schemeClr val="dk1"/>
                </a:solidFill>
              </a:rPr>
              <a:t>Gmail</a:t>
            </a:r>
            <a:r>
              <a:rPr lang="en" sz="1500">
                <a:solidFill>
                  <a:schemeClr val="dk1"/>
                </a:solidFill>
              </a:rPr>
              <a:t>, </a:t>
            </a:r>
            <a:r>
              <a:rPr b="1" lang="en" sz="1500">
                <a:solidFill>
                  <a:schemeClr val="dk1"/>
                </a:solidFill>
              </a:rPr>
              <a:t>WhatsApp</a:t>
            </a:r>
            <a:r>
              <a:rPr lang="en" sz="1500">
                <a:solidFill>
                  <a:schemeClr val="dk1"/>
                </a:solidFill>
              </a:rPr>
              <a:t>, and </a:t>
            </a:r>
            <a:r>
              <a:rPr b="1" lang="en" sz="1500">
                <a:solidFill>
                  <a:schemeClr val="dk1"/>
                </a:solidFill>
              </a:rPr>
              <a:t>Facebook</a:t>
            </a:r>
            <a:r>
              <a:rPr lang="en" sz="1500">
                <a:solidFill>
                  <a:schemeClr val="dk1"/>
                </a:solidFill>
              </a:rPr>
              <a:t>. This adds an extra layer of security by asking for a second form of verification, like a one-time password (OTP) sent to your mobile number.</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2fa-example.jpg"/>
          <p:cNvPicPr preferRelativeResize="0"/>
          <p:nvPr/>
        </p:nvPicPr>
        <p:blipFill>
          <a:blip r:embed="rId3">
            <a:alphaModFix/>
          </a:blip>
          <a:stretch>
            <a:fillRect/>
          </a:stretch>
        </p:blipFill>
        <p:spPr>
          <a:xfrm>
            <a:off x="864350" y="2157825"/>
            <a:ext cx="7128424" cy="2830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PHISHING AND SCAM AWARENESS</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1200"/>
              </a:spcBef>
              <a:spcAft>
                <a:spcPts val="1200"/>
              </a:spcAft>
              <a:buNone/>
            </a:pPr>
            <a:r>
              <a:rPr b="1" lang="en" sz="1500">
                <a:solidFill>
                  <a:schemeClr val="dk1"/>
                </a:solidFill>
              </a:rPr>
              <a:t>Phishing</a:t>
            </a:r>
            <a:r>
              <a:rPr lang="en" sz="1500">
                <a:solidFill>
                  <a:schemeClr val="dk1"/>
                </a:solidFill>
              </a:rPr>
              <a:t> is a deceptive practice where fraudsters impersonate legitimate institutions (banks, government agencies, etc.) to steal sensitive information like usernames, passwords, or credit card details.</a:t>
            </a:r>
            <a:endParaRPr sz="1500"/>
          </a:p>
        </p:txBody>
      </p:sp>
      <p:pic>
        <p:nvPicPr>
          <p:cNvPr id="82" name="Google Shape;82;p17" title="download - 2025-03-28T164644.436.jpg"/>
          <p:cNvPicPr preferRelativeResize="0"/>
          <p:nvPr/>
        </p:nvPicPr>
        <p:blipFill>
          <a:blip r:embed="rId3">
            <a:alphaModFix/>
          </a:blip>
          <a:stretch>
            <a:fillRect/>
          </a:stretch>
        </p:blipFill>
        <p:spPr>
          <a:xfrm>
            <a:off x="2489038" y="2302450"/>
            <a:ext cx="4165925" cy="2423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 FLAGS</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2" marL="1371600" rtl="0" algn="l">
              <a:spcBef>
                <a:spcPts val="1200"/>
              </a:spcBef>
              <a:spcAft>
                <a:spcPts val="0"/>
              </a:spcAft>
              <a:buClr>
                <a:schemeClr val="dk1"/>
              </a:buClr>
              <a:buSzPts val="1500"/>
              <a:buChar char="■"/>
            </a:pPr>
            <a:r>
              <a:rPr lang="en" sz="1500">
                <a:solidFill>
                  <a:schemeClr val="dk1"/>
                </a:solidFill>
              </a:rPr>
              <a:t>Suspicious messages from unknown sources or asking for urgent action.</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Emails or SMS messages with fake links that resemble legitimate websites (e.g., "hxxps://www.y0urbank.co.in").</a:t>
            </a: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Requests for personal details (passwords, Aadhar numbers, bank account information).</a:t>
            </a:r>
            <a:endParaRPr sz="1500">
              <a:solidFill>
                <a:schemeClr val="dk1"/>
              </a:solidFill>
            </a:endParaRPr>
          </a:p>
          <a:p>
            <a:pPr indent="0" lvl="0" marL="914400" rtl="0" algn="l">
              <a:spcBef>
                <a:spcPts val="1200"/>
              </a:spcBef>
              <a:spcAft>
                <a:spcPts val="0"/>
              </a:spcAft>
              <a:buNone/>
            </a:pPr>
            <a:r>
              <a:rPr lang="en" sz="1500">
                <a:solidFill>
                  <a:schemeClr val="dk1"/>
                </a:solidFill>
              </a:rPr>
              <a:t>Always </a:t>
            </a:r>
            <a:r>
              <a:rPr b="1" lang="en" sz="1500">
                <a:solidFill>
                  <a:schemeClr val="dk1"/>
                </a:solidFill>
              </a:rPr>
              <a:t>verify the authenticity</a:t>
            </a:r>
            <a:r>
              <a:rPr lang="en" sz="1500">
                <a:solidFill>
                  <a:schemeClr val="dk1"/>
                </a:solidFill>
              </a:rPr>
              <a:t> of any unsolicited communication by contacting the institution directly using official phone numbers or email addresses.</a:t>
            </a:r>
            <a:endParaRPr sz="1500">
              <a:solidFill>
                <a:schemeClr val="dk1"/>
              </a:solidFill>
            </a:endParaRPr>
          </a:p>
          <a:p>
            <a:pPr indent="0" lvl="0" marL="914400" rtl="0" algn="l">
              <a:spcBef>
                <a:spcPts val="1200"/>
              </a:spcBef>
              <a:spcAft>
                <a:spcPts val="1200"/>
              </a:spcAft>
              <a:buNone/>
            </a:pPr>
            <a:r>
              <a:t/>
            </a:r>
            <a:endParaRPr b="1" sz="1500">
              <a:solidFill>
                <a:schemeClr val="dk1"/>
              </a:solidFill>
            </a:endParaRPr>
          </a:p>
        </p:txBody>
      </p:sp>
      <p:pic>
        <p:nvPicPr>
          <p:cNvPr id="89" name="Google Shape;89;p18" title="images (41).jpg"/>
          <p:cNvPicPr preferRelativeResize="0"/>
          <p:nvPr/>
        </p:nvPicPr>
        <p:blipFill>
          <a:blip r:embed="rId3">
            <a:alphaModFix/>
          </a:blip>
          <a:stretch>
            <a:fillRect/>
          </a:stretch>
        </p:blipFill>
        <p:spPr>
          <a:xfrm>
            <a:off x="3062302" y="3305652"/>
            <a:ext cx="3664141" cy="183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SECURE WEBSITES AND PUBLIC WIFI SAFETY</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1200"/>
              </a:spcBef>
              <a:spcAft>
                <a:spcPts val="0"/>
              </a:spcAft>
              <a:buNone/>
            </a:pPr>
            <a:r>
              <a:rPr b="1" lang="en" sz="1500">
                <a:solidFill>
                  <a:schemeClr val="dk1"/>
                </a:solidFill>
              </a:rPr>
              <a:t>HTTPS</a:t>
            </a:r>
            <a:r>
              <a:rPr lang="en" sz="1500">
                <a:solidFill>
                  <a:schemeClr val="dk1"/>
                </a:solidFill>
              </a:rPr>
              <a:t> indicates that a website is secure. When accessing sensitive sites (e.g., online banking, shopping), ensure the URL starts with </a:t>
            </a:r>
            <a:r>
              <a:rPr b="1" lang="en" sz="1500">
                <a:solidFill>
                  <a:schemeClr val="dk1"/>
                </a:solidFill>
              </a:rPr>
              <a:t>HTTPS</a:t>
            </a:r>
            <a:r>
              <a:rPr lang="en" sz="1500">
                <a:solidFill>
                  <a:schemeClr val="dk1"/>
                </a:solidFill>
              </a:rPr>
              <a:t> (the "S" stands for Secure). You will also see a </a:t>
            </a:r>
            <a:r>
              <a:rPr b="1" lang="en" sz="1500">
                <a:solidFill>
                  <a:schemeClr val="dk1"/>
                </a:solidFill>
              </a:rPr>
              <a:t>padlock</a:t>
            </a:r>
            <a:r>
              <a:rPr lang="en" sz="1500">
                <a:solidFill>
                  <a:schemeClr val="dk1"/>
                </a:solidFill>
              </a:rPr>
              <a:t> symbol next to the URL.</a:t>
            </a:r>
            <a:endParaRPr sz="1500">
              <a:solidFill>
                <a:schemeClr val="dk1"/>
              </a:solidFill>
            </a:endParaRPr>
          </a:p>
          <a:p>
            <a:pPr indent="0" lvl="0" marL="914400" rtl="0" algn="l">
              <a:spcBef>
                <a:spcPts val="1200"/>
              </a:spcBef>
              <a:spcAft>
                <a:spcPts val="0"/>
              </a:spcAft>
              <a:buNone/>
            </a:pPr>
            <a:r>
              <a:rPr lang="en" sz="1500">
                <a:solidFill>
                  <a:schemeClr val="dk1"/>
                </a:solidFill>
              </a:rPr>
              <a:t>Avoid accessing sensitive accounts (like banking or email) on </a:t>
            </a:r>
            <a:r>
              <a:rPr b="1" lang="en" sz="1500">
                <a:solidFill>
                  <a:schemeClr val="dk1"/>
                </a:solidFill>
              </a:rPr>
              <a:t>public Wi-Fi networks</a:t>
            </a:r>
            <a:r>
              <a:rPr lang="en" sz="1500">
                <a:solidFill>
                  <a:schemeClr val="dk1"/>
                </a:solidFill>
              </a:rPr>
              <a:t>, as these are more vulnerable to cyberattacks.</a:t>
            </a:r>
            <a:endParaRPr sz="1500">
              <a:solidFill>
                <a:schemeClr val="dk1"/>
              </a:solidFill>
            </a:endParaRPr>
          </a:p>
          <a:p>
            <a:pPr indent="0" lvl="0" marL="914400" rtl="0" algn="l">
              <a:spcBef>
                <a:spcPts val="1200"/>
              </a:spcBef>
              <a:spcAft>
                <a:spcPts val="0"/>
              </a:spcAft>
              <a:buNone/>
            </a:pPr>
            <a:r>
              <a:rPr lang="en" sz="1500">
                <a:solidFill>
                  <a:schemeClr val="dk1"/>
                </a:solidFill>
              </a:rPr>
              <a:t> If necessary, use a </a:t>
            </a:r>
            <a:r>
              <a:rPr b="1" lang="en" sz="1500">
                <a:solidFill>
                  <a:schemeClr val="dk1"/>
                </a:solidFill>
              </a:rPr>
              <a:t>VPN (Virtual Private Network)</a:t>
            </a:r>
            <a:r>
              <a:rPr lang="en" sz="1500">
                <a:solidFill>
                  <a:schemeClr val="dk1"/>
                </a:solidFill>
              </a:rPr>
              <a:t> to ensure secure browsing.</a:t>
            </a:r>
            <a:endParaRPr sz="1500">
              <a:solidFill>
                <a:schemeClr val="dk1"/>
              </a:solidFill>
            </a:endParaRPr>
          </a:p>
          <a:p>
            <a:pPr indent="0" lvl="0" marL="0" rtl="0" algn="l">
              <a:spcBef>
                <a:spcPts val="1200"/>
              </a:spcBef>
              <a:spcAft>
                <a:spcPts val="1200"/>
              </a:spcAft>
              <a:buNone/>
            </a:pPr>
            <a:r>
              <a:t/>
            </a:r>
            <a:endParaRPr sz="1500"/>
          </a:p>
        </p:txBody>
      </p:sp>
      <p:pic>
        <p:nvPicPr>
          <p:cNvPr id="96" name="Google Shape;96;p19" title="download - 2025-03-28T165223.181.jpg"/>
          <p:cNvPicPr preferRelativeResize="0"/>
          <p:nvPr/>
        </p:nvPicPr>
        <p:blipFill>
          <a:blip r:embed="rId3">
            <a:alphaModFix/>
          </a:blip>
          <a:stretch>
            <a:fillRect/>
          </a:stretch>
        </p:blipFill>
        <p:spPr>
          <a:xfrm>
            <a:off x="3257550" y="3322888"/>
            <a:ext cx="2628900" cy="1743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85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PRIVACY SETTING AND PERSONAL DATA PROTECTION</a:t>
            </a:r>
            <a:endParaRPr/>
          </a:p>
        </p:txBody>
      </p:sp>
      <p:sp>
        <p:nvSpPr>
          <p:cNvPr id="102" name="Google Shape;102;p20"/>
          <p:cNvSpPr txBox="1"/>
          <p:nvPr>
            <p:ph idx="1" type="body"/>
          </p:nvPr>
        </p:nvSpPr>
        <p:spPr>
          <a:xfrm>
            <a:off x="311700" y="1436325"/>
            <a:ext cx="8520600" cy="3033900"/>
          </a:xfrm>
          <a:prstGeom prst="rect">
            <a:avLst/>
          </a:prstGeom>
        </p:spPr>
        <p:txBody>
          <a:bodyPr anchorCtr="0" anchor="t" bIns="91425" lIns="91425" spcFirstLastPara="1" rIns="91425" wrap="square" tIns="91425">
            <a:normAutofit/>
          </a:bodyPr>
          <a:lstStyle/>
          <a:p>
            <a:pPr indent="0" lvl="0" marL="914400" rtl="0" algn="l">
              <a:spcBef>
                <a:spcPts val="1200"/>
              </a:spcBef>
              <a:spcAft>
                <a:spcPts val="0"/>
              </a:spcAft>
              <a:buNone/>
            </a:pPr>
            <a:r>
              <a:rPr lang="en" sz="1500">
                <a:solidFill>
                  <a:schemeClr val="dk1"/>
                </a:solidFill>
              </a:rPr>
              <a:t>Adjust privacy settings on platforms like </a:t>
            </a:r>
            <a:r>
              <a:rPr b="1" lang="en" sz="1500">
                <a:solidFill>
                  <a:schemeClr val="dk1"/>
                </a:solidFill>
              </a:rPr>
              <a:t>Facebook</a:t>
            </a:r>
            <a:r>
              <a:rPr lang="en" sz="1500">
                <a:solidFill>
                  <a:schemeClr val="dk1"/>
                </a:solidFill>
              </a:rPr>
              <a:t>, </a:t>
            </a:r>
            <a:r>
              <a:rPr b="1" lang="en" sz="1500">
                <a:solidFill>
                  <a:schemeClr val="dk1"/>
                </a:solidFill>
              </a:rPr>
              <a:t>Instagram</a:t>
            </a:r>
            <a:r>
              <a:rPr lang="en" sz="1500">
                <a:solidFill>
                  <a:schemeClr val="dk1"/>
                </a:solidFill>
              </a:rPr>
              <a:t>, </a:t>
            </a:r>
            <a:r>
              <a:rPr b="1" lang="en" sz="1500">
                <a:solidFill>
                  <a:schemeClr val="dk1"/>
                </a:solidFill>
              </a:rPr>
              <a:t>Twitter</a:t>
            </a:r>
            <a:r>
              <a:rPr lang="en" sz="1500">
                <a:solidFill>
                  <a:schemeClr val="dk1"/>
                </a:solidFill>
              </a:rPr>
              <a:t>, and </a:t>
            </a:r>
            <a:r>
              <a:rPr b="1" lang="en" sz="1500">
                <a:solidFill>
                  <a:schemeClr val="dk1"/>
                </a:solidFill>
              </a:rPr>
              <a:t>LinkedIn</a:t>
            </a:r>
            <a:r>
              <a:rPr lang="en" sz="1500">
                <a:solidFill>
                  <a:schemeClr val="dk1"/>
                </a:solidFill>
              </a:rPr>
              <a:t> to control who can view your posts and personal details.</a:t>
            </a:r>
            <a:endParaRPr sz="1500">
              <a:solidFill>
                <a:schemeClr val="dk1"/>
              </a:solidFill>
            </a:endParaRPr>
          </a:p>
          <a:p>
            <a:pPr indent="0" lvl="0" marL="914400" rtl="0" algn="l">
              <a:spcBef>
                <a:spcPts val="1200"/>
              </a:spcBef>
              <a:spcAft>
                <a:spcPts val="0"/>
              </a:spcAft>
              <a:buNone/>
            </a:pPr>
            <a:r>
              <a:rPr lang="en" sz="1500">
                <a:solidFill>
                  <a:schemeClr val="dk1"/>
                </a:solidFill>
              </a:rPr>
              <a:t>Be cautious when sharing personal information like phone numbers, addresses, or identification numbers (e.g., </a:t>
            </a:r>
            <a:r>
              <a:rPr b="1" lang="en" sz="1500">
                <a:solidFill>
                  <a:schemeClr val="dk1"/>
                </a:solidFill>
              </a:rPr>
              <a:t>Aadhaar</a:t>
            </a:r>
            <a:r>
              <a:rPr lang="en" sz="1500">
                <a:solidFill>
                  <a:schemeClr val="dk1"/>
                </a:solidFill>
              </a:rPr>
              <a:t>, </a:t>
            </a:r>
            <a:r>
              <a:rPr b="1" lang="en" sz="1500">
                <a:solidFill>
                  <a:schemeClr val="dk1"/>
                </a:solidFill>
              </a:rPr>
              <a:t>PAN</a:t>
            </a:r>
            <a:r>
              <a:rPr lang="en" sz="1500">
                <a:solidFill>
                  <a:schemeClr val="dk1"/>
                </a:solidFill>
              </a:rPr>
              <a:t>).</a:t>
            </a:r>
            <a:endParaRPr sz="1500">
              <a:solidFill>
                <a:schemeClr val="dk1"/>
              </a:solidFill>
            </a:endParaRPr>
          </a:p>
          <a:p>
            <a:pPr indent="0" lvl="0" marL="0" rtl="0" algn="l">
              <a:spcBef>
                <a:spcPts val="1200"/>
              </a:spcBef>
              <a:spcAft>
                <a:spcPts val="1200"/>
              </a:spcAft>
              <a:buNone/>
            </a:pPr>
            <a:r>
              <a:t/>
            </a:r>
            <a:endParaRPr sz="1500"/>
          </a:p>
        </p:txBody>
      </p:sp>
      <p:pic>
        <p:nvPicPr>
          <p:cNvPr id="103" name="Google Shape;103;p20" title="download (55).png"/>
          <p:cNvPicPr preferRelativeResize="0"/>
          <p:nvPr/>
        </p:nvPicPr>
        <p:blipFill>
          <a:blip r:embed="rId3">
            <a:alphaModFix/>
          </a:blip>
          <a:stretch>
            <a:fillRect/>
          </a:stretch>
        </p:blipFill>
        <p:spPr>
          <a:xfrm>
            <a:off x="3370502" y="3060302"/>
            <a:ext cx="3074125" cy="2083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
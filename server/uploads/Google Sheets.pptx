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e7106282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e7106282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3e7106282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3e7106282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3e71062829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3e7106282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3e71062829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3e71062829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3e71062829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3e71062829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3e71062829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3e7106282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3e71062829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3e71062829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3e71062829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3e71062829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3e71062829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3e71062829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sheets.google.com" TargetMode="External"/><Relationship Id="rId4" Type="http://schemas.openxmlformats.org/officeDocument/2006/relationships/hyperlink" Target="https://sheets.google.com" TargetMode="External"/><Relationship Id="rId5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99408" y="5191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GOOGLE SHEETS</a:t>
            </a:r>
            <a:endParaRPr/>
          </a:p>
        </p:txBody>
      </p:sp>
      <p:pic>
        <p:nvPicPr>
          <p:cNvPr id="55" name="Google Shape;55;p13" title="download (7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3301" y="2894775"/>
            <a:ext cx="3140850" cy="169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6152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Google Sheets is a </a:t>
            </a:r>
            <a:r>
              <a:rPr b="1" lang="en">
                <a:solidFill>
                  <a:schemeClr val="dk1"/>
                </a:solidFill>
              </a:rPr>
              <a:t>free online spreadsheet tool</a:t>
            </a:r>
            <a:r>
              <a:rPr lang="en">
                <a:solidFill>
                  <a:schemeClr val="dk1"/>
                </a:solidFill>
              </a:rPr>
              <a:t> created by Google. It works like Microsoft Excel but runs in a </a:t>
            </a:r>
            <a:r>
              <a:rPr b="1" lang="en">
                <a:solidFill>
                  <a:schemeClr val="dk1"/>
                </a:solidFill>
              </a:rPr>
              <a:t>web browser</a:t>
            </a:r>
            <a:r>
              <a:rPr lang="en">
                <a:solidFill>
                  <a:schemeClr val="dk1"/>
                </a:solidFill>
              </a:rPr>
              <a:t>, allowing you to create, edit, and share spreadsheets from any device with internet access.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1" name="Google Shape;61;p14" title="download (7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5575" y="2220600"/>
            <a:ext cx="4650130" cy="212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324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Key Features of Google Sheets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0006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1. Cloud-Based &amp; Auto-Save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No need to install software – it works online in your browser.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Automatically saves your work in </a:t>
            </a:r>
            <a:r>
              <a:rPr b="1" lang="en" sz="1500">
                <a:solidFill>
                  <a:schemeClr val="dk1"/>
                </a:solidFill>
              </a:rPr>
              <a:t>Google Drive</a:t>
            </a:r>
            <a:r>
              <a:rPr lang="en" sz="1500">
                <a:solidFill>
                  <a:schemeClr val="dk1"/>
                </a:solidFill>
              </a:rPr>
              <a:t>, preventing data loss.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Accessible from </a:t>
            </a:r>
            <a:r>
              <a:rPr b="1" lang="en" sz="1500">
                <a:solidFill>
                  <a:schemeClr val="dk1"/>
                </a:solidFill>
              </a:rPr>
              <a:t>any device</a:t>
            </a:r>
            <a:r>
              <a:rPr lang="en" sz="1500">
                <a:solidFill>
                  <a:schemeClr val="dk1"/>
                </a:solidFill>
              </a:rPr>
              <a:t> (PC, phone, or tablet).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2. Real-Time Collaboration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Multiple people can work on the same spreadsheet </a:t>
            </a:r>
            <a:r>
              <a:rPr b="1" lang="en" sz="1500">
                <a:solidFill>
                  <a:schemeClr val="dk1"/>
                </a:solidFill>
              </a:rPr>
              <a:t>at the same time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You can see changes live and chat with collaborators.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Add </a:t>
            </a:r>
            <a:r>
              <a:rPr b="1" lang="en" sz="1500">
                <a:solidFill>
                  <a:schemeClr val="dk1"/>
                </a:solidFill>
              </a:rPr>
              <a:t>comments</a:t>
            </a:r>
            <a:r>
              <a:rPr lang="en" sz="1500">
                <a:solidFill>
                  <a:schemeClr val="dk1"/>
                </a:solidFill>
              </a:rPr>
              <a:t> or use </a:t>
            </a:r>
            <a:r>
              <a:rPr b="1" lang="en" sz="1500">
                <a:solidFill>
                  <a:schemeClr val="dk1"/>
                </a:solidFill>
              </a:rPr>
              <a:t>suggesting mode</a:t>
            </a:r>
            <a:r>
              <a:rPr lang="en" sz="1500">
                <a:solidFill>
                  <a:schemeClr val="dk1"/>
                </a:solidFill>
              </a:rPr>
              <a:t> for teamwork.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FUNCTIONS AND FORMULAS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Supports </a:t>
            </a:r>
            <a:r>
              <a:rPr b="1" lang="en" sz="1500">
                <a:solidFill>
                  <a:schemeClr val="dk1"/>
                </a:solidFill>
              </a:rPr>
              <a:t>basic and advanced formulas</a:t>
            </a:r>
            <a:r>
              <a:rPr lang="en" sz="1500">
                <a:solidFill>
                  <a:schemeClr val="dk1"/>
                </a:solidFill>
              </a:rPr>
              <a:t>, just like Excel.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Common functions: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rgbClr val="188038"/>
                </a:solidFill>
              </a:rPr>
              <a:t>SUM(A1:A10)</a:t>
            </a:r>
            <a:r>
              <a:rPr lang="en" sz="1500">
                <a:solidFill>
                  <a:schemeClr val="dk1"/>
                </a:solidFill>
              </a:rPr>
              <a:t> → Adds numbers in a range.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rgbClr val="188038"/>
                </a:solidFill>
              </a:rPr>
              <a:t>AVERAGE(A1:A10)</a:t>
            </a:r>
            <a:r>
              <a:rPr lang="en" sz="1500">
                <a:solidFill>
                  <a:schemeClr val="dk1"/>
                </a:solidFill>
              </a:rPr>
              <a:t> → Finds the average.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rgbClr val="188038"/>
                </a:solidFill>
              </a:rPr>
              <a:t>IF(A1&gt;50, "Pass", "Fail")</a:t>
            </a:r>
            <a:r>
              <a:rPr lang="en" sz="1500">
                <a:solidFill>
                  <a:schemeClr val="dk1"/>
                </a:solidFill>
              </a:rPr>
              <a:t> → Applies a condition.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rgbClr val="188038"/>
                </a:solidFill>
              </a:rPr>
              <a:t>VLOOKUP(101, A2:B10, 2, FALSE)</a:t>
            </a:r>
            <a:r>
              <a:rPr lang="en" sz="1500">
                <a:solidFill>
                  <a:schemeClr val="dk1"/>
                </a:solidFill>
              </a:rPr>
              <a:t> → Finds data from a table.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74" name="Google Shape;74;p16" title="Screenshot 2025-04-02 1547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9320" y="1705725"/>
            <a:ext cx="3222975" cy="14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ANALYSIS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Use </a:t>
            </a:r>
            <a:r>
              <a:rPr b="1" lang="en" sz="1500">
                <a:solidFill>
                  <a:schemeClr val="dk1"/>
                </a:solidFill>
              </a:rPr>
              <a:t>Sorting &amp; Filtering</a:t>
            </a:r>
            <a:r>
              <a:rPr lang="en" sz="1500">
                <a:solidFill>
                  <a:schemeClr val="dk1"/>
                </a:solidFill>
              </a:rPr>
              <a:t> to organize data.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Create </a:t>
            </a:r>
            <a:r>
              <a:rPr b="1" lang="en" sz="1500">
                <a:solidFill>
                  <a:schemeClr val="dk1"/>
                </a:solidFill>
              </a:rPr>
              <a:t>charts and graphs</a:t>
            </a:r>
            <a:r>
              <a:rPr lang="en" sz="1500">
                <a:solidFill>
                  <a:schemeClr val="dk1"/>
                </a:solidFill>
              </a:rPr>
              <a:t> to visualize information.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Use </a:t>
            </a:r>
            <a:r>
              <a:rPr b="1" lang="en" sz="1500">
                <a:solidFill>
                  <a:schemeClr val="dk1"/>
                </a:solidFill>
              </a:rPr>
              <a:t>Pivot Tables</a:t>
            </a:r>
            <a:r>
              <a:rPr lang="en" sz="1500">
                <a:solidFill>
                  <a:schemeClr val="dk1"/>
                </a:solidFill>
              </a:rPr>
              <a:t> for advanced data analysis.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1500">
                <a:solidFill>
                  <a:schemeClr val="dk1"/>
                </a:solidFill>
              </a:rPr>
            </a:br>
            <a:r>
              <a:rPr b="1" lang="en" sz="1500">
                <a:solidFill>
                  <a:schemeClr val="dk1"/>
                </a:solidFill>
              </a:rPr>
              <a:t>Import &amp; Export Options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Open Excel files (</a:t>
            </a:r>
            <a:r>
              <a:rPr b="1" lang="en" sz="1500">
                <a:solidFill>
                  <a:schemeClr val="dk1"/>
                </a:solidFill>
              </a:rPr>
              <a:t>.xlsx</a:t>
            </a:r>
            <a:r>
              <a:rPr lang="en" sz="1500">
                <a:solidFill>
                  <a:schemeClr val="dk1"/>
                </a:solidFill>
              </a:rPr>
              <a:t>) in Google Sheets.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Download files as </a:t>
            </a:r>
            <a:r>
              <a:rPr b="1" lang="en" sz="1500">
                <a:solidFill>
                  <a:schemeClr val="dk1"/>
                </a:solidFill>
              </a:rPr>
              <a:t>Excel (.xlsx), PDF, CSV</a:t>
            </a:r>
            <a:r>
              <a:rPr lang="en" sz="1500">
                <a:solidFill>
                  <a:schemeClr val="dk1"/>
                </a:solidFill>
              </a:rPr>
              <a:t>, and more.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</p:txBody>
      </p:sp>
      <p:pic>
        <p:nvPicPr>
          <p:cNvPr id="81" name="Google Shape;81;p17" title="Screenshot 2025-04-02 1549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2400" y="2257200"/>
            <a:ext cx="4129724" cy="151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66500" y="4946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 Add-ons &amp; Google Integrations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Connect with </a:t>
            </a:r>
            <a:r>
              <a:rPr b="1" lang="en" sz="1500">
                <a:solidFill>
                  <a:schemeClr val="dk1"/>
                </a:solidFill>
              </a:rPr>
              <a:t>Google Forms, Google Docs, and Google Drive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Use </a:t>
            </a:r>
            <a:r>
              <a:rPr b="1" lang="en" sz="1500">
                <a:solidFill>
                  <a:schemeClr val="dk1"/>
                </a:solidFill>
              </a:rPr>
              <a:t>Google Apps Scripts</a:t>
            </a:r>
            <a:r>
              <a:rPr lang="en" sz="1500">
                <a:solidFill>
                  <a:schemeClr val="dk1"/>
                </a:solidFill>
              </a:rPr>
              <a:t> for automation.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Install </a:t>
            </a:r>
            <a:r>
              <a:rPr b="1" lang="en" sz="1500">
                <a:solidFill>
                  <a:schemeClr val="dk1"/>
                </a:solidFill>
              </a:rPr>
              <a:t>Add-ons</a:t>
            </a:r>
            <a:r>
              <a:rPr lang="en" sz="1500">
                <a:solidFill>
                  <a:schemeClr val="dk1"/>
                </a:solidFill>
              </a:rPr>
              <a:t> to enhance functionality.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 Offline Access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Enable </a:t>
            </a:r>
            <a:r>
              <a:rPr b="1" lang="en" sz="1500">
                <a:solidFill>
                  <a:schemeClr val="dk1"/>
                </a:solidFill>
              </a:rPr>
              <a:t>Offline Mode</a:t>
            </a:r>
            <a:r>
              <a:rPr lang="en" sz="1500">
                <a:solidFill>
                  <a:schemeClr val="dk1"/>
                </a:solidFill>
              </a:rPr>
              <a:t> to work without the internet.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Changes will sync once you're back online.</a:t>
            </a:r>
            <a:endParaRPr sz="1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USE IT?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Step 1: Open Google Sheets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Go to</a:t>
            </a:r>
            <a:r>
              <a:rPr lang="en" sz="15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en" sz="1500" u="sng">
                <a:solidFill>
                  <a:srgbClr val="1155CC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sheets.google.com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Click </a:t>
            </a:r>
            <a:r>
              <a:rPr b="1" lang="en" sz="1500">
                <a:solidFill>
                  <a:schemeClr val="dk1"/>
                </a:solidFill>
              </a:rPr>
              <a:t>Blank</a:t>
            </a:r>
            <a:r>
              <a:rPr lang="en" sz="1500">
                <a:solidFill>
                  <a:schemeClr val="dk1"/>
                </a:solidFill>
              </a:rPr>
              <a:t> to create a new spreadsheet.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Step 2: Enter &amp; Format Data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Click a </a:t>
            </a:r>
            <a:r>
              <a:rPr b="1" lang="en" sz="1500">
                <a:solidFill>
                  <a:schemeClr val="dk1"/>
                </a:solidFill>
              </a:rPr>
              <a:t>cell</a:t>
            </a:r>
            <a:r>
              <a:rPr lang="en" sz="1500">
                <a:solidFill>
                  <a:schemeClr val="dk1"/>
                </a:solidFill>
              </a:rPr>
              <a:t> and type text or numbers.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Use </a:t>
            </a:r>
            <a:r>
              <a:rPr b="1" lang="en" sz="1500">
                <a:solidFill>
                  <a:schemeClr val="dk1"/>
                </a:solidFill>
              </a:rPr>
              <a:t>bold, colors, and borders</a:t>
            </a:r>
            <a:r>
              <a:rPr lang="en" sz="1500">
                <a:solidFill>
                  <a:schemeClr val="dk1"/>
                </a:solidFill>
              </a:rPr>
              <a:t> to format cells.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  <p:pic>
        <p:nvPicPr>
          <p:cNvPr id="93" name="Google Shape;93;p19" title="Screenshot 2025-04-02 15495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05063" y="4468150"/>
            <a:ext cx="4333875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328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Step 3: Use Formulas &amp; Functions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Click a cell and type </a:t>
            </a:r>
            <a:r>
              <a:rPr lang="en" sz="1500">
                <a:solidFill>
                  <a:srgbClr val="188038"/>
                </a:solidFill>
              </a:rPr>
              <a:t>=</a:t>
            </a:r>
            <a:r>
              <a:rPr lang="en" sz="1500">
                <a:solidFill>
                  <a:schemeClr val="dk1"/>
                </a:solidFill>
              </a:rPr>
              <a:t> to start a formula.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Example: </a:t>
            </a:r>
            <a:r>
              <a:rPr lang="en" sz="1500">
                <a:solidFill>
                  <a:srgbClr val="188038"/>
                </a:solidFill>
              </a:rPr>
              <a:t>=SUM(A1:A5)</a:t>
            </a:r>
            <a:r>
              <a:rPr lang="en" sz="1500">
                <a:solidFill>
                  <a:schemeClr val="dk1"/>
                </a:solidFill>
              </a:rPr>
              <a:t> to add numbers in cells A1 to A5.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Step 4: Share &amp; Collaborate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Click </a:t>
            </a:r>
            <a:r>
              <a:rPr b="1" lang="en" sz="1500">
                <a:solidFill>
                  <a:schemeClr val="dk1"/>
                </a:solidFill>
              </a:rPr>
              <a:t>Share</a:t>
            </a:r>
            <a:r>
              <a:rPr lang="en" sz="1500">
                <a:solidFill>
                  <a:schemeClr val="dk1"/>
                </a:solidFill>
              </a:rPr>
              <a:t> (top-right corner).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Enter emails or create a </a:t>
            </a:r>
            <a:r>
              <a:rPr b="1" lang="en" sz="1500">
                <a:solidFill>
                  <a:schemeClr val="dk1"/>
                </a:solidFill>
              </a:rPr>
              <a:t>shareable link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Set permissions: </a:t>
            </a:r>
            <a:r>
              <a:rPr b="1" lang="en" sz="1500">
                <a:solidFill>
                  <a:schemeClr val="dk1"/>
                </a:solidFill>
              </a:rPr>
              <a:t>Viewer, Commenter, or Editor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Step 5: Save &amp; Export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Click </a:t>
            </a:r>
            <a:r>
              <a:rPr b="1" lang="en" sz="1500">
                <a:solidFill>
                  <a:schemeClr val="dk1"/>
                </a:solidFill>
              </a:rPr>
              <a:t>File &gt; Download</a:t>
            </a:r>
            <a:r>
              <a:rPr lang="en" sz="1500">
                <a:solidFill>
                  <a:schemeClr val="dk1"/>
                </a:solidFill>
              </a:rPr>
              <a:t> to save as Excel, PDF, or CSV.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  <p:pic>
        <p:nvPicPr>
          <p:cNvPr id="99" name="Google Shape;99;p20" title="Screenshot 2025-04-02 1549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6750" y="1740825"/>
            <a:ext cx="4157251" cy="152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303750" y="505600"/>
            <a:ext cx="8528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1"/>
                </a:solidFill>
              </a:rPr>
              <a:t>Why Use Google Sheets?</a:t>
            </a:r>
            <a:endParaRPr b="1"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  </a:t>
            </a:r>
            <a:r>
              <a:rPr b="1" lang="en" sz="1500">
                <a:solidFill>
                  <a:schemeClr val="dk1"/>
                </a:solidFill>
              </a:rPr>
              <a:t>Free &amp; Cloud-Based</a:t>
            </a:r>
            <a:r>
              <a:rPr lang="en" sz="1500">
                <a:solidFill>
                  <a:schemeClr val="dk1"/>
                </a:solidFill>
              </a:rPr>
              <a:t> – No installation needed.</a:t>
            </a:r>
            <a:br>
              <a:rPr lang="en" sz="1500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</a:rPr>
              <a:t>  </a:t>
            </a:r>
            <a:r>
              <a:rPr b="1" lang="en" sz="1500">
                <a:solidFill>
                  <a:schemeClr val="dk1"/>
                </a:solidFill>
              </a:rPr>
              <a:t>Auto-Save</a:t>
            </a:r>
            <a:r>
              <a:rPr lang="en" sz="1500">
                <a:solidFill>
                  <a:schemeClr val="dk1"/>
                </a:solidFill>
              </a:rPr>
              <a:t> – Prevents data loss.</a:t>
            </a:r>
            <a:br>
              <a:rPr lang="en" sz="1500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</a:rPr>
              <a:t>  </a:t>
            </a:r>
            <a:r>
              <a:rPr b="1" lang="en" sz="1500">
                <a:solidFill>
                  <a:schemeClr val="dk1"/>
                </a:solidFill>
              </a:rPr>
              <a:t>Easy Collaboration</a:t>
            </a:r>
            <a:r>
              <a:rPr lang="en" sz="1500">
                <a:solidFill>
                  <a:schemeClr val="dk1"/>
                </a:solidFill>
              </a:rPr>
              <a:t> – Work with others in real time.</a:t>
            </a:r>
            <a:br>
              <a:rPr lang="en" sz="1500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</a:rPr>
              <a:t>  </a:t>
            </a:r>
            <a:r>
              <a:rPr b="1" lang="en" sz="1500">
                <a:solidFill>
                  <a:schemeClr val="dk1"/>
                </a:solidFill>
              </a:rPr>
              <a:t>Works on Any Device</a:t>
            </a:r>
            <a:r>
              <a:rPr lang="en" sz="1500">
                <a:solidFill>
                  <a:schemeClr val="dk1"/>
                </a:solidFill>
              </a:rPr>
              <a:t> – Accessible from phone, tablet, or computer.</a:t>
            </a:r>
            <a:br>
              <a:rPr lang="en" sz="1500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</a:rPr>
              <a:t>  </a:t>
            </a:r>
            <a:r>
              <a:rPr b="1" lang="en" sz="1500">
                <a:solidFill>
                  <a:schemeClr val="dk1"/>
                </a:solidFill>
              </a:rPr>
              <a:t>Excel Compatibility</a:t>
            </a:r>
            <a:r>
              <a:rPr lang="en" sz="1500">
                <a:solidFill>
                  <a:schemeClr val="dk1"/>
                </a:solidFill>
              </a:rPr>
              <a:t> – Open and edit Excel files.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7879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
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2" Type="http://schemas.openxmlformats.org/officeDocument/2006/relationships/slide" Target="slides/slide7.xml"/><Relationship Id="rId9" Type="http://schemas.openxmlformats.org/officeDocument/2006/relationships/slide" Target="slides/slide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g3402921fe2c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" name="Google Shape;57;g3402921fe2c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g3402921fe2c_0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" name="Google Shape;64;g3402921fe2c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g3402921fe2c_0_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" name="Google Shape;70;g3402921fe2c_0_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g3402921fe2c_0_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7" name="Google Shape;77;g3402921fe2c_0_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g3402921fe2c_0_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" name="Google Shape;84;g3402921fe2c_0_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g3402921fe2c_0_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1" name="Google Shape;91;g3402921fe2c_0_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3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5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4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8" y="909050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COMMON VOCABULARY IN FINANCIAL LITERACY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BASIC FINANCIAL CONCEPTS</a:t>
            </a:r>
            <a:endParaRPr/>
          </a:p>
        </p:txBody>
      </p:sp>
      <p:sp>
        <p:nvSpPr>
          <p:cNvPr id="60" name="Google Shape;60;p14"/>
          <p:cNvSpPr txBox="1"/>
          <p:nvPr>
            <p:ph idx="1" type="body"/>
          </p:nvPr>
        </p:nvSpPr>
        <p:spPr>
          <a:xfrm>
            <a:off x="433200" y="1182850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chemeClr val="dk1"/>
                </a:solidFill>
              </a:rPr>
              <a:t>Savings Account:</a:t>
            </a:r>
            <a:r>
              <a:rPr lang="en" sz="1500">
                <a:solidFill>
                  <a:schemeClr val="dk1"/>
                </a:solidFill>
              </a:rPr>
              <a:t> </a:t>
            </a:r>
            <a:endParaRPr sz="15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500">
                <a:solidFill>
                  <a:schemeClr val="dk1"/>
                </a:solidFill>
              </a:rPr>
              <a:t>A bank account that earns interest on the money deposited.</a:t>
            </a:r>
            <a:endParaRPr sz="15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chemeClr val="dk1"/>
                </a:solidFill>
              </a:rPr>
              <a:t>Checking Account:</a:t>
            </a:r>
            <a:endParaRPr b="1" sz="15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500">
                <a:solidFill>
                  <a:schemeClr val="dk1"/>
                </a:solidFill>
              </a:rPr>
              <a:t> A bank account for daily transactions, often with no interest.</a:t>
            </a:r>
            <a:endParaRPr sz="15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chemeClr val="dk1"/>
                </a:solidFill>
              </a:rPr>
              <a:t>Balance:</a:t>
            </a:r>
            <a:r>
              <a:rPr lang="en" sz="1500">
                <a:solidFill>
                  <a:schemeClr val="dk1"/>
                </a:solidFill>
              </a:rPr>
              <a:t> </a:t>
            </a:r>
            <a:endParaRPr sz="15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500">
                <a:solidFill>
                  <a:schemeClr val="dk1"/>
                </a:solidFill>
              </a:rPr>
              <a:t>The amount of money available in an account.</a:t>
            </a:r>
            <a:endParaRPr sz="15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chemeClr val="dk1"/>
                </a:solidFill>
              </a:rPr>
              <a:t>Emergency Fund:</a:t>
            </a:r>
            <a:r>
              <a:rPr lang="en" sz="1500">
                <a:solidFill>
                  <a:schemeClr val="dk1"/>
                </a:solidFill>
              </a:rPr>
              <a:t> </a:t>
            </a:r>
            <a:endParaRPr sz="15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500">
                <a:solidFill>
                  <a:schemeClr val="dk1"/>
                </a:solidFill>
              </a:rPr>
              <a:t>Savings set aside for unexpected expenses.</a:t>
            </a:r>
            <a:endParaRPr sz="15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500"/>
          </a:p>
        </p:txBody>
      </p:sp>
      <p:pic>
        <p:nvPicPr>
          <p:cNvPr id="61" name="Google Shape;61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823952" y="2084977"/>
            <a:ext cx="3059425" cy="2035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5"/>
          <p:cNvSpPr txBox="1"/>
          <p:nvPr>
            <p:ph idx="1" type="body"/>
          </p:nvPr>
        </p:nvSpPr>
        <p:spPr>
          <a:xfrm>
            <a:off x="311700" y="5713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2385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b="1" lang="en" sz="1500">
                <a:solidFill>
                  <a:schemeClr val="dk1"/>
                </a:solidFill>
              </a:rPr>
              <a:t>Budget:</a:t>
            </a:r>
            <a:r>
              <a:rPr lang="en" sz="1500">
                <a:solidFill>
                  <a:schemeClr val="dk1"/>
                </a:solidFill>
              </a:rPr>
              <a:t> </a:t>
            </a:r>
            <a:endParaRPr sz="1500">
              <a:solidFill>
                <a:schemeClr val="dk1"/>
              </a:solidFill>
            </a:endParaRPr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dk1"/>
                </a:solidFill>
              </a:rPr>
              <a:t>A plan for managing income and expenses.</a:t>
            </a:r>
            <a:endParaRPr sz="1500">
              <a:solidFill>
                <a:schemeClr val="dk1"/>
              </a:solidFill>
            </a:endParaRPr>
          </a:p>
          <a:p>
            <a:pPr indent="-32385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b="1" lang="en" sz="1500">
                <a:solidFill>
                  <a:schemeClr val="dk1"/>
                </a:solidFill>
              </a:rPr>
              <a:t>Savings:</a:t>
            </a:r>
            <a:r>
              <a:rPr lang="en" sz="1500">
                <a:solidFill>
                  <a:schemeClr val="dk1"/>
                </a:solidFill>
              </a:rPr>
              <a:t> </a:t>
            </a:r>
            <a:endParaRPr sz="1500">
              <a:solidFill>
                <a:schemeClr val="dk1"/>
              </a:solidFill>
            </a:endParaRPr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dk1"/>
                </a:solidFill>
              </a:rPr>
              <a:t>Money set aside for future use.</a:t>
            </a:r>
            <a:endParaRPr sz="1500">
              <a:solidFill>
                <a:schemeClr val="dk1"/>
              </a:solidFill>
            </a:endParaRPr>
          </a:p>
          <a:p>
            <a:pPr indent="-32385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b="1" lang="en" sz="1500">
                <a:solidFill>
                  <a:schemeClr val="dk1"/>
                </a:solidFill>
              </a:rPr>
              <a:t>Debt:</a:t>
            </a:r>
            <a:endParaRPr b="1" sz="1500">
              <a:solidFill>
                <a:schemeClr val="dk1"/>
              </a:solidFill>
            </a:endParaRPr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dk1"/>
                </a:solidFill>
              </a:rPr>
              <a:t> Money borrowed that needs to be repaid.</a:t>
            </a:r>
            <a:endParaRPr sz="1500">
              <a:solidFill>
                <a:schemeClr val="dk1"/>
              </a:solidFill>
            </a:endParaRPr>
          </a:p>
          <a:p>
            <a:pPr indent="-32385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b="1" lang="en" sz="1500">
                <a:solidFill>
                  <a:schemeClr val="dk1"/>
                </a:solidFill>
              </a:rPr>
              <a:t>Interest:</a:t>
            </a:r>
            <a:endParaRPr b="1" sz="1500">
              <a:solidFill>
                <a:schemeClr val="dk1"/>
              </a:solidFill>
            </a:endParaRPr>
          </a:p>
          <a:p>
            <a:pPr indent="0" lvl="0" marL="45720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1500">
                <a:solidFill>
                  <a:schemeClr val="dk1"/>
                </a:solidFill>
              </a:rPr>
              <a:t> The cost of borrowing money or the earnings on savings.</a:t>
            </a:r>
            <a:endParaRPr sz="1500"/>
          </a:p>
        </p:txBody>
      </p:sp>
      <p:pic>
        <p:nvPicPr>
          <p:cNvPr id="67" name="Google Shape;67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004927" y="1288725"/>
            <a:ext cx="2682325" cy="2399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INVESTMENT</a:t>
            </a:r>
            <a:endParaRPr/>
          </a:p>
        </p:txBody>
      </p:sp>
      <p:sp>
        <p:nvSpPr>
          <p:cNvPr id="73" name="Google Shape;73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-32385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b="1" lang="en" sz="1500">
                <a:solidFill>
                  <a:schemeClr val="dk1"/>
                </a:solidFill>
              </a:rPr>
              <a:t>Stocks:</a:t>
            </a:r>
            <a:r>
              <a:rPr lang="en" sz="1500">
                <a:solidFill>
                  <a:schemeClr val="dk1"/>
                </a:solidFill>
              </a:rPr>
              <a:t> </a:t>
            </a:r>
            <a:endParaRPr sz="1500">
              <a:solidFill>
                <a:schemeClr val="dk1"/>
              </a:solidFill>
            </a:endParaRPr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dk1"/>
                </a:solidFill>
              </a:rPr>
              <a:t>Shares of ownership in a company.</a:t>
            </a:r>
            <a:endParaRPr sz="1500">
              <a:solidFill>
                <a:schemeClr val="dk1"/>
              </a:solidFill>
            </a:endParaRPr>
          </a:p>
          <a:p>
            <a:pPr indent="-32385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b="1" lang="en" sz="1500">
                <a:solidFill>
                  <a:schemeClr val="dk1"/>
                </a:solidFill>
              </a:rPr>
              <a:t>Bonds:</a:t>
            </a:r>
            <a:endParaRPr b="1" sz="1500">
              <a:solidFill>
                <a:schemeClr val="dk1"/>
              </a:solidFill>
            </a:endParaRPr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dk1"/>
                </a:solidFill>
              </a:rPr>
              <a:t> Loans made to corporations or governments that pay interest over time.</a:t>
            </a:r>
            <a:endParaRPr sz="1500">
              <a:solidFill>
                <a:schemeClr val="dk1"/>
              </a:solidFill>
            </a:endParaRPr>
          </a:p>
          <a:p>
            <a:pPr indent="-32385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b="1" lang="en" sz="1500">
                <a:solidFill>
                  <a:schemeClr val="dk1"/>
                </a:solidFill>
              </a:rPr>
              <a:t>Diversification:</a:t>
            </a:r>
            <a:r>
              <a:rPr lang="en" sz="1500">
                <a:solidFill>
                  <a:schemeClr val="dk1"/>
                </a:solidFill>
              </a:rPr>
              <a:t> </a:t>
            </a:r>
            <a:endParaRPr sz="1500">
              <a:solidFill>
                <a:schemeClr val="dk1"/>
              </a:solidFill>
            </a:endParaRPr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dk1"/>
                </a:solidFill>
              </a:rPr>
              <a:t>Spreading investments across different assets to reduce risk.</a:t>
            </a:r>
            <a:endParaRPr sz="1500">
              <a:solidFill>
                <a:schemeClr val="dk1"/>
              </a:solidFill>
            </a:endParaRPr>
          </a:p>
          <a:p>
            <a:pPr indent="-32385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b="1" lang="en" sz="1500">
                <a:solidFill>
                  <a:schemeClr val="dk1"/>
                </a:solidFill>
              </a:rPr>
              <a:t>Portfolio:</a:t>
            </a:r>
            <a:endParaRPr b="1" sz="1500">
              <a:solidFill>
                <a:schemeClr val="dk1"/>
              </a:solidFill>
            </a:endParaRPr>
          </a:p>
          <a:p>
            <a:pPr indent="0" lvl="0" marL="45720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1500">
                <a:solidFill>
                  <a:schemeClr val="dk1"/>
                </a:solidFill>
              </a:rPr>
              <a:t> A collection of investments owned by an individual or institution.</a:t>
            </a:r>
            <a:br>
              <a:rPr lang="en" sz="1500">
                <a:solidFill>
                  <a:schemeClr val="dk1"/>
                </a:solidFill>
              </a:rPr>
            </a:br>
            <a:endParaRPr sz="1500"/>
          </a:p>
        </p:txBody>
      </p:sp>
      <p:pic>
        <p:nvPicPr>
          <p:cNvPr id="74" name="Google Shape;74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301548" y="2741850"/>
            <a:ext cx="2530750" cy="13182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BANKING</a:t>
            </a:r>
            <a:endParaRPr/>
          </a:p>
        </p:txBody>
      </p:sp>
      <p:sp>
        <p:nvSpPr>
          <p:cNvPr id="80" name="Google Shape;80;p1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-32385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b="1" lang="en" sz="1500">
                <a:solidFill>
                  <a:schemeClr val="dk1"/>
                </a:solidFill>
              </a:rPr>
              <a:t>Checking Account:</a:t>
            </a:r>
            <a:endParaRPr b="1" sz="1500">
              <a:solidFill>
                <a:schemeClr val="dk1"/>
              </a:solidFill>
            </a:endParaRPr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dk1"/>
                </a:solidFill>
              </a:rPr>
              <a:t> A bank account for everyday transactions.</a:t>
            </a:r>
            <a:endParaRPr sz="1500">
              <a:solidFill>
                <a:schemeClr val="dk1"/>
              </a:solidFill>
            </a:endParaRPr>
          </a:p>
          <a:p>
            <a:pPr indent="-32385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b="1" lang="en" sz="1500">
                <a:solidFill>
                  <a:schemeClr val="dk1"/>
                </a:solidFill>
              </a:rPr>
              <a:t>Savings Account:</a:t>
            </a:r>
            <a:r>
              <a:rPr lang="en" sz="1500">
                <a:solidFill>
                  <a:schemeClr val="dk1"/>
                </a:solidFill>
              </a:rPr>
              <a:t> </a:t>
            </a:r>
            <a:endParaRPr sz="1500">
              <a:solidFill>
                <a:schemeClr val="dk1"/>
              </a:solidFill>
            </a:endParaRPr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dk1"/>
                </a:solidFill>
              </a:rPr>
              <a:t>An account that earns interest on deposits.</a:t>
            </a:r>
            <a:endParaRPr sz="1500">
              <a:solidFill>
                <a:schemeClr val="dk1"/>
              </a:solidFill>
            </a:endParaRPr>
          </a:p>
          <a:p>
            <a:pPr indent="-32385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b="1" lang="en" sz="1500">
                <a:solidFill>
                  <a:schemeClr val="dk1"/>
                </a:solidFill>
              </a:rPr>
              <a:t>Overdraft:</a:t>
            </a:r>
            <a:endParaRPr b="1" sz="1500">
              <a:solidFill>
                <a:schemeClr val="dk1"/>
              </a:solidFill>
            </a:endParaRPr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dk1"/>
                </a:solidFill>
              </a:rPr>
              <a:t> Spending more than what's available in an account, leading to fees.</a:t>
            </a:r>
            <a:endParaRPr sz="1500">
              <a:solidFill>
                <a:schemeClr val="dk1"/>
              </a:solidFill>
            </a:endParaRPr>
          </a:p>
          <a:p>
            <a:pPr indent="-32385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b="1" lang="en" sz="1500">
                <a:solidFill>
                  <a:schemeClr val="dk1"/>
                </a:solidFill>
              </a:rPr>
              <a:t>ATM (Automated Teller Machine):</a:t>
            </a:r>
            <a:r>
              <a:rPr lang="en" sz="1500">
                <a:solidFill>
                  <a:schemeClr val="dk1"/>
                </a:solidFill>
              </a:rPr>
              <a:t> </a:t>
            </a:r>
            <a:endParaRPr sz="1500">
              <a:solidFill>
                <a:schemeClr val="dk1"/>
              </a:solidFill>
            </a:endParaRPr>
          </a:p>
          <a:p>
            <a:pPr indent="0" lvl="0" marL="45720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1500">
                <a:solidFill>
                  <a:schemeClr val="dk1"/>
                </a:solidFill>
              </a:rPr>
              <a:t>A machine for withdrawing money or performing basic banking tasks.</a:t>
            </a:r>
            <a:br>
              <a:rPr lang="en" sz="1500">
                <a:solidFill>
                  <a:schemeClr val="dk1"/>
                </a:solidFill>
              </a:rPr>
            </a:br>
            <a:endParaRPr sz="1500"/>
          </a:p>
        </p:txBody>
      </p:sp>
      <p:pic>
        <p:nvPicPr>
          <p:cNvPr id="81" name="Google Shape;81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920500" y="1526850"/>
            <a:ext cx="2952750" cy="15430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CREDIT AND LOANS</a:t>
            </a:r>
            <a:endParaRPr/>
          </a:p>
        </p:txBody>
      </p:sp>
      <p:sp>
        <p:nvSpPr>
          <p:cNvPr id="87" name="Google Shape;87;p1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2500" lnSpcReduction="20000"/>
          </a:bodyPr>
          <a:lstStyle/>
          <a:p>
            <a:pPr indent="-316706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b="1" lang="en" sz="1500">
                <a:solidFill>
                  <a:schemeClr val="dk1"/>
                </a:solidFill>
              </a:rPr>
              <a:t>Credit Score:</a:t>
            </a:r>
            <a:r>
              <a:rPr lang="en" sz="1500">
                <a:solidFill>
                  <a:schemeClr val="dk1"/>
                </a:solidFill>
              </a:rPr>
              <a:t> </a:t>
            </a:r>
            <a:endParaRPr sz="1500">
              <a:solidFill>
                <a:schemeClr val="dk1"/>
              </a:solidFill>
            </a:endParaRPr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dk1"/>
                </a:solidFill>
              </a:rPr>
              <a:t>A numerical representation of a person's creditworthiness.</a:t>
            </a:r>
            <a:endParaRPr sz="1500">
              <a:solidFill>
                <a:schemeClr val="dk1"/>
              </a:solidFill>
            </a:endParaRPr>
          </a:p>
          <a:p>
            <a:pPr indent="-316706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b="1" lang="en" sz="1500">
                <a:solidFill>
                  <a:schemeClr val="dk1"/>
                </a:solidFill>
              </a:rPr>
              <a:t>Loan:</a:t>
            </a:r>
            <a:endParaRPr b="1" sz="1500">
              <a:solidFill>
                <a:schemeClr val="dk1"/>
              </a:solidFill>
            </a:endParaRPr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dk1"/>
                </a:solidFill>
              </a:rPr>
              <a:t> Money borrowed that must be repaid with interest.</a:t>
            </a:r>
            <a:endParaRPr sz="1500">
              <a:solidFill>
                <a:schemeClr val="dk1"/>
              </a:solidFill>
            </a:endParaRPr>
          </a:p>
          <a:p>
            <a:pPr indent="-316706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b="1" lang="en" sz="1500">
                <a:solidFill>
                  <a:schemeClr val="dk1"/>
                </a:solidFill>
              </a:rPr>
              <a:t>Mortgage:</a:t>
            </a:r>
            <a:r>
              <a:rPr lang="en" sz="1500">
                <a:solidFill>
                  <a:schemeClr val="dk1"/>
                </a:solidFill>
              </a:rPr>
              <a:t> </a:t>
            </a:r>
            <a:endParaRPr sz="1500">
              <a:solidFill>
                <a:schemeClr val="dk1"/>
              </a:solidFill>
            </a:endParaRPr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dk1"/>
                </a:solidFill>
              </a:rPr>
              <a:t>A loan used to buy real estate, typically paid back over many years.</a:t>
            </a:r>
            <a:endParaRPr sz="1500">
              <a:solidFill>
                <a:schemeClr val="dk1"/>
              </a:solidFill>
            </a:endParaRPr>
          </a:p>
          <a:p>
            <a:pPr indent="-316706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b="1" lang="en" sz="1500">
                <a:solidFill>
                  <a:schemeClr val="dk1"/>
                </a:solidFill>
              </a:rPr>
              <a:t>Interest Rate:</a:t>
            </a:r>
            <a:r>
              <a:rPr lang="en" sz="1500">
                <a:solidFill>
                  <a:schemeClr val="dk1"/>
                </a:solidFill>
              </a:rPr>
              <a:t> </a:t>
            </a:r>
            <a:endParaRPr sz="1500">
              <a:solidFill>
                <a:schemeClr val="dk1"/>
              </a:solidFill>
            </a:endParaRPr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dk1"/>
                </a:solidFill>
              </a:rPr>
              <a:t>The percentage charged on borrowed money or earned on deposits.</a:t>
            </a:r>
            <a:br>
              <a:rPr lang="en" sz="1500">
                <a:solidFill>
                  <a:schemeClr val="dk1"/>
                </a:solidFill>
              </a:rPr>
            </a:br>
            <a:endParaRPr sz="15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500"/>
          </a:p>
        </p:txBody>
      </p:sp>
      <p:pic>
        <p:nvPicPr>
          <p:cNvPr id="88" name="Google Shape;88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159750" y="1567500"/>
            <a:ext cx="2984250" cy="18651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1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ECONOMIC TERMS</a:t>
            </a:r>
            <a:endParaRPr/>
          </a:p>
        </p:txBody>
      </p:sp>
      <p:sp>
        <p:nvSpPr>
          <p:cNvPr id="94" name="Google Shape;94;p19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2385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b="1" lang="en" sz="1500">
                <a:solidFill>
                  <a:schemeClr val="dk1"/>
                </a:solidFill>
              </a:rPr>
              <a:t>Inflation:</a:t>
            </a:r>
            <a:endParaRPr b="1" sz="1500">
              <a:solidFill>
                <a:schemeClr val="dk1"/>
              </a:solidFill>
            </a:endParaRPr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dk1"/>
                </a:solidFill>
              </a:rPr>
              <a:t> The rate at which the general level of prices rises over time.</a:t>
            </a:r>
            <a:endParaRPr sz="1500">
              <a:solidFill>
                <a:schemeClr val="dk1"/>
              </a:solidFill>
            </a:endParaRPr>
          </a:p>
          <a:p>
            <a:pPr indent="-32385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b="1" lang="en" sz="1500">
                <a:solidFill>
                  <a:schemeClr val="dk1"/>
                </a:solidFill>
              </a:rPr>
              <a:t>Recession:</a:t>
            </a:r>
            <a:r>
              <a:rPr lang="en" sz="1500">
                <a:solidFill>
                  <a:schemeClr val="dk1"/>
                </a:solidFill>
              </a:rPr>
              <a:t> </a:t>
            </a:r>
            <a:endParaRPr sz="1500">
              <a:solidFill>
                <a:schemeClr val="dk1"/>
              </a:solidFill>
            </a:endParaRPr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dk1"/>
                </a:solidFill>
              </a:rPr>
              <a:t>A period of economic decline, typically marked by falling GDP and rising unemployment.</a:t>
            </a:r>
            <a:endParaRPr sz="1500">
              <a:solidFill>
                <a:schemeClr val="dk1"/>
              </a:solidFill>
            </a:endParaRPr>
          </a:p>
          <a:p>
            <a:pPr indent="-32385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b="1" lang="en" sz="1500">
                <a:solidFill>
                  <a:schemeClr val="dk1"/>
                </a:solidFill>
              </a:rPr>
              <a:t>GDP (Gross Domestic Product):</a:t>
            </a:r>
            <a:r>
              <a:rPr lang="en" sz="1500">
                <a:solidFill>
                  <a:schemeClr val="dk1"/>
                </a:solidFill>
              </a:rPr>
              <a:t> </a:t>
            </a:r>
            <a:endParaRPr sz="1500">
              <a:solidFill>
                <a:schemeClr val="dk1"/>
              </a:solidFill>
            </a:endParaRPr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dk1"/>
                </a:solidFill>
              </a:rPr>
              <a:t>The total value of goods and services produced in a country in a year.</a:t>
            </a:r>
            <a:endParaRPr sz="15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5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 sz="15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
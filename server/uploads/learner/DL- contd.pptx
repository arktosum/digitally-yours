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3429f7e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3429f7e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3429f7ea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3429f7ea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3429f7ea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3429f7ea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3429f7ea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3429f7ea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3429f7ea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3429f7ea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3429f7ea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3429f7ea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3429f7ea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3429f7ea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3429f7ea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3429f7ea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3429f7ea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3429f7ea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3429f7ea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3429f7ea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3429f7ea8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3429f7ea8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493551" y="2005450"/>
            <a:ext cx="76482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7C’S OF DIGITAL LITERACY</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422075" y="7139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7 Cs of Digital Literacy refer to key skills that help people navigate and use technology effectively in a digital world. These skills are essential for interacting with digital tools, understanding information, and communicating in a digital environment. </a:t>
            </a:r>
            <a:endParaRPr>
              <a:solidFill>
                <a:schemeClr val="dk1"/>
              </a:solidFill>
            </a:endParaRPr>
          </a:p>
        </p:txBody>
      </p:sp>
      <p:pic>
        <p:nvPicPr>
          <p:cNvPr id="60" name="Google Shape;60;p14" title="download (44).jpg"/>
          <p:cNvPicPr preferRelativeResize="0"/>
          <p:nvPr/>
        </p:nvPicPr>
        <p:blipFill>
          <a:blip r:embed="rId3">
            <a:alphaModFix/>
          </a:blip>
          <a:stretch>
            <a:fillRect/>
          </a:stretch>
        </p:blipFill>
        <p:spPr>
          <a:xfrm>
            <a:off x="2659250" y="2347075"/>
            <a:ext cx="3936600" cy="2619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0000"/>
              </a:lnSpc>
              <a:spcBef>
                <a:spcPts val="1300"/>
              </a:spcBef>
              <a:spcAft>
                <a:spcPts val="0"/>
              </a:spcAft>
              <a:buClr>
                <a:schemeClr val="dk1"/>
              </a:buClr>
              <a:buSzPct val="70967"/>
              <a:buFont typeface="Arial"/>
              <a:buNone/>
            </a:pPr>
            <a:r>
              <a:rPr b="1" lang="en" sz="1550">
                <a:solidFill>
                  <a:srgbClr val="444444"/>
                </a:solidFill>
              </a:rPr>
              <a:t>Critical thinking</a:t>
            </a:r>
            <a:endParaRPr b="1" sz="1550">
              <a:solidFill>
                <a:srgbClr val="444444"/>
              </a:solidFill>
            </a:endParaRPr>
          </a:p>
          <a:p>
            <a:pPr indent="0" lvl="0" marL="0" rtl="0" algn="l">
              <a:spcBef>
                <a:spcPts val="1000"/>
              </a:spcBef>
              <a:spcAft>
                <a:spcPts val="0"/>
              </a:spcAft>
              <a:buNone/>
            </a:pPr>
            <a:r>
              <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The ability to solve problems and reason effectively means being able to think clearly, understand challenges, and find solutions. In today’s world, many jobs need people who can think flexibly and analyze situations from different angles. This skill is important because it helps you break down complex problems and come up with smart solutions by using information from various sources.</a:t>
            </a:r>
            <a:endParaRPr sz="1500">
              <a:solidFill>
                <a:schemeClr val="dk1"/>
              </a:solidFill>
            </a:endParaRPr>
          </a:p>
        </p:txBody>
      </p:sp>
      <p:pic>
        <p:nvPicPr>
          <p:cNvPr id="67" name="Google Shape;67;p15" title="download (16).png"/>
          <p:cNvPicPr preferRelativeResize="0"/>
          <p:nvPr/>
        </p:nvPicPr>
        <p:blipFill>
          <a:blip r:embed="rId3">
            <a:alphaModFix/>
          </a:blip>
          <a:stretch>
            <a:fillRect/>
          </a:stretch>
        </p:blipFill>
        <p:spPr>
          <a:xfrm>
            <a:off x="2411100" y="2626550"/>
            <a:ext cx="4154249" cy="2163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CREATIVITY</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Working creatively with others means teaming up with people to share ideas and work together to come up with new and better ways of doing things. When you put your heads together, you can come up with even better solutions than if you worked alone.</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pic>
        <p:nvPicPr>
          <p:cNvPr id="74" name="Google Shape;74;p16" title="images (20).jpg"/>
          <p:cNvPicPr preferRelativeResize="0"/>
          <p:nvPr/>
        </p:nvPicPr>
        <p:blipFill>
          <a:blip r:embed="rId3">
            <a:alphaModFix/>
          </a:blip>
          <a:stretch>
            <a:fillRect/>
          </a:stretch>
        </p:blipFill>
        <p:spPr>
          <a:xfrm>
            <a:off x="2790850" y="2379225"/>
            <a:ext cx="3691475" cy="2456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COLLABORATION</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The ability to cooperate means being able to work well with others. It involves being willing to listen, share ideas, and help each other out.</a:t>
            </a:r>
            <a:endParaRPr sz="1500">
              <a:solidFill>
                <a:schemeClr val="dk1"/>
              </a:solidFill>
            </a:endParaRPr>
          </a:p>
          <a:p>
            <a:pPr indent="0" lvl="0" marL="0" rtl="0" algn="l">
              <a:spcBef>
                <a:spcPts val="1200"/>
              </a:spcBef>
              <a:spcAft>
                <a:spcPts val="0"/>
              </a:spcAft>
              <a:buNone/>
            </a:pPr>
            <a:r>
              <a:rPr lang="en" sz="1500">
                <a:solidFill>
                  <a:schemeClr val="dk1"/>
                </a:solidFill>
              </a:rPr>
              <a:t>Building community means creating a strong, supportive group where everyone feels included and valued.</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pic>
        <p:nvPicPr>
          <p:cNvPr id="81" name="Google Shape;81;p17" title="download (46).jpg"/>
          <p:cNvPicPr preferRelativeResize="0"/>
          <p:nvPr/>
        </p:nvPicPr>
        <p:blipFill>
          <a:blip r:embed="rId3">
            <a:alphaModFix/>
          </a:blip>
          <a:stretch>
            <a:fillRect/>
          </a:stretch>
        </p:blipFill>
        <p:spPr>
          <a:xfrm>
            <a:off x="2659300" y="2571750"/>
            <a:ext cx="3612125" cy="2403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Being able to </a:t>
            </a:r>
            <a:r>
              <a:rPr b="1" lang="en" sz="1500">
                <a:solidFill>
                  <a:schemeClr val="dk1"/>
                </a:solidFill>
              </a:rPr>
              <a:t>communicate clearly and effectively</a:t>
            </a:r>
            <a:r>
              <a:rPr lang="en" sz="1500">
                <a:solidFill>
                  <a:schemeClr val="dk1"/>
                </a:solidFill>
              </a:rPr>
              <a:t> means being able to share your ideas in a way that others understand, whether you’re talking, writing, or using other forms of communication. In today’s world, people come from different backgrounds, so it’s important to communicate well with all kinds of people.</a:t>
            </a:r>
            <a:endParaRPr sz="1500"/>
          </a:p>
        </p:txBody>
      </p:sp>
      <p:pic>
        <p:nvPicPr>
          <p:cNvPr id="88" name="Google Shape;88;p18" title="download (47).jpg"/>
          <p:cNvPicPr preferRelativeResize="0"/>
          <p:nvPr/>
        </p:nvPicPr>
        <p:blipFill>
          <a:blip r:embed="rId3">
            <a:alphaModFix/>
          </a:blip>
          <a:stretch>
            <a:fillRect/>
          </a:stretch>
        </p:blipFill>
        <p:spPr>
          <a:xfrm>
            <a:off x="2699032" y="2466900"/>
            <a:ext cx="3591793" cy="2390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ICT LITERACY</a:t>
            </a:r>
            <a:endParaRPr/>
          </a:p>
        </p:txBody>
      </p:sp>
      <p:sp>
        <p:nvSpPr>
          <p:cNvPr id="94" name="Google Shape;94;p19"/>
          <p:cNvSpPr txBox="1"/>
          <p:nvPr>
            <p:ph idx="1" type="body"/>
          </p:nvPr>
        </p:nvSpPr>
        <p:spPr>
          <a:xfrm>
            <a:off x="311700" y="10647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Today, businesses and organizations depend a lot on technology to do their work, whether it’s for communicating, managing information, or making products. Knowing how to use technology properly will not only help you do your job better but also make you more successful in your career.</a:t>
            </a:r>
            <a:endParaRPr>
              <a:solidFill>
                <a:schemeClr val="dk1"/>
              </a:solidFill>
            </a:endParaRPr>
          </a:p>
        </p:txBody>
      </p:sp>
      <p:pic>
        <p:nvPicPr>
          <p:cNvPr id="95" name="Google Shape;95;p19" title="download (48).jpg"/>
          <p:cNvPicPr preferRelativeResize="0"/>
          <p:nvPr/>
        </p:nvPicPr>
        <p:blipFill>
          <a:blip r:embed="rId3">
            <a:alphaModFix/>
          </a:blip>
          <a:stretch>
            <a:fillRect/>
          </a:stretch>
        </p:blipFill>
        <p:spPr>
          <a:xfrm>
            <a:off x="2469675" y="2631375"/>
            <a:ext cx="4046600" cy="2258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CROSS CULTURAL UNDERSTANDING</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As the world becomes more connected, whether online or in-person, it’s </a:t>
            </a:r>
            <a:r>
              <a:rPr b="1" lang="en" sz="1500">
                <a:solidFill>
                  <a:schemeClr val="dk1"/>
                </a:solidFill>
              </a:rPr>
              <a:t>increasingly important</a:t>
            </a:r>
            <a:r>
              <a:rPr lang="en" sz="1500">
                <a:solidFill>
                  <a:schemeClr val="dk1"/>
                </a:solidFill>
              </a:rPr>
              <a:t> to know how to work well with people from different cultures and backgrounds. This skill helps create better teamwork and more innovative solutions, especially in today’s international and diverse work environments.</a:t>
            </a:r>
            <a:endParaRPr sz="1500"/>
          </a:p>
        </p:txBody>
      </p:sp>
      <p:pic>
        <p:nvPicPr>
          <p:cNvPr id="102" name="Google Shape;102;p20" title="download (49).jpg"/>
          <p:cNvPicPr preferRelativeResize="0"/>
          <p:nvPr/>
        </p:nvPicPr>
        <p:blipFill>
          <a:blip r:embed="rId3">
            <a:alphaModFix/>
          </a:blip>
          <a:stretch>
            <a:fillRect/>
          </a:stretch>
        </p:blipFill>
        <p:spPr>
          <a:xfrm>
            <a:off x="2805225" y="2444975"/>
            <a:ext cx="3664025" cy="2390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AND SELF LEARNING RELIANCE</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 Because the world is constantly changing and full of surprises, it’s important to keep learning new things and be flexible enough to handle whatever comes next. This helps you stay strong and prepared for future opportunities and challenges in your life and career.</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09" name="Google Shape;109;p21" title="download (50).jpg"/>
          <p:cNvPicPr preferRelativeResize="0"/>
          <p:nvPr/>
        </p:nvPicPr>
        <p:blipFill>
          <a:blip r:embed="rId3">
            <a:alphaModFix/>
          </a:blip>
          <a:stretch>
            <a:fillRect/>
          </a:stretch>
        </p:blipFill>
        <p:spPr>
          <a:xfrm>
            <a:off x="2795850" y="2571750"/>
            <a:ext cx="3226375" cy="2416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5000">
                <a:solidFill>
                  <a:schemeClr val="dk1"/>
                </a:solidFill>
              </a:rPr>
              <a:t>CHALLENGES OF DIGITAL LITERACY</a:t>
            </a:r>
            <a:endParaRPr sz="5000">
              <a:solidFill>
                <a:schemeClr val="dk1"/>
              </a:solidFill>
            </a:endParaRPr>
          </a:p>
        </p:txBody>
      </p:sp>
      <p:pic>
        <p:nvPicPr>
          <p:cNvPr id="115" name="Google Shape;115;p22" title="images (21).jpg"/>
          <p:cNvPicPr preferRelativeResize="0"/>
          <p:nvPr/>
        </p:nvPicPr>
        <p:blipFill>
          <a:blip r:embed="rId3">
            <a:alphaModFix/>
          </a:blip>
          <a:stretch>
            <a:fillRect/>
          </a:stretch>
        </p:blipFill>
        <p:spPr>
          <a:xfrm>
            <a:off x="4195800" y="2374400"/>
            <a:ext cx="4228482" cy="2367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lnSpc>
                <a:spcPct val="166666"/>
              </a:lnSpc>
              <a:spcBef>
                <a:spcPts val="600"/>
              </a:spcBef>
              <a:spcAft>
                <a:spcPts val="0"/>
              </a:spcAft>
              <a:buClr>
                <a:schemeClr val="dk1"/>
              </a:buClr>
              <a:buSzPts val="1500"/>
              <a:buChar char="●"/>
            </a:pPr>
            <a:r>
              <a:rPr lang="en" sz="1500">
                <a:solidFill>
                  <a:schemeClr val="dk1"/>
                </a:solidFill>
              </a:rPr>
              <a:t>Not everyone has adequate access to digital devices and the internet. In many areas, especially in rural and remote regions, technological infrastructure is still very limited.</a:t>
            </a:r>
            <a:endParaRPr sz="1500">
              <a:solidFill>
                <a:schemeClr val="dk1"/>
              </a:solidFill>
            </a:endParaRPr>
          </a:p>
          <a:p>
            <a:pPr indent="-323850" lvl="0" marL="457200" rtl="0" algn="l">
              <a:lnSpc>
                <a:spcPct val="166666"/>
              </a:lnSpc>
              <a:spcBef>
                <a:spcPts val="0"/>
              </a:spcBef>
              <a:spcAft>
                <a:spcPts val="0"/>
              </a:spcAft>
              <a:buClr>
                <a:schemeClr val="dk1"/>
              </a:buClr>
              <a:buSzPts val="1500"/>
              <a:buChar char="●"/>
            </a:pPr>
            <a:r>
              <a:rPr lang="en" sz="1500">
                <a:solidFill>
                  <a:schemeClr val="dk1"/>
                </a:solidFill>
              </a:rPr>
              <a:t>Many people still do not understand how to use technology correctly and safely. Knowledge about using digital devices, applications, and the internet is still limited, making many vulnerable to fraud and cyber threats.</a:t>
            </a:r>
            <a:br>
              <a:rPr lang="en" sz="1500">
                <a:solidFill>
                  <a:schemeClr val="dk1"/>
                </a:solidFill>
              </a:rPr>
            </a:br>
            <a:endParaRPr sz="1500">
              <a:solidFill>
                <a:schemeClr val="dk1"/>
              </a:solidFill>
            </a:endParaRPr>
          </a:p>
        </p:txBody>
      </p:sp>
      <p:pic>
        <p:nvPicPr>
          <p:cNvPr id="122" name="Google Shape;122;p23" title="images (22).jpg"/>
          <p:cNvPicPr preferRelativeResize="0"/>
          <p:nvPr/>
        </p:nvPicPr>
        <p:blipFill>
          <a:blip r:embed="rId3">
            <a:alphaModFix/>
          </a:blip>
          <a:stretch>
            <a:fillRect/>
          </a:stretch>
        </p:blipFill>
        <p:spPr>
          <a:xfrm>
            <a:off x="4249500" y="2905050"/>
            <a:ext cx="2964825" cy="2079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idx="1" type="body"/>
          </p:nvPr>
        </p:nvSpPr>
        <p:spPr>
          <a:xfrm>
            <a:off x="311700" y="374025"/>
            <a:ext cx="8520600" cy="3416400"/>
          </a:xfrm>
          <a:prstGeom prst="rect">
            <a:avLst/>
          </a:prstGeom>
        </p:spPr>
        <p:txBody>
          <a:bodyPr anchorCtr="0" anchor="t" bIns="91425" lIns="91425" spcFirstLastPara="1" rIns="91425" wrap="square" tIns="91425">
            <a:normAutofit/>
          </a:bodyPr>
          <a:lstStyle/>
          <a:p>
            <a:pPr indent="-323850" lvl="0" marL="457200" rtl="0" algn="l">
              <a:lnSpc>
                <a:spcPct val="166666"/>
              </a:lnSpc>
              <a:spcBef>
                <a:spcPts val="600"/>
              </a:spcBef>
              <a:spcAft>
                <a:spcPts val="0"/>
              </a:spcAft>
              <a:buClr>
                <a:srgbClr val="142B42"/>
              </a:buClr>
              <a:buSzPts val="1500"/>
              <a:buChar char="●"/>
            </a:pPr>
            <a:r>
              <a:rPr lang="en" sz="1500">
                <a:solidFill>
                  <a:srgbClr val="142B42"/>
                </a:solidFill>
              </a:rPr>
              <a:t>Cyber threats such as online fraud, identity theft, and malware attacks are becoming more common. Many internet users are unaware of the importance of digital security, making them vulnerable to cyber-attacks.</a:t>
            </a:r>
            <a:endParaRPr sz="1500">
              <a:solidFill>
                <a:srgbClr val="142B42"/>
              </a:solidFill>
            </a:endParaRPr>
          </a:p>
          <a:p>
            <a:pPr indent="-323850" lvl="0" marL="457200" rtl="0" algn="l">
              <a:lnSpc>
                <a:spcPct val="166666"/>
              </a:lnSpc>
              <a:spcBef>
                <a:spcPts val="0"/>
              </a:spcBef>
              <a:spcAft>
                <a:spcPts val="0"/>
              </a:spcAft>
              <a:buClr>
                <a:srgbClr val="142B42"/>
              </a:buClr>
              <a:buSzPts val="1500"/>
              <a:buChar char="●"/>
            </a:pPr>
            <a:r>
              <a:rPr lang="en" sz="1500">
                <a:solidFill>
                  <a:srgbClr val="142B42"/>
                </a:solidFill>
              </a:rPr>
              <a:t>Many internet users do not yet understand digital ethics, such as the importance of protecting others' privacy, respecting copyrights, and behaving politely online.</a:t>
            </a:r>
            <a:endParaRPr sz="1500">
              <a:solidFill>
                <a:srgbClr val="142B42"/>
              </a:solidFill>
            </a:endParaRPr>
          </a:p>
          <a:p>
            <a:pPr indent="-323850" lvl="0" marL="457200" rtl="0" algn="l">
              <a:lnSpc>
                <a:spcPct val="166666"/>
              </a:lnSpc>
              <a:spcBef>
                <a:spcPts val="0"/>
              </a:spcBef>
              <a:spcAft>
                <a:spcPts val="0"/>
              </a:spcAft>
              <a:buClr>
                <a:srgbClr val="142B42"/>
              </a:buClr>
              <a:buSzPts val="1500"/>
              <a:buChar char="●"/>
            </a:pPr>
            <a:r>
              <a:rPr lang="en" sz="1500">
                <a:solidFill>
                  <a:srgbClr val="142B42"/>
                </a:solidFill>
              </a:rPr>
              <a:t>Digital technology continues to evolve rapidly, and not everyone can keep up with these developments.</a:t>
            </a:r>
            <a:br>
              <a:rPr lang="en" sz="1500">
                <a:solidFill>
                  <a:srgbClr val="142B42"/>
                </a:solidFill>
              </a:rPr>
            </a:br>
            <a:endParaRPr sz="1500"/>
          </a:p>
        </p:txBody>
      </p:sp>
      <p:pic>
        <p:nvPicPr>
          <p:cNvPr id="128" name="Google Shape;128;p24" title="images (23).jpg"/>
          <p:cNvPicPr preferRelativeResize="0"/>
          <p:nvPr/>
        </p:nvPicPr>
        <p:blipFill>
          <a:blip r:embed="rId3">
            <a:alphaModFix/>
          </a:blip>
          <a:stretch>
            <a:fillRect/>
          </a:stretch>
        </p:blipFill>
        <p:spPr>
          <a:xfrm>
            <a:off x="2773900" y="2905475"/>
            <a:ext cx="3696225" cy="1962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
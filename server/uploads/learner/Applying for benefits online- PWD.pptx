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012cdb7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012cdb7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012cdb7b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012cdb7b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4012cdb7b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4012cdb7b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4012cdb7b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4012cdb7b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012cdb7b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012cdb7b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012cdb7b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012cdb7b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012cdb7b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012cdb7b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012cdb7b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012cdb7b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012cdb7b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012cdb7b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012cdb7b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012cdb7b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012cdb7b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012cdb7b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012cdb7b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012cdb7b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012cdb7b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012cdb7b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012cdb7b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012cdb7b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012cdb7b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012cdb7b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4012cdb7b9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4012cdb7b9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incometax.gov.in/iec/foportal/" TargetMode="External"/><Relationship Id="rId4" Type="http://schemas.openxmlformats.org/officeDocument/2006/relationships/hyperlink" Target="https://www.incometax.gov.in/iec/foportal/" TargetMode="External"/><Relationship Id="rId5" Type="http://schemas.openxmlformats.org/officeDocument/2006/relationships/hyperlink" Target="https://m.economictimes.com/wealth/tax/save-income-tax-with-medical-expenses-claim-deduction-while-filing-itr-u/s-80dd-and-80u-on-treatment-cost-of-a-disabled-person/articleshow/111685622.cms?utm_source=chatgpt.com" TargetMode="External"/><Relationship Id="rId6" Type="http://schemas.openxmlformats.org/officeDocument/2006/relationships/hyperlink" Target="https://m.economictimes.com/wealth/tax/save-income-tax-with-medical-expenses-claim-deduction-while-filing-itr-u/s-80dd-and-80u-on-treatment-cost-of-a-disabled-person/articleshow/111685622.cms?utm_source=chatgpt.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moneycontrol.com/news/business/personal-finance/itr-filing-2023-24-why-you-must-file-form-10-ia-for-claiming-disability-deductions-12766981.html?utm_source=chatgpt.com" TargetMode="External"/><Relationship Id="rId4" Type="http://schemas.openxmlformats.org/officeDocument/2006/relationships/hyperlink" Target="https://www.moneycontrol.com/news/business/personal-finance/itr-filing-2023-24-why-you-must-file-form-10-ia-for-claiming-disability-deductions-12766981.html?utm_source=chatgpt.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cleartax.in/s/form-10ia?utm_source=chatgpt.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myscheme.gov.in/schemes/pre-dis?utm_source=chatgpt.com" TargetMode="External"/><Relationship Id="rId4" Type="http://schemas.openxmlformats.org/officeDocument/2006/relationships/hyperlink" Target="https://scholarships.gov.in/" TargetMode="External"/><Relationship Id="rId5" Type="http://schemas.openxmlformats.org/officeDocument/2006/relationships/hyperlink" Target="https://scholarships.gov.in/" TargetMode="External"/><Relationship Id="rId6" Type="http://schemas.openxmlformats.org/officeDocument/2006/relationships/hyperlink" Target="https://www.scholarships.gov.in/All-Scholarships?utm_source=chatgpt.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jntuacek.ac.in/wp-content/uploads/2021/11/scholarships-PWD.pdf?utm_source=chatgpt.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accesslex.org/scholarship/national-scholarship-college-students-disabilities?utm_source=chatgpt.com" TargetMode="External"/><Relationship Id="rId4" Type="http://schemas.openxmlformats.org/officeDocument/2006/relationships/hyperlink" Target="https://scholarships.gov.in/" TargetMode="External"/><Relationship Id="rId5" Type="http://schemas.openxmlformats.org/officeDocument/2006/relationships/hyperlink" Target="https://scholarships.gov.i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jntuacek.ac.in/wp-content/uploads/2021/11/scholarships-PWD.pdf?utm_source=chatgpt.com" TargetMode="External"/><Relationship Id="rId4" Type="http://schemas.openxmlformats.org/officeDocument/2006/relationships/hyperlink" Target="https://scholarships.gov.in/" TargetMode="External"/><Relationship Id="rId5" Type="http://schemas.openxmlformats.org/officeDocument/2006/relationships/hyperlink" Target="https://scholarships.gov.in/" TargetMode="External"/><Relationship Id="rId6" Type="http://schemas.openxmlformats.org/officeDocument/2006/relationships/hyperlink" Target="https://www.scholarships.gov.in/All-Scholarships?utm_source=chatgpt.com" TargetMode="External"/><Relationship Id="rId7" Type="http://schemas.openxmlformats.org/officeDocument/2006/relationships/hyperlink" Target="https://www.scholarships.gov.in/All-Scholarships?utm_source=chatgpt.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scholarships.gov.in/public/schemeGuidelines/Manipur_state_scheme/FAQ_3041.pdf?utm_source=chatgpt.com" TargetMode="External"/><Relationship Id="rId4" Type="http://schemas.openxmlformats.org/officeDocument/2006/relationships/hyperlink" Target="https://scholarships.gov.in/public/schemeGuidelines/Manipur_state_scheme/FAQ_3041.pdf?utm_source=chatgpt.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scholarships.gov.in/" TargetMode="External"/><Relationship Id="rId4" Type="http://schemas.openxmlformats.org/officeDocument/2006/relationships/hyperlink" Target="https://scholarships.gov.i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scholarships.gov.in/public/schemeGuidelines/Manipur_state_scheme/FAQ_3041.pdf?utm_source=chatgpt.com" TargetMode="External"/><Relationship Id="rId4" Type="http://schemas.openxmlformats.org/officeDocument/2006/relationships/hyperlink" Target="https://scholarships.gov.in/public/schemeGuidelines/Manipur_state_scheme/FAQ_3041.pdf?utm_source=chatgpt.com" TargetMode="External"/><Relationship Id="rId5" Type="http://schemas.openxmlformats.org/officeDocument/2006/relationships/hyperlink" Target="https://www.scholarships.gov.in/All-Scholarships?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88458" y="19725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APPLYING FOR BENEFITS ONLINE</a:t>
            </a:r>
            <a:endParaRPr/>
          </a:p>
          <a:p>
            <a:pPr indent="0" lvl="0" marL="0" rtl="0" algn="ctr">
              <a:spcBef>
                <a:spcPts val="0"/>
              </a:spcBef>
              <a:spcAft>
                <a:spcPts val="0"/>
              </a:spcAft>
              <a:buClr>
                <a:schemeClr val="dk1"/>
              </a:buClr>
              <a:buSzPts val="990"/>
              <a:buFont typeface="Arial"/>
              <a:buNone/>
            </a:pPr>
            <a:r>
              <a:rPr lang="en"/>
              <a:t>ctd.</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ONLINE TAX FILING</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PWD can file their tax returns online through the official </a:t>
            </a:r>
            <a:r>
              <a:rPr b="1" lang="en" sz="1500">
                <a:solidFill>
                  <a:schemeClr val="dk1"/>
                </a:solidFill>
              </a:rPr>
              <a:t>Income Tax Department website</a:t>
            </a:r>
            <a:r>
              <a:rPr lang="en" sz="1500">
                <a:solidFill>
                  <a:schemeClr val="dk1"/>
                </a:solidFill>
              </a:rPr>
              <a:t> or use third-party platforms with accessible features.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Clr>
                <a:schemeClr val="dk1"/>
              </a:buClr>
              <a:buSzPts val="1100"/>
              <a:buFont typeface="Arial"/>
              <a:buNone/>
            </a:pPr>
            <a:r>
              <a:rPr lang="en" sz="1500">
                <a:solidFill>
                  <a:schemeClr val="dk1"/>
                </a:solidFill>
              </a:rPr>
              <a:t>Filing income tax returns (ITR) online in India is a straightforward process, and Persons with Disabilities (PwDs) are entitled to certain tax benefits under Sections 80U and 80DD of the Income Tax Act.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body"/>
          </p:nvPr>
        </p:nvSpPr>
        <p:spPr>
          <a:xfrm>
            <a:off x="311700" y="6591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900">
                <a:solidFill>
                  <a:schemeClr val="dk1"/>
                </a:solidFill>
              </a:rPr>
              <a:t>1. Registering on the Income Tax e-Filing Portal:</a:t>
            </a:r>
            <a:endParaRPr b="1" sz="1900">
              <a:solidFill>
                <a:schemeClr val="dk1"/>
              </a:solidFill>
            </a:endParaRPr>
          </a:p>
          <a:p>
            <a:pPr indent="0" lvl="0" marL="0" rtl="0" algn="l">
              <a:spcBef>
                <a:spcPts val="1200"/>
              </a:spcBef>
              <a:spcAft>
                <a:spcPts val="0"/>
              </a:spcAft>
              <a:buClr>
                <a:schemeClr val="dk1"/>
              </a:buClr>
              <a:buSzPts val="1100"/>
              <a:buFont typeface="Arial"/>
              <a:buNone/>
            </a:pPr>
            <a:r>
              <a:t/>
            </a: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Visit the Portal:</a:t>
            </a:r>
            <a:r>
              <a:rPr lang="en" sz="1500">
                <a:solidFill>
                  <a:schemeClr val="dk1"/>
                </a:solidFill>
              </a:rPr>
              <a:t> Go to the</a:t>
            </a:r>
            <a:r>
              <a:rPr lang="en" sz="1500">
                <a:solidFill>
                  <a:schemeClr val="dk1"/>
                </a:solidFill>
                <a:uFill>
                  <a:noFill/>
                </a:uFill>
                <a:hlinkClick r:id="rId3">
                  <a:extLst>
                    <a:ext uri="{A12FA001-AC4F-418D-AE19-62706E023703}">
                      <ahyp:hlinkClr val="tx"/>
                    </a:ext>
                  </a:extLst>
                </a:hlinkClick>
              </a:rPr>
              <a:t> </a:t>
            </a:r>
            <a:r>
              <a:rPr lang="en" sz="1500" u="sng">
                <a:solidFill>
                  <a:schemeClr val="hlink"/>
                </a:solidFill>
                <a:hlinkClick r:id="rId4"/>
              </a:rPr>
              <a:t>Income Tax e-Filing Portal</a:t>
            </a:r>
            <a:r>
              <a:rPr lang="en" sz="1500">
                <a:solidFill>
                  <a:schemeClr val="dk1"/>
                </a:solidFill>
              </a:rPr>
              <a:t>.​</a:t>
            </a:r>
            <a:r>
              <a:rPr lang="en" sz="1500" u="sng">
                <a:solidFill>
                  <a:schemeClr val="hlink"/>
                </a:solidFill>
                <a:hlinkClick r:id="rId5"/>
              </a:rPr>
              <a:t>The Economic Times+1Income Tax Department+1</a:t>
            </a:r>
            <a:br>
              <a:rPr lang="en" sz="1500" u="sng">
                <a:solidFill>
                  <a:schemeClr val="hlink"/>
                </a:solidFill>
                <a:hlinkClick r:id="rId6"/>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Sign Up:</a:t>
            </a:r>
            <a:r>
              <a:rPr lang="en" sz="1500">
                <a:solidFill>
                  <a:schemeClr val="dk1"/>
                </a:solidFill>
              </a:rPr>
              <a:t> Click on "Register" and provide your Permanent Account Number (PAN), name, date of birth, and other required details.​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Set Password:</a:t>
            </a:r>
            <a:r>
              <a:rPr lang="en" sz="1500">
                <a:solidFill>
                  <a:schemeClr val="dk1"/>
                </a:solidFill>
              </a:rPr>
              <a:t> Create a password for your account to ensure secure access.</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idx="1" type="body"/>
          </p:nvPr>
        </p:nvSpPr>
        <p:spPr>
          <a:xfrm>
            <a:off x="234950" y="47272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500">
                <a:solidFill>
                  <a:schemeClr val="dk1"/>
                </a:solidFill>
              </a:rPr>
              <a:t> Filing Income Tax Return (ITR):</a:t>
            </a:r>
            <a:endParaRPr b="1"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Select the Appropriate ITR Form:</a:t>
            </a:r>
            <a:r>
              <a:rPr lang="en" sz="1500">
                <a:solidFill>
                  <a:schemeClr val="dk1"/>
                </a:solidFill>
              </a:rPr>
              <a:t> Choose the ITR form applicable to your income type. For individuals without business income, ITR-1 is typically used.​</a:t>
            </a:r>
            <a:r>
              <a:rPr lang="en" sz="1500" u="sng">
                <a:solidFill>
                  <a:schemeClr val="hlink"/>
                </a:solidFill>
                <a:hlinkClick r:id="rId3"/>
              </a:rPr>
              <a:t>Business News Today+1The Economic Times+1</a:t>
            </a:r>
            <a:br>
              <a:rPr lang="en" sz="1500" u="sng">
                <a:solidFill>
                  <a:schemeClr val="hlink"/>
                </a:solidFill>
                <a:hlinkClick r:id="rId4"/>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Fill in Personal Details:</a:t>
            </a:r>
            <a:r>
              <a:rPr lang="en" sz="1500">
                <a:solidFill>
                  <a:schemeClr val="dk1"/>
                </a:solidFill>
              </a:rPr>
              <a:t> Enter your personal information, including your name, address, and contact details.​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Provide Income Details:</a:t>
            </a:r>
            <a:r>
              <a:rPr lang="en" sz="1500">
                <a:solidFill>
                  <a:schemeClr val="dk1"/>
                </a:solidFill>
              </a:rPr>
              <a:t> Report all sources of income, such as salary, interest, or any other income.​</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idx="1" type="body"/>
          </p:nvPr>
        </p:nvSpPr>
        <p:spPr>
          <a:xfrm>
            <a:off x="311700" y="372775"/>
            <a:ext cx="8520600" cy="4196100"/>
          </a:xfrm>
          <a:prstGeom prst="rect">
            <a:avLst/>
          </a:prstGeom>
        </p:spPr>
        <p:txBody>
          <a:bodyPr anchorCtr="0" anchor="t" bIns="91425" lIns="91425" spcFirstLastPara="1" rIns="91425" wrap="square" tIns="91425">
            <a:normAutofit/>
          </a:bodyPr>
          <a:lstStyle/>
          <a:p>
            <a:pPr indent="-344444" lvl="0" marL="457200" rtl="0" algn="l">
              <a:spcBef>
                <a:spcPts val="1200"/>
              </a:spcBef>
              <a:spcAft>
                <a:spcPts val="0"/>
              </a:spcAft>
              <a:buClr>
                <a:schemeClr val="dk1"/>
              </a:buClr>
              <a:buSzPts val="1824"/>
              <a:buChar char="●"/>
            </a:pPr>
            <a:r>
              <a:rPr b="1" lang="en" sz="1824">
                <a:solidFill>
                  <a:schemeClr val="dk1"/>
                </a:solidFill>
              </a:rPr>
              <a:t>Claim Deductions:</a:t>
            </a:r>
            <a:br>
              <a:rPr b="1" lang="en" sz="1824">
                <a:solidFill>
                  <a:schemeClr val="dk1"/>
                </a:solidFill>
              </a:rPr>
            </a:br>
            <a:endParaRPr b="1" sz="1824">
              <a:solidFill>
                <a:schemeClr val="dk1"/>
              </a:solidFill>
            </a:endParaRPr>
          </a:p>
          <a:p>
            <a:pPr indent="-323850" lvl="1" marL="914400" rtl="0" algn="l">
              <a:spcBef>
                <a:spcPts val="0"/>
              </a:spcBef>
              <a:spcAft>
                <a:spcPts val="0"/>
              </a:spcAft>
              <a:buClr>
                <a:schemeClr val="dk1"/>
              </a:buClr>
              <a:buSzPts val="1500"/>
              <a:buChar char="○"/>
            </a:pPr>
            <a:r>
              <a:rPr b="1" lang="en" sz="1500">
                <a:solidFill>
                  <a:schemeClr val="dk1"/>
                </a:solidFill>
              </a:rPr>
              <a:t>Section 80U:</a:t>
            </a:r>
            <a:r>
              <a:rPr lang="en" sz="1500">
                <a:solidFill>
                  <a:schemeClr val="dk1"/>
                </a:solidFill>
              </a:rPr>
              <a:t> If you are a PwD, claim a deduction of ₹75,000 (₹1,25,000 for severe disability) under Section 80U.</a:t>
            </a:r>
            <a:br>
              <a:rPr lang="en" sz="1500">
                <a:solidFill>
                  <a:schemeClr val="dk1"/>
                </a:solidFill>
              </a:rPr>
            </a:br>
            <a:endParaRPr sz="1500">
              <a:solidFill>
                <a:schemeClr val="dk1"/>
              </a:solidFill>
            </a:endParaRPr>
          </a:p>
          <a:p>
            <a:pPr indent="-323850" lvl="1" marL="914400" rtl="0" algn="l">
              <a:spcBef>
                <a:spcPts val="0"/>
              </a:spcBef>
              <a:spcAft>
                <a:spcPts val="0"/>
              </a:spcAft>
              <a:buClr>
                <a:schemeClr val="dk1"/>
              </a:buClr>
              <a:buSzPts val="1500"/>
              <a:buChar char="○"/>
            </a:pPr>
            <a:r>
              <a:rPr b="1" lang="en" sz="1500">
                <a:solidFill>
                  <a:schemeClr val="dk1"/>
                </a:solidFill>
              </a:rPr>
              <a:t>Section 80DD:</a:t>
            </a:r>
            <a:r>
              <a:rPr lang="en" sz="1500">
                <a:solidFill>
                  <a:schemeClr val="dk1"/>
                </a:solidFill>
              </a:rPr>
              <a:t> If you have a dependent with a disability, you can claim a deduction of ₹75,000 (₹1,25,000 for severe disability) under Section 80DD.</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Calculate Tax:</a:t>
            </a:r>
            <a:r>
              <a:rPr lang="en" sz="1500">
                <a:solidFill>
                  <a:schemeClr val="dk1"/>
                </a:solidFill>
              </a:rPr>
              <a:t> The portal will automatically compute your tax liability after considering deductions.​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Verify and Submit:</a:t>
            </a:r>
            <a:r>
              <a:rPr lang="en" sz="1500">
                <a:solidFill>
                  <a:schemeClr val="dk1"/>
                </a:solidFill>
              </a:rPr>
              <a:t> Review all entered information for accuracy, e-verify your return using methods like Aadhaar OTP or Net Banking, and submit.</a:t>
            </a:r>
            <a:endParaRPr sz="15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900">
                <a:solidFill>
                  <a:schemeClr val="dk1"/>
                </a:solidFill>
              </a:rPr>
              <a:t>Filing Form 10-IA for Disability Deductions:</a:t>
            </a:r>
            <a:endParaRPr b="1" sz="1900">
              <a:solidFill>
                <a:schemeClr val="dk1"/>
              </a:solidFill>
            </a:endParaRPr>
          </a:p>
          <a:p>
            <a:pPr indent="0" lvl="0" marL="0" rtl="0" algn="l">
              <a:spcBef>
                <a:spcPts val="1200"/>
              </a:spcBef>
              <a:spcAft>
                <a:spcPts val="0"/>
              </a:spcAft>
              <a:buClr>
                <a:schemeClr val="dk1"/>
              </a:buClr>
              <a:buSzPts val="1100"/>
              <a:buFont typeface="Arial"/>
              <a:buNone/>
            </a:pPr>
            <a:r>
              <a:t/>
            </a: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Purpose of Form 10-IA:</a:t>
            </a:r>
            <a:r>
              <a:rPr lang="en" sz="1500">
                <a:solidFill>
                  <a:schemeClr val="dk1"/>
                </a:solidFill>
              </a:rPr>
              <a:t> This form is required to claim deductions under Sections 80U and 80DD.​</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When to File:</a:t>
            </a:r>
            <a:r>
              <a:rPr lang="en" sz="1500">
                <a:solidFill>
                  <a:schemeClr val="dk1"/>
                </a:solidFill>
              </a:rPr>
              <a:t> Submit Form 10-IA along with your ITR for the relevant assessment year.</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idx="1" type="body"/>
          </p:nvPr>
        </p:nvSpPr>
        <p:spPr>
          <a:xfrm>
            <a:off x="311700" y="538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a:solidFill>
                  <a:schemeClr val="dk1"/>
                </a:solidFill>
              </a:rPr>
              <a:t>How to File:</a:t>
            </a:r>
            <a:endParaRPr b="1">
              <a:solidFill>
                <a:schemeClr val="dk1"/>
              </a:solidFill>
            </a:endParaRPr>
          </a:p>
          <a:p>
            <a:pPr indent="0" lvl="0" marL="0" rtl="0" algn="l">
              <a:spcBef>
                <a:spcPts val="1200"/>
              </a:spcBef>
              <a:spcAft>
                <a:spcPts val="0"/>
              </a:spcAft>
              <a:buClr>
                <a:schemeClr val="dk1"/>
              </a:buClr>
              <a:buSzPts val="1100"/>
              <a:buFont typeface="Arial"/>
              <a:buNone/>
            </a:pPr>
            <a:r>
              <a:t/>
            </a:r>
            <a:endParaRPr b="1">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Log in to the e-Filing portal.</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Navigate to 'e-File' &gt; 'Income Tax Forms' &gt; 'File Income Tax Forms'.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Select 'Persons without business/professional income' and choose Form 10-IA for the applicable assessment year.</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Fill in the required details, including your disability certificate number and details of the certifying authority.</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Submit the form electronically.</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IMPORTANT CONSIDERATIONS</a:t>
            </a:r>
            <a:endParaRPr/>
          </a:p>
        </p:txBody>
      </p:sp>
      <p:sp>
        <p:nvSpPr>
          <p:cNvPr id="91" name="Google Shape;91;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Disability Certificate:</a:t>
            </a:r>
            <a:r>
              <a:rPr lang="en" sz="1500">
                <a:solidFill>
                  <a:schemeClr val="dk1"/>
                </a:solidFill>
              </a:rPr>
              <a:t> Ensure you have a valid disability certificate issued by a recognized medical authority.​</a:t>
            </a:r>
            <a:endParaRPr sz="1500">
              <a:solidFill>
                <a:schemeClr val="dk1"/>
              </a:solidFill>
            </a:endParaRPr>
          </a:p>
          <a:p>
            <a:pPr indent="0" lvl="0" marL="0" rtl="0" algn="l">
              <a:spcBef>
                <a:spcPts val="1200"/>
              </a:spcBef>
              <a:spcAft>
                <a:spcPts val="0"/>
              </a:spcAft>
              <a:buClr>
                <a:schemeClr val="dk1"/>
              </a:buClr>
              <a:buSzPts val="1100"/>
              <a:buFont typeface="Arial"/>
              <a:buNone/>
            </a:pPr>
            <a:r>
              <a:t/>
            </a:r>
            <a:endParaRPr sz="1500" u="sng">
              <a:solidFill>
                <a:schemeClr val="hlink"/>
              </a:solidFill>
            </a:endParaRPr>
          </a:p>
          <a:p>
            <a:pPr indent="0" lvl="0" marL="0" rtl="0" algn="l">
              <a:spcBef>
                <a:spcPts val="1200"/>
              </a:spcBef>
              <a:spcAft>
                <a:spcPts val="0"/>
              </a:spcAft>
              <a:buNone/>
            </a:pPr>
            <a:r>
              <a:rPr b="1" lang="en" sz="1500">
                <a:solidFill>
                  <a:schemeClr val="dk1"/>
                </a:solidFill>
              </a:rPr>
              <a:t>Validity of Certificate:</a:t>
            </a:r>
            <a:r>
              <a:rPr lang="en" sz="1500">
                <a:solidFill>
                  <a:schemeClr val="dk1"/>
                </a:solidFill>
              </a:rPr>
              <a:t> If your disability certificate has expired, obtain a new one to continue claiming deductions.​</a:t>
            </a:r>
            <a:endParaRPr sz="1500">
              <a:solidFill>
                <a:schemeClr val="dk1"/>
              </a:solidFill>
            </a:endParaRPr>
          </a:p>
          <a:p>
            <a:pPr indent="0" lvl="0" marL="0" rtl="0" algn="l">
              <a:spcBef>
                <a:spcPts val="1200"/>
              </a:spcBef>
              <a:spcAft>
                <a:spcPts val="0"/>
              </a:spcAft>
              <a:buClr>
                <a:schemeClr val="dk1"/>
              </a:buClr>
              <a:buSzPts val="1100"/>
              <a:buFont typeface="Arial"/>
              <a:buNone/>
            </a:pPr>
            <a:r>
              <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New vs. Old Tax Regime:</a:t>
            </a:r>
            <a:r>
              <a:rPr lang="en" sz="1500">
                <a:solidFill>
                  <a:schemeClr val="dk1"/>
                </a:solidFill>
              </a:rPr>
              <a:t> Deductions under Sections 80U and 80DD are available only under the old tax regime.​</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NATIONAL SCHOLARSHIP PORTAL (NSP)</a:t>
            </a:r>
            <a:endParaRPr/>
          </a:p>
        </p:txBody>
      </p:sp>
      <p:sp>
        <p:nvSpPr>
          <p:cNvPr id="97" name="Google Shape;9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​The </a:t>
            </a:r>
            <a:r>
              <a:rPr b="1" lang="en">
                <a:solidFill>
                  <a:schemeClr val="dk1"/>
                </a:solidFill>
              </a:rPr>
              <a:t>National Scholarship Portal (NSP)</a:t>
            </a:r>
            <a:r>
              <a:rPr lang="en">
                <a:solidFill>
                  <a:schemeClr val="dk1"/>
                </a:solidFill>
              </a:rPr>
              <a:t> is a centralized platform provided by the Government of India to facilitate scholarship applications for students, including those with disabilities. Through NSP, students can apply for various scholarships offered by central and state governments, ensuring a streamlined and transparent process.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SCHOLARSHIPS</a:t>
            </a:r>
            <a:endParaRPr/>
          </a:p>
        </p:txBody>
      </p:sp>
      <p:sp>
        <p:nvSpPr>
          <p:cNvPr id="103" name="Google Shape;10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500">
                <a:solidFill>
                  <a:schemeClr val="dk1"/>
                </a:solidFill>
              </a:rPr>
              <a:t>Pre-Matric Scholarship for Students with Disabilities:</a:t>
            </a:r>
            <a:endParaRPr b="1"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support students with disabilities studying in classes IX and X.​</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an annual family income not exceeding ₹2 lakh.​</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Covers tuition fees, maintenance allowances, and disability-related allowances.​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Apply online through the</a:t>
            </a:r>
            <a:r>
              <a:rPr lang="en" sz="1500">
                <a:solidFill>
                  <a:schemeClr val="dk1"/>
                </a:solidFill>
                <a:uFill>
                  <a:noFill/>
                </a:uFill>
                <a:hlinkClick r:id="rId4">
                  <a:extLst>
                    <a:ext uri="{A12FA001-AC4F-418D-AE19-62706E023703}">
                      <ahyp:hlinkClr val="tx"/>
                    </a:ext>
                  </a:extLst>
                </a:hlinkClick>
              </a:rPr>
              <a:t> </a:t>
            </a:r>
            <a:r>
              <a:rPr lang="en" sz="1500" u="sng">
                <a:solidFill>
                  <a:schemeClr val="hlink"/>
                </a:solidFill>
                <a:hlinkClick r:id="rId5"/>
              </a:rPr>
              <a:t>NSP portal</a:t>
            </a:r>
            <a:r>
              <a:rPr lang="en" sz="1500">
                <a:solidFill>
                  <a:schemeClr val="dk1"/>
                </a:solidFill>
              </a:rPr>
              <a:t>. ​</a:t>
            </a:r>
            <a:r>
              <a:rPr lang="en" sz="1500" u="sng">
                <a:solidFill>
                  <a:schemeClr val="hlink"/>
                </a:solidFill>
                <a:hlinkClick r:id="rId6"/>
              </a:rPr>
              <a:t>Sch</a:t>
            </a:r>
            <a:endParaRPr sz="1500" u="sng">
              <a:solidFill>
                <a:schemeClr val="hlink"/>
              </a:solidFill>
            </a:endParaRPr>
          </a:p>
          <a:p>
            <a:pPr indent="0" lvl="0" marL="0" rtl="0" algn="l">
              <a:spcBef>
                <a:spcPts val="1200"/>
              </a:spcBef>
              <a:spcAft>
                <a:spcPts val="1200"/>
              </a:spcAft>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idx="1" type="body"/>
          </p:nvPr>
        </p:nvSpPr>
        <p:spPr>
          <a:xfrm>
            <a:off x="311700" y="6462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900">
                <a:solidFill>
                  <a:schemeClr val="dk1"/>
                </a:solidFill>
              </a:rPr>
              <a:t>Post-Matric Scholarship for Students with Disabilities:</a:t>
            </a:r>
            <a:endParaRPr b="1" sz="1900">
              <a:solidFill>
                <a:schemeClr val="dk1"/>
              </a:solidFill>
            </a:endParaRPr>
          </a:p>
          <a:p>
            <a:pPr indent="0" lvl="0" marL="0" rtl="0" algn="l">
              <a:spcBef>
                <a:spcPts val="1200"/>
              </a:spcBef>
              <a:spcAft>
                <a:spcPts val="0"/>
              </a:spcAft>
              <a:buClr>
                <a:schemeClr val="dk1"/>
              </a:buClr>
              <a:buSzPts val="1100"/>
              <a:buFont typeface="Arial"/>
              <a:buNone/>
            </a:pPr>
            <a:r>
              <a:t/>
            </a: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assist students with disabilities pursuing post-matriculation courses (classes XI to Master's degree).​</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an annual family income not exceeding ₹2.5 lakh.​</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Provides maintenance allowances, tuition fees, book grants, and disability allowances.</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idx="1" type="body"/>
          </p:nvPr>
        </p:nvSpPr>
        <p:spPr>
          <a:xfrm>
            <a:off x="311700" y="59560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500">
                <a:solidFill>
                  <a:schemeClr val="dk1"/>
                </a:solidFill>
              </a:rPr>
              <a:t>Top Class Education Scholarship for Students with Disabilities:</a:t>
            </a:r>
            <a:endParaRPr b="1" sz="1500">
              <a:solidFill>
                <a:schemeClr val="dk1"/>
              </a:solidFill>
            </a:endParaRPr>
          </a:p>
          <a:p>
            <a:pPr indent="0" lvl="0" marL="0" rtl="0" algn="l">
              <a:spcBef>
                <a:spcPts val="1200"/>
              </a:spcBef>
              <a:spcAft>
                <a:spcPts val="0"/>
              </a:spcAft>
              <a:buClr>
                <a:schemeClr val="dk1"/>
              </a:buClr>
              <a:buSzPts val="1100"/>
              <a:buFont typeface="Arial"/>
              <a:buNone/>
            </a:pPr>
            <a:r>
              <a:t/>
            </a:r>
            <a:endParaRPr b="1"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support students with disabilities pursuing undergraduate and postgraduate courses in premier institutions.</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be enrolled in one of the top 100 institutions as per the National Institutional Ranking Framework (NIRF).​</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Includes tuition fees, living expenses, books, and disability allowances.​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Apply online through the</a:t>
            </a:r>
            <a:r>
              <a:rPr lang="en" sz="1500">
                <a:solidFill>
                  <a:schemeClr val="dk1"/>
                </a:solidFill>
                <a:uFill>
                  <a:noFill/>
                </a:uFill>
                <a:hlinkClick r:id="rId4">
                  <a:extLst>
                    <a:ext uri="{A12FA001-AC4F-418D-AE19-62706E023703}">
                      <ahyp:hlinkClr val="tx"/>
                    </a:ext>
                  </a:extLst>
                </a:hlinkClick>
              </a:rPr>
              <a:t> </a:t>
            </a:r>
            <a:r>
              <a:rPr lang="en" sz="1500" u="sng">
                <a:solidFill>
                  <a:schemeClr val="hlink"/>
                </a:solidFill>
                <a:hlinkClick r:id="rId5"/>
              </a:rPr>
              <a:t>NSP portal</a:t>
            </a:r>
            <a:r>
              <a:rPr lang="en" sz="1500">
                <a:solidFill>
                  <a:schemeClr val="dk1"/>
                </a:solidFill>
              </a:rPr>
              <a:t>.</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idx="1" type="body"/>
          </p:nvPr>
        </p:nvSpPr>
        <p:spPr>
          <a:xfrm>
            <a:off x="311700" y="5247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900">
                <a:solidFill>
                  <a:schemeClr val="dk1"/>
                </a:solidFill>
              </a:rPr>
              <a:t>National Fellowship for Students with Disabilities:</a:t>
            </a:r>
            <a:br>
              <a:rPr b="1" lang="en" sz="1900">
                <a:solidFill>
                  <a:schemeClr val="dk1"/>
                </a:solidFill>
              </a:rPr>
            </a:b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provide financial assistance for M.Phil and Ph.D. courses to students with disabilities</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secure admission to M.Phil/Ph.D. courses.​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Offers a monthly fellowship, contingency grants, and other allowances.​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Apply online through the</a:t>
            </a:r>
            <a:r>
              <a:rPr lang="en" sz="1500">
                <a:solidFill>
                  <a:schemeClr val="dk1"/>
                </a:solidFill>
                <a:uFill>
                  <a:noFill/>
                </a:uFill>
                <a:hlinkClick r:id="rId4">
                  <a:extLst>
                    <a:ext uri="{A12FA001-AC4F-418D-AE19-62706E023703}">
                      <ahyp:hlinkClr val="tx"/>
                    </a:ext>
                  </a:extLst>
                </a:hlinkClick>
              </a:rPr>
              <a:t> </a:t>
            </a:r>
            <a:r>
              <a:rPr lang="en" sz="1500" u="sng">
                <a:solidFill>
                  <a:schemeClr val="hlink"/>
                </a:solidFill>
                <a:hlinkClick r:id="rId5"/>
              </a:rPr>
              <a:t>NSP portal</a:t>
            </a:r>
            <a:r>
              <a:rPr lang="en" sz="1500">
                <a:solidFill>
                  <a:schemeClr val="dk1"/>
                </a:solidFill>
              </a:rPr>
              <a:t>. ​</a:t>
            </a:r>
            <a:r>
              <a:rPr lang="en" sz="1500" u="sng">
                <a:solidFill>
                  <a:schemeClr val="hlink"/>
                </a:solidFill>
                <a:hlinkClick r:id="rId6"/>
              </a:rPr>
              <a:t>Scholarships</a:t>
            </a:r>
            <a:br>
              <a:rPr lang="en" sz="1500" u="sng">
                <a:solidFill>
                  <a:schemeClr val="hlink"/>
                </a:solidFill>
                <a:hlinkClick r:id="rId7"/>
              </a:rPr>
            </a:br>
            <a:endParaRPr sz="1500" u="sng">
              <a:solidFill>
                <a:schemeClr val="hlink"/>
              </a:solidFill>
            </a:endParaRPr>
          </a:p>
          <a:p>
            <a:pPr indent="0" lvl="0" marL="0" rtl="0" algn="l">
              <a:spcBef>
                <a:spcPts val="1200"/>
              </a:spcBef>
              <a:spcAft>
                <a:spcPts val="1200"/>
              </a:spcAft>
              <a:buNone/>
            </a:pPr>
            <a:r>
              <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6"/>
          <p:cNvSpPr txBox="1"/>
          <p:nvPr>
            <p:ph idx="1" type="body"/>
          </p:nvPr>
        </p:nvSpPr>
        <p:spPr>
          <a:xfrm>
            <a:off x="311700" y="5449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900">
                <a:solidFill>
                  <a:schemeClr val="dk1"/>
                </a:solidFill>
              </a:rPr>
              <a:t>National Overseas Scholarship for Students with Disabilities:</a:t>
            </a: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provide financial assistance for pursuing master's or doctoral studies abroad.​</a:t>
            </a:r>
            <a:r>
              <a:rPr lang="en" sz="1500" u="sng">
                <a:solidFill>
                  <a:schemeClr val="hlink"/>
                </a:solidFill>
                <a:hlinkClick r:id="rId3"/>
              </a:rPr>
              <a:t>Scholarships</a:t>
            </a:r>
            <a:br>
              <a:rPr lang="en" sz="1500" u="sng">
                <a:solidFill>
                  <a:schemeClr val="hlink"/>
                </a:solidFill>
                <a:hlinkClick r:id="rId4"/>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meet other academic criteria.​</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Covers tuition fees, living expenses, and other related costs.​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Apply through the Department of Empowerment of Persons with Disabilities (DEPwD). ​</a:t>
            </a:r>
            <a:endParaRPr sz="1500" u="sng">
              <a:solidFill>
                <a:schemeClr val="hlink"/>
              </a:solidFill>
            </a:endParaRPr>
          </a:p>
          <a:p>
            <a:pPr indent="0" lvl="0" marL="0" rtl="0" algn="l">
              <a:spcBef>
                <a:spcPts val="1200"/>
              </a:spcBef>
              <a:spcAft>
                <a:spcPts val="1200"/>
              </a:spcAft>
              <a:buNone/>
            </a:pPr>
            <a:r>
              <a:t/>
            </a:r>
            <a:endParaRPr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PROCESS</a:t>
            </a:r>
            <a:endParaRPr/>
          </a:p>
        </p:txBody>
      </p:sp>
      <p:sp>
        <p:nvSpPr>
          <p:cNvPr id="129" name="Google Shape;12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Registration:</a:t>
            </a:r>
            <a:br>
              <a:rPr b="1" lang="en" sz="1500">
                <a:solidFill>
                  <a:schemeClr val="dk1"/>
                </a:solidFill>
              </a:rPr>
            </a:br>
            <a:endParaRPr b="1"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Visit the</a:t>
            </a:r>
            <a:r>
              <a:rPr lang="en" sz="1500">
                <a:solidFill>
                  <a:schemeClr val="dk1"/>
                </a:solidFill>
                <a:uFill>
                  <a:noFill/>
                </a:uFill>
                <a:hlinkClick r:id="rId3">
                  <a:extLst>
                    <a:ext uri="{A12FA001-AC4F-418D-AE19-62706E023703}">
                      <ahyp:hlinkClr val="tx"/>
                    </a:ext>
                  </a:extLst>
                </a:hlinkClick>
              </a:rPr>
              <a:t> </a:t>
            </a:r>
            <a:r>
              <a:rPr lang="en" sz="1500" u="sng">
                <a:solidFill>
                  <a:schemeClr val="hlink"/>
                </a:solidFill>
                <a:hlinkClick r:id="rId4"/>
              </a:rPr>
              <a:t>NSP official website</a:t>
            </a:r>
            <a:r>
              <a:rPr lang="en" sz="1500">
                <a:solidFill>
                  <a:schemeClr val="dk1"/>
                </a:solidFill>
              </a:rPr>
              <a:t>.​</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Click on "New Registration" and fill in personal details, including disability information.​</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Verify registration through the OTP sent to your registered mobile number.​</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8"/>
          <p:cNvSpPr txBox="1"/>
          <p:nvPr>
            <p:ph idx="1" type="body"/>
          </p:nvPr>
        </p:nvSpPr>
        <p:spPr>
          <a:xfrm>
            <a:off x="311700" y="555100"/>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n" sz="1900">
                <a:solidFill>
                  <a:schemeClr val="dk1"/>
                </a:solidFill>
              </a:rPr>
              <a:t>Application Submission:</a:t>
            </a:r>
            <a:endParaRPr b="1" sz="1900">
              <a:solidFill>
                <a:schemeClr val="dk1"/>
              </a:solidFill>
            </a:endParaRPr>
          </a:p>
          <a:p>
            <a:pPr indent="0" lvl="0" marL="0" rtl="0" algn="l">
              <a:spcBef>
                <a:spcPts val="1200"/>
              </a:spcBef>
              <a:spcAft>
                <a:spcPts val="0"/>
              </a:spcAft>
              <a:buClr>
                <a:schemeClr val="dk1"/>
              </a:buClr>
              <a:buSzPts val="1100"/>
              <a:buFont typeface="Arial"/>
              <a:buNone/>
            </a:pPr>
            <a:r>
              <a:t/>
            </a:r>
            <a:endParaRPr b="1" sz="19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Log in using your credentials.​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Select the appropriate scholarship scheme based on your eligibility.​</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Fill in the application form with accurate personal, academic, and disability-related details.​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Upload necessary documents, including the disability certificate.​</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Submit the application and note the application ID for future reference.</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IMPORTANT THINGS TO CONSIDER</a:t>
            </a:r>
            <a:endParaRPr/>
          </a:p>
        </p:txBody>
      </p:sp>
      <p:sp>
        <p:nvSpPr>
          <p:cNvPr id="140" name="Google Shape;140;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solidFill>
                  <a:schemeClr val="dk1"/>
                </a:solidFill>
              </a:rPr>
              <a:t>Disability Certificate:</a:t>
            </a:r>
            <a:r>
              <a:rPr lang="en" sz="1500">
                <a:solidFill>
                  <a:schemeClr val="dk1"/>
                </a:solidFill>
              </a:rPr>
              <a:t> Ensure you have a valid disability certificate issued by a competent authority.​</a:t>
            </a:r>
            <a:r>
              <a:rPr lang="en" sz="1500" u="sng">
                <a:solidFill>
                  <a:schemeClr val="hlink"/>
                </a:solidFill>
                <a:hlinkClick r:id="rId3"/>
              </a:rPr>
              <a:t>Scholarships</a:t>
            </a:r>
            <a:br>
              <a:rPr lang="en" sz="1500" u="sng">
                <a:solidFill>
                  <a:schemeClr val="hlink"/>
                </a:solidFill>
                <a:hlinkClick r:id="rId4"/>
              </a:rPr>
            </a:br>
            <a:endParaRPr sz="1500" u="sng">
              <a:solidFill>
                <a:schemeClr val="hlink"/>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Income Proof:</a:t>
            </a:r>
            <a:r>
              <a:rPr lang="en" sz="1500">
                <a:solidFill>
                  <a:schemeClr val="dk1"/>
                </a:solidFill>
              </a:rPr>
              <a:t> Provide accurate income details to meet eligibility criteria.​</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Documentation:</a:t>
            </a:r>
            <a:r>
              <a:rPr lang="en" sz="1500">
                <a:solidFill>
                  <a:schemeClr val="dk1"/>
                </a:solidFill>
              </a:rPr>
              <a:t> Upload all required documents to prevent application rejection.​</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Application Deadlines:</a:t>
            </a:r>
            <a:r>
              <a:rPr lang="en" sz="1500">
                <a:solidFill>
                  <a:schemeClr val="dk1"/>
                </a:solidFill>
              </a:rPr>
              <a:t> Be mindful of application deadlines for each scholarship.​</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One-Time Registration (OTR):</a:t>
            </a:r>
            <a:r>
              <a:rPr lang="en" sz="1500">
                <a:solidFill>
                  <a:schemeClr val="dk1"/>
                </a:solidFill>
              </a:rPr>
              <a:t> Complete OTR using Aadhaar details for a simplified application process. ​</a:t>
            </a:r>
            <a:r>
              <a:rPr lang="en" sz="1500" u="sng">
                <a:solidFill>
                  <a:schemeClr val="hlink"/>
                </a:solidFill>
                <a:hlinkClick r:id="rId5"/>
              </a:rPr>
              <a:t>Scholarships</a:t>
            </a:r>
            <a:endParaRPr sz="1500" u="sng">
              <a:solidFill>
                <a:schemeClr val="hlink"/>
              </a:solidFill>
            </a:endParaRPr>
          </a:p>
          <a:p>
            <a:pPr indent="0" lvl="0" marL="0" rtl="0" algn="l">
              <a:spcBef>
                <a:spcPts val="1200"/>
              </a:spcBef>
              <a:spcAft>
                <a:spcPts val="1200"/>
              </a:spcAft>
              <a:buNone/>
            </a:pPr>
            <a:r>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
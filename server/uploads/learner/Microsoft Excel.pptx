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03598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03598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035988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035988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7035988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703598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7035988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7035988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e7035988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e7035988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7035988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7035988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e7035988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e7035988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7035988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e7035988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e7035988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e7035988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e7035988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e703598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e7035988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e703598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7035988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e7035988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e7035988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e7035988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703598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703598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EXCEL</a:t>
            </a:r>
            <a:endParaRPr/>
          </a:p>
        </p:txBody>
      </p:sp>
      <p:pic>
        <p:nvPicPr>
          <p:cNvPr id="55" name="Google Shape;55;p13" title="download - 2025-04-02T141256.9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975" y="2905700"/>
            <a:ext cx="2192052" cy="20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4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Microsoft Excel is a powerful spreadsheet program used for storing, organizing, analyzing, and visualizing data. It is widely used in businesses, schools, and personal finance management.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725" y="1897500"/>
            <a:ext cx="5198801" cy="30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ITS INTERFACE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When you open Microsoft Excel, you see: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A. Workbook and Worksheets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Workbook</a:t>
            </a:r>
            <a:r>
              <a:rPr lang="en" sz="1500">
                <a:solidFill>
                  <a:schemeClr val="dk1"/>
                </a:solidFill>
              </a:rPr>
              <a:t> is the Excel file where you work.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workbook contains multiple </a:t>
            </a:r>
            <a:r>
              <a:rPr b="1" lang="en" sz="1500">
                <a:solidFill>
                  <a:schemeClr val="dk1"/>
                </a:solidFill>
              </a:rPr>
              <a:t>Worksheets</a:t>
            </a:r>
            <a:r>
              <a:rPr lang="en" sz="1500">
                <a:solidFill>
                  <a:schemeClr val="dk1"/>
                </a:solidFill>
              </a:rPr>
              <a:t> (also called "Sheets").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worksheet is made up of a grid of </a:t>
            </a:r>
            <a:r>
              <a:rPr b="1" lang="en" sz="1500">
                <a:solidFill>
                  <a:schemeClr val="dk1"/>
                </a:solidFill>
              </a:rPr>
              <a:t>cells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68" name="Google Shape;68;p15" title="download (7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13" y="3203625"/>
            <a:ext cx="29622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B. Rows, Columns, and Cells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Rows</a:t>
            </a:r>
            <a:r>
              <a:rPr lang="en" sz="1500">
                <a:solidFill>
                  <a:schemeClr val="dk1"/>
                </a:solidFill>
              </a:rPr>
              <a:t>: Horizontal lines labeled with </a:t>
            </a:r>
            <a:r>
              <a:rPr b="1" lang="en" sz="1500">
                <a:solidFill>
                  <a:schemeClr val="dk1"/>
                </a:solidFill>
              </a:rPr>
              <a:t>numbers (1, 2, 3, etc.)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Columns</a:t>
            </a:r>
            <a:r>
              <a:rPr lang="en" sz="1500">
                <a:solidFill>
                  <a:schemeClr val="dk1"/>
                </a:solidFill>
              </a:rPr>
              <a:t>: Vertical lines labeled with </a:t>
            </a:r>
            <a:r>
              <a:rPr b="1" lang="en" sz="1500">
                <a:solidFill>
                  <a:schemeClr val="dk1"/>
                </a:solidFill>
              </a:rPr>
              <a:t>letters (A, B, C, etc.)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Cells</a:t>
            </a:r>
            <a:r>
              <a:rPr lang="en" sz="1500">
                <a:solidFill>
                  <a:schemeClr val="dk1"/>
                </a:solidFill>
              </a:rPr>
              <a:t>: The small boxes where you enter data (each cell has an address like A1, B2, C3).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1734323384php3MXh0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500" y="2571750"/>
            <a:ext cx="4249200" cy="23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Entering and Formatting Data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A. How to Enter Data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Click on a </a:t>
            </a:r>
            <a:r>
              <a:rPr b="1" lang="en">
                <a:solidFill>
                  <a:schemeClr val="dk1"/>
                </a:solidFill>
              </a:rPr>
              <a:t>cell</a:t>
            </a:r>
            <a:r>
              <a:rPr lang="en">
                <a:solidFill>
                  <a:schemeClr val="dk1"/>
                </a:solidFill>
              </a:rPr>
              <a:t> and start typing.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Press </a:t>
            </a:r>
            <a:r>
              <a:rPr b="1" lang="en">
                <a:solidFill>
                  <a:schemeClr val="dk1"/>
                </a:solidFill>
              </a:rPr>
              <a:t>Enter</a:t>
            </a:r>
            <a:r>
              <a:rPr lang="en">
                <a:solidFill>
                  <a:schemeClr val="dk1"/>
                </a:solidFill>
              </a:rPr>
              <a:t> to move to the next row or </a:t>
            </a:r>
            <a:r>
              <a:rPr b="1" lang="en">
                <a:solidFill>
                  <a:schemeClr val="dk1"/>
                </a:solidFill>
              </a:rPr>
              <a:t>Tab</a:t>
            </a:r>
            <a:r>
              <a:rPr lang="en">
                <a:solidFill>
                  <a:schemeClr val="dk1"/>
                </a:solidFill>
              </a:rPr>
              <a:t> to move to the next column.</a:t>
            </a:r>
            <a:br>
              <a:rPr lang="en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77475" y="428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B. Formatting Data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Excel allows you to change how data looks: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Bold, Italics, Underline</a:t>
            </a:r>
            <a:r>
              <a:rPr lang="en" sz="1500">
                <a:solidFill>
                  <a:schemeClr val="dk1"/>
                </a:solidFill>
              </a:rPr>
              <a:t> (from the toolbar).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Change Font, Size, and Color</a:t>
            </a:r>
            <a:r>
              <a:rPr lang="en" sz="1500">
                <a:solidFill>
                  <a:schemeClr val="dk1"/>
                </a:solidFill>
              </a:rPr>
              <a:t> for better readability.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Merge Cells</a:t>
            </a:r>
            <a:r>
              <a:rPr lang="en" sz="1500">
                <a:solidFill>
                  <a:schemeClr val="dk1"/>
                </a:solidFill>
              </a:rPr>
              <a:t> to combine multiple cells into one.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Wrap Text</a:t>
            </a:r>
            <a:r>
              <a:rPr lang="en" sz="1500">
                <a:solidFill>
                  <a:schemeClr val="dk1"/>
                </a:solidFill>
              </a:rPr>
              <a:t> to keep text inside a cell without overflowing.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Number Formatting</a:t>
            </a:r>
            <a:r>
              <a:rPr lang="en" sz="1500">
                <a:solidFill>
                  <a:schemeClr val="dk1"/>
                </a:solidFill>
              </a:rPr>
              <a:t>: Convert data into Currency ($), Percentage (%), Date,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Screenshot 2025-04-02 1442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100" y="4030550"/>
            <a:ext cx="6374638" cy="9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FORMULAS AND FUNCTIONS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What are Formulas?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Formulas perform </a:t>
            </a:r>
            <a:r>
              <a:rPr b="1" lang="en" sz="1500">
                <a:solidFill>
                  <a:schemeClr val="dk1"/>
                </a:solidFill>
              </a:rPr>
              <a:t>mathematical calculations</a:t>
            </a:r>
            <a:r>
              <a:rPr lang="en" sz="1500">
                <a:solidFill>
                  <a:schemeClr val="dk1"/>
                </a:solidFill>
              </a:rPr>
              <a:t> in Excel.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Every formula starts with </a:t>
            </a:r>
            <a:r>
              <a:rPr b="1" lang="en" sz="1500">
                <a:solidFill>
                  <a:schemeClr val="dk1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(equal sign).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=A1 + B1</a:t>
            </a:r>
            <a:r>
              <a:rPr lang="en" sz="1500">
                <a:solidFill>
                  <a:schemeClr val="dk1"/>
                </a:solidFill>
              </a:rPr>
              <a:t> (Adds values in cells A1 and B1).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3" name="Google Shape;93;p19" title="Screenshot 2025-04-02 1443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900" y="3327538"/>
            <a:ext cx="3409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 title="Screenshot 2025-04-02 1444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7425" y="3287738"/>
            <a:ext cx="2633775" cy="1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Screenshot 2025-04-02 1430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00" y="772900"/>
            <a:ext cx="8308400" cy="36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234950" y="208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AND FILTERING DATA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097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A. Sorting 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Sort &amp; Filter</a:t>
            </a:r>
            <a:r>
              <a:rPr lang="en" sz="1500">
                <a:solidFill>
                  <a:schemeClr val="dk1"/>
                </a:solidFill>
              </a:rPr>
              <a:t> in the toolbar.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</a:t>
            </a:r>
            <a:r>
              <a:rPr b="1" lang="en" sz="1500">
                <a:solidFill>
                  <a:schemeClr val="dk1"/>
                </a:solidFill>
              </a:rPr>
              <a:t>Sort A-Z</a:t>
            </a:r>
            <a:r>
              <a:rPr lang="en" sz="1500">
                <a:solidFill>
                  <a:schemeClr val="dk1"/>
                </a:solidFill>
              </a:rPr>
              <a:t> (ascending) or </a:t>
            </a:r>
            <a:r>
              <a:rPr b="1" lang="en" sz="1500">
                <a:solidFill>
                  <a:schemeClr val="dk1"/>
                </a:solidFill>
              </a:rPr>
              <a:t>Sort Z-A</a:t>
            </a:r>
            <a:r>
              <a:rPr lang="en" sz="1500">
                <a:solidFill>
                  <a:schemeClr val="dk1"/>
                </a:solidFill>
              </a:rPr>
              <a:t> (descending).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B. Filtering 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on a </a:t>
            </a:r>
            <a:r>
              <a:rPr b="1" lang="en" sz="1500">
                <a:solidFill>
                  <a:schemeClr val="dk1"/>
                </a:solidFill>
              </a:rPr>
              <a:t>column header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Filter</a:t>
            </a:r>
            <a:r>
              <a:rPr lang="en" sz="1500">
                <a:solidFill>
                  <a:schemeClr val="dk1"/>
                </a:solidFill>
              </a:rPr>
              <a:t> from the toolbar.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checkboxes to display only specific values.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6" name="Google Shape;106;p21" title="Screenshot 2025-04-02 1445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250" y="1753981"/>
            <a:ext cx="3015675" cy="2210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CHARTS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Excel allows you to </a:t>
            </a:r>
            <a:r>
              <a:rPr b="1" lang="en" sz="1500">
                <a:solidFill>
                  <a:schemeClr val="dk1"/>
                </a:solidFill>
              </a:rPr>
              <a:t>visualize data</a:t>
            </a:r>
            <a:r>
              <a:rPr lang="en" sz="1500">
                <a:solidFill>
                  <a:schemeClr val="dk1"/>
                </a:solidFill>
              </a:rPr>
              <a:t> using different charts.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Insert a Chart?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 &gt; Charts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a chart type: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Column Chart</a:t>
            </a:r>
            <a:r>
              <a:rPr lang="en" sz="1500">
                <a:solidFill>
                  <a:schemeClr val="dk1"/>
                </a:solidFill>
              </a:rPr>
              <a:t> (for comparisons).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Pie Chart</a:t>
            </a:r>
            <a:r>
              <a:rPr lang="en" sz="1500">
                <a:solidFill>
                  <a:schemeClr val="dk1"/>
                </a:solidFill>
              </a:rPr>
              <a:t> (for percentages).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Line Chart</a:t>
            </a:r>
            <a:r>
              <a:rPr lang="en" sz="1500">
                <a:solidFill>
                  <a:schemeClr val="dk1"/>
                </a:solidFill>
              </a:rPr>
              <a:t> (for trends over time).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13" name="Google Shape;113;p22" title="Screenshot 2025-04-02 144644.png"/>
          <p:cNvPicPr preferRelativeResize="0"/>
          <p:nvPr/>
        </p:nvPicPr>
        <p:blipFill rotWithShape="1">
          <a:blip r:embed="rId3">
            <a:alphaModFix/>
          </a:blip>
          <a:srcRect b="0" l="13794" r="26876" t="0"/>
          <a:stretch/>
        </p:blipFill>
        <p:spPr>
          <a:xfrm>
            <a:off x="3475625" y="2028825"/>
            <a:ext cx="51202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PIVOT TABLES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Pivot Tables are powerful tools to summarize and analyze large data sets.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Create a Pivot Table?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 &gt; PivotTable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Drag and drop fields to </a:t>
            </a:r>
            <a:r>
              <a:rPr b="1" lang="en" sz="1500">
                <a:solidFill>
                  <a:schemeClr val="dk1"/>
                </a:solidFill>
              </a:rPr>
              <a:t>Rows, Columns, Values, and Filters</a:t>
            </a:r>
            <a:r>
              <a:rPr lang="en" sz="1500">
                <a:solidFill>
                  <a:schemeClr val="dk1"/>
                </a:solidFill>
              </a:rPr>
              <a:t> to analyze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0" name="Google Shape;120;p23" title="Screenshot 2025-04-02 144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50" y="3772100"/>
            <a:ext cx="86296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FORMATTING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Conditional Formatting highlights cells based on specific conditions.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Apply Conditional Formatting?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the data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Home &gt; Conditional Formatting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a rule (e.g., highlight cells greater than 50).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7" name="Google Shape;127;p24" title="Screenshot 2025-04-02 1447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038" y="1742113"/>
            <a:ext cx="311467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PROTECTING AND SECURING DATA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Lock Cells</a:t>
            </a:r>
            <a:r>
              <a:rPr lang="en" sz="1500">
                <a:solidFill>
                  <a:schemeClr val="dk1"/>
                </a:solidFill>
              </a:rPr>
              <a:t>: Prevent others from changing important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Protect Sheets</a:t>
            </a:r>
            <a:r>
              <a:rPr lang="en" sz="1500">
                <a:solidFill>
                  <a:schemeClr val="dk1"/>
                </a:solidFill>
              </a:rPr>
              <a:t>: Click </a:t>
            </a:r>
            <a:r>
              <a:rPr b="1" lang="en" sz="1500">
                <a:solidFill>
                  <a:schemeClr val="dk1"/>
                </a:solidFill>
              </a:rPr>
              <a:t>Review &gt; Protect Sheet</a:t>
            </a:r>
            <a:r>
              <a:rPr lang="en" sz="1500">
                <a:solidFill>
                  <a:schemeClr val="dk1"/>
                </a:solidFill>
              </a:rPr>
              <a:t> to restrict editing.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Password-Protect a Workbook</a:t>
            </a:r>
            <a:r>
              <a:rPr lang="en" sz="1500">
                <a:solidFill>
                  <a:schemeClr val="dk1"/>
                </a:solidFill>
              </a:rPr>
              <a:t>: Click </a:t>
            </a:r>
            <a:r>
              <a:rPr b="1" lang="en" sz="1500">
                <a:solidFill>
                  <a:schemeClr val="dk1"/>
                </a:solidFill>
              </a:rPr>
              <a:t>File &gt; Info &gt; Protect Workbook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34" name="Google Shape;134;p25" title="Screenshot 2025-04-02 1448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175" y="2927088"/>
            <a:ext cx="508635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AND EXPORTING FILES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Excel allows you to save and export your files in different formats: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 as Excel file (.xlsx)</a:t>
            </a:r>
            <a:r>
              <a:rPr lang="en" sz="1500">
                <a:solidFill>
                  <a:schemeClr val="dk1"/>
                </a:solidFill>
              </a:rPr>
              <a:t> for regular use.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 as PDF (.pdf)</a:t>
            </a:r>
            <a:r>
              <a:rPr lang="en" sz="1500">
                <a:solidFill>
                  <a:schemeClr val="dk1"/>
                </a:solidFill>
              </a:rPr>
              <a:t> for easy sharing.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Export as CSV (.csv)</a:t>
            </a:r>
            <a:r>
              <a:rPr lang="en" sz="1500">
                <a:solidFill>
                  <a:schemeClr val="dk1"/>
                </a:solidFill>
              </a:rPr>
              <a:t> for raw data processing.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
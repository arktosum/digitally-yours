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02bc459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02bc459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02bc4591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02bc4591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02bc4591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02bc4591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02bc4591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02bc4591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02bc4591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02bc4591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02bc4591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02bc4591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02bc4591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02bc4591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02bc4591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402bc4591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income-word-lettering-vector-18889918 (1).jpg"/>
          <p:cNvPicPr preferRelativeResize="0"/>
          <p:nvPr/>
        </p:nvPicPr>
        <p:blipFill rotWithShape="1">
          <a:blip r:embed="rId3">
            <a:alphaModFix/>
          </a:blip>
          <a:srcRect b="10952" l="0" r="0" t="0"/>
          <a:stretch/>
        </p:blipFill>
        <p:spPr>
          <a:xfrm>
            <a:off x="1120600" y="159675"/>
            <a:ext cx="7080500" cy="470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421350" y="4508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a:solidFill>
                  <a:schemeClr val="dk1"/>
                </a:solidFill>
              </a:rPr>
              <a:t>Income</a:t>
            </a:r>
            <a:r>
              <a:rPr lang="en">
                <a:solidFill>
                  <a:schemeClr val="dk1"/>
                </a:solidFill>
              </a:rPr>
              <a:t> is the money you earn from working, investments, or other sources. It’s what you get paid for your time, skills, or investments. Think of income as the fuel that powers your financial engine. Without it, you can’t pay bills, buy food, or save for the future.</a:t>
            </a:r>
            <a:endParaRPr>
              <a:solidFill>
                <a:schemeClr val="dk1"/>
              </a:solidFill>
            </a:endParaRPr>
          </a:p>
          <a:p>
            <a:pPr indent="0" lvl="0" marL="0" rtl="0" algn="l">
              <a:spcBef>
                <a:spcPts val="1200"/>
              </a:spcBef>
              <a:spcAft>
                <a:spcPts val="1200"/>
              </a:spcAft>
              <a:buNone/>
            </a:pPr>
            <a:r>
              <a:t/>
            </a:r>
            <a:endParaRPr/>
          </a:p>
        </p:txBody>
      </p:sp>
      <p:pic>
        <p:nvPicPr>
          <p:cNvPr id="60" name="Google Shape;60;p14" title="download - 2025-04-04T172034.024.jpg"/>
          <p:cNvPicPr preferRelativeResize="0"/>
          <p:nvPr/>
        </p:nvPicPr>
        <p:blipFill>
          <a:blip r:embed="rId3">
            <a:alphaModFix/>
          </a:blip>
          <a:stretch>
            <a:fillRect/>
          </a:stretch>
        </p:blipFill>
        <p:spPr>
          <a:xfrm>
            <a:off x="2968700" y="2429225"/>
            <a:ext cx="3731450" cy="2296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324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Types of Income:</a:t>
            </a:r>
            <a:endParaRPr b="1" sz="2500"/>
          </a:p>
          <a:p>
            <a:pPr indent="0" lvl="0" marL="0" rtl="0" algn="l">
              <a:spcBef>
                <a:spcPts val="400"/>
              </a:spcBef>
              <a:spcAft>
                <a:spcPts val="0"/>
              </a:spcAft>
              <a:buNone/>
            </a:pPr>
            <a:r>
              <a:t/>
            </a:r>
            <a:endParaRPr b="1" sz="2500"/>
          </a:p>
        </p:txBody>
      </p:sp>
      <p:sp>
        <p:nvSpPr>
          <p:cNvPr id="66" name="Google Shape;66;p15"/>
          <p:cNvSpPr txBox="1"/>
          <p:nvPr>
            <p:ph idx="1" type="body"/>
          </p:nvPr>
        </p:nvSpPr>
        <p:spPr>
          <a:xfrm>
            <a:off x="311700" y="1017725"/>
            <a:ext cx="8520600" cy="34164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b="1" lang="en" sz="1500">
                <a:solidFill>
                  <a:schemeClr val="dk1"/>
                </a:solidFill>
              </a:rPr>
              <a:t>Earned Income (Active Income):</a:t>
            </a:r>
            <a:br>
              <a:rPr b="1" lang="en" sz="1500">
                <a:solidFill>
                  <a:schemeClr val="dk1"/>
                </a:solidFill>
              </a:rPr>
            </a:br>
            <a:endParaRPr b="1" sz="1500">
              <a:solidFill>
                <a:schemeClr val="dk1"/>
              </a:solidFill>
            </a:endParaRPr>
          </a:p>
          <a:p>
            <a:pPr indent="0" lvl="0" marL="0" rtl="0" algn="l">
              <a:spcBef>
                <a:spcPts val="1200"/>
              </a:spcBef>
              <a:spcAft>
                <a:spcPts val="0"/>
              </a:spcAft>
              <a:buNone/>
            </a:pPr>
            <a:r>
              <a:rPr b="1" lang="en" sz="1500">
                <a:solidFill>
                  <a:schemeClr val="dk1"/>
                </a:solidFill>
              </a:rPr>
              <a:t>What it is:</a:t>
            </a:r>
            <a:r>
              <a:rPr lang="en" sz="1500">
                <a:solidFill>
                  <a:schemeClr val="dk1"/>
                </a:solidFill>
              </a:rPr>
              <a:t> Money you make from working.</a:t>
            </a:r>
            <a:br>
              <a:rPr lang="en" sz="1500">
                <a:solidFill>
                  <a:schemeClr val="dk1"/>
                </a:solidFill>
              </a:rPr>
            </a:br>
            <a:endParaRPr sz="1500">
              <a:solidFill>
                <a:schemeClr val="dk1"/>
              </a:solidFill>
            </a:endParaRPr>
          </a:p>
          <a:p>
            <a:pPr indent="0" lvl="0" marL="0" rtl="0" algn="l">
              <a:spcBef>
                <a:spcPts val="1200"/>
              </a:spcBef>
              <a:spcAft>
                <a:spcPts val="0"/>
              </a:spcAft>
              <a:buNone/>
            </a:pPr>
            <a:r>
              <a:rPr b="1" lang="en" sz="1500">
                <a:solidFill>
                  <a:schemeClr val="dk1"/>
                </a:solidFill>
              </a:rPr>
              <a:t>How you get it:</a:t>
            </a:r>
            <a:r>
              <a:rPr lang="en" sz="1500">
                <a:solidFill>
                  <a:schemeClr val="dk1"/>
                </a:solidFill>
              </a:rPr>
              <a:t> Through a job, freelance work, or running a business.</a:t>
            </a:r>
            <a:br>
              <a:rPr lang="en" sz="1500">
                <a:solidFill>
                  <a:schemeClr val="dk1"/>
                </a:solidFill>
              </a:rPr>
            </a:br>
            <a:endParaRPr sz="1500">
              <a:solidFill>
                <a:schemeClr val="dk1"/>
              </a:solidFill>
            </a:endParaRPr>
          </a:p>
          <a:p>
            <a:pPr indent="0" lvl="0" marL="914400" rtl="0" algn="l">
              <a:spcBef>
                <a:spcPts val="1200"/>
              </a:spcBef>
              <a:spcAft>
                <a:spcPts val="0"/>
              </a:spcAft>
              <a:buNone/>
            </a:pPr>
            <a:r>
              <a:rPr b="1" lang="en" sz="1500">
                <a:solidFill>
                  <a:schemeClr val="dk1"/>
                </a:solidFill>
              </a:rPr>
              <a:t>Examples:</a:t>
            </a:r>
            <a:br>
              <a:rPr b="1" lang="en" sz="1500">
                <a:solidFill>
                  <a:schemeClr val="dk1"/>
                </a:solidFill>
              </a:rPr>
            </a:br>
            <a:endParaRPr b="1" sz="1500">
              <a:solidFill>
                <a:schemeClr val="dk1"/>
              </a:solidFill>
            </a:endParaRPr>
          </a:p>
          <a:p>
            <a:pPr indent="-323850" lvl="2" marL="1371600" rtl="0" algn="l">
              <a:spcBef>
                <a:spcPts val="1200"/>
              </a:spcBef>
              <a:spcAft>
                <a:spcPts val="0"/>
              </a:spcAft>
              <a:buClr>
                <a:schemeClr val="dk1"/>
              </a:buClr>
              <a:buSzPts val="1500"/>
              <a:buChar char="■"/>
            </a:pPr>
            <a:r>
              <a:rPr lang="en" sz="1500">
                <a:solidFill>
                  <a:schemeClr val="dk1"/>
                </a:solidFill>
              </a:rPr>
              <a:t>Your salary from a part-time job.</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Wages from working at a café.</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Money from offering services like tutoring or babysitting.</a:t>
            </a:r>
            <a:br>
              <a:rPr lang="en" sz="1500">
                <a:solidFill>
                  <a:schemeClr val="dk1"/>
                </a:solidFill>
              </a:rPr>
            </a:br>
            <a:endParaRPr sz="1500"/>
          </a:p>
        </p:txBody>
      </p:sp>
      <p:pic>
        <p:nvPicPr>
          <p:cNvPr id="67" name="Google Shape;67;p15" title="images (56).jpg"/>
          <p:cNvPicPr preferRelativeResize="0"/>
          <p:nvPr/>
        </p:nvPicPr>
        <p:blipFill>
          <a:blip r:embed="rId3">
            <a:alphaModFix/>
          </a:blip>
          <a:stretch>
            <a:fillRect/>
          </a:stretch>
        </p:blipFill>
        <p:spPr>
          <a:xfrm>
            <a:off x="5649675" y="2985338"/>
            <a:ext cx="2800350" cy="1628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88450" y="319225"/>
            <a:ext cx="8520600" cy="34164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b="1" lang="en">
                <a:solidFill>
                  <a:schemeClr val="dk1"/>
                </a:solidFill>
              </a:rPr>
              <a:t>Unearned Income (Passive Income):</a:t>
            </a:r>
            <a:br>
              <a:rPr b="1" lang="en">
                <a:solidFill>
                  <a:schemeClr val="dk1"/>
                </a:solidFill>
              </a:rPr>
            </a:br>
            <a:endParaRPr b="1">
              <a:solidFill>
                <a:schemeClr val="dk1"/>
              </a:solidFill>
            </a:endParaRPr>
          </a:p>
          <a:p>
            <a:pPr indent="0" lvl="0" marL="0" rtl="0" algn="l">
              <a:spcBef>
                <a:spcPts val="1200"/>
              </a:spcBef>
              <a:spcAft>
                <a:spcPts val="0"/>
              </a:spcAft>
              <a:buNone/>
            </a:pPr>
            <a:r>
              <a:rPr b="1" lang="en" sz="1500">
                <a:solidFill>
                  <a:schemeClr val="dk1"/>
                </a:solidFill>
              </a:rPr>
              <a:t>What it is:</a:t>
            </a:r>
            <a:r>
              <a:rPr lang="en" sz="1500">
                <a:solidFill>
                  <a:schemeClr val="dk1"/>
                </a:solidFill>
              </a:rPr>
              <a:t> Money you receive without actively working for it.</a:t>
            </a:r>
            <a:br>
              <a:rPr lang="en" sz="1500">
                <a:solidFill>
                  <a:schemeClr val="dk1"/>
                </a:solidFill>
              </a:rPr>
            </a:br>
            <a:endParaRPr sz="1500">
              <a:solidFill>
                <a:schemeClr val="dk1"/>
              </a:solidFill>
            </a:endParaRPr>
          </a:p>
          <a:p>
            <a:pPr indent="0" lvl="0" marL="0" rtl="0" algn="l">
              <a:spcBef>
                <a:spcPts val="1200"/>
              </a:spcBef>
              <a:spcAft>
                <a:spcPts val="0"/>
              </a:spcAft>
              <a:buNone/>
            </a:pPr>
            <a:r>
              <a:rPr b="1" lang="en" sz="1500">
                <a:solidFill>
                  <a:schemeClr val="dk1"/>
                </a:solidFill>
              </a:rPr>
              <a:t>How you get it:</a:t>
            </a:r>
            <a:r>
              <a:rPr lang="en" sz="1500">
                <a:solidFill>
                  <a:schemeClr val="dk1"/>
                </a:solidFill>
              </a:rPr>
              <a:t> From investments, rental properties, or royalties.</a:t>
            </a:r>
            <a:br>
              <a:rPr lang="en" sz="1500">
                <a:solidFill>
                  <a:schemeClr val="dk1"/>
                </a:solidFill>
              </a:rPr>
            </a:br>
            <a:endParaRPr sz="1500">
              <a:solidFill>
                <a:schemeClr val="dk1"/>
              </a:solidFill>
            </a:endParaRPr>
          </a:p>
          <a:p>
            <a:pPr indent="0" lvl="0" marL="914400" rtl="0" algn="l">
              <a:spcBef>
                <a:spcPts val="1200"/>
              </a:spcBef>
              <a:spcAft>
                <a:spcPts val="0"/>
              </a:spcAft>
              <a:buNone/>
            </a:pPr>
            <a:r>
              <a:rPr b="1" lang="en" sz="1500">
                <a:solidFill>
                  <a:schemeClr val="dk1"/>
                </a:solidFill>
              </a:rPr>
              <a:t>Examples:</a:t>
            </a:r>
            <a:br>
              <a:rPr b="1" lang="en" sz="1500">
                <a:solidFill>
                  <a:schemeClr val="dk1"/>
                </a:solidFill>
              </a:rPr>
            </a:br>
            <a:endParaRPr b="1" sz="1500">
              <a:solidFill>
                <a:schemeClr val="dk1"/>
              </a:solidFill>
            </a:endParaRPr>
          </a:p>
          <a:p>
            <a:pPr indent="-323850" lvl="2" marL="1371600" rtl="0" algn="l">
              <a:spcBef>
                <a:spcPts val="1200"/>
              </a:spcBef>
              <a:spcAft>
                <a:spcPts val="0"/>
              </a:spcAft>
              <a:buClr>
                <a:schemeClr val="dk1"/>
              </a:buClr>
              <a:buSzPts val="1500"/>
              <a:buChar char="■"/>
            </a:pPr>
            <a:r>
              <a:rPr lang="en" sz="1500">
                <a:solidFill>
                  <a:schemeClr val="dk1"/>
                </a:solidFill>
              </a:rPr>
              <a:t>Interest from a savings account.</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Dividends from stocks.</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Rent from a property you own.</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Money earned from a book you wrote or a song you created.</a:t>
            </a:r>
            <a:br>
              <a:rPr lang="en" sz="1500">
                <a:solidFill>
                  <a:schemeClr val="dk1"/>
                </a:solidFill>
              </a:rPr>
            </a:br>
            <a:endParaRPr sz="1500"/>
          </a:p>
        </p:txBody>
      </p:sp>
      <p:pic>
        <p:nvPicPr>
          <p:cNvPr id="73" name="Google Shape;73;p16" title="images (57).jpg"/>
          <p:cNvPicPr preferRelativeResize="0"/>
          <p:nvPr/>
        </p:nvPicPr>
        <p:blipFill>
          <a:blip r:embed="rId3">
            <a:alphaModFix/>
          </a:blip>
          <a:stretch>
            <a:fillRect/>
          </a:stretch>
        </p:blipFill>
        <p:spPr>
          <a:xfrm>
            <a:off x="5504450" y="2630250"/>
            <a:ext cx="3404600" cy="1930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538500"/>
            <a:ext cx="8520600" cy="34164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b="1" lang="en" sz="1500">
                <a:solidFill>
                  <a:schemeClr val="dk1"/>
                </a:solidFill>
              </a:rPr>
              <a:t>Transfer Income:</a:t>
            </a:r>
            <a:br>
              <a:rPr b="1" lang="en" sz="1500">
                <a:solidFill>
                  <a:schemeClr val="dk1"/>
                </a:solidFill>
              </a:rPr>
            </a:br>
            <a:endParaRPr b="1" sz="1500">
              <a:solidFill>
                <a:schemeClr val="dk1"/>
              </a:solidFill>
            </a:endParaRPr>
          </a:p>
          <a:p>
            <a:pPr indent="-323850" lvl="1" marL="914400" rtl="0" algn="l">
              <a:spcBef>
                <a:spcPts val="1200"/>
              </a:spcBef>
              <a:spcAft>
                <a:spcPts val="0"/>
              </a:spcAft>
              <a:buClr>
                <a:schemeClr val="dk1"/>
              </a:buClr>
              <a:buSzPts val="1500"/>
              <a:buChar char="○"/>
            </a:pPr>
            <a:r>
              <a:rPr b="1" lang="en" sz="1500">
                <a:solidFill>
                  <a:schemeClr val="dk1"/>
                </a:solidFill>
              </a:rPr>
              <a:t>What it is:</a:t>
            </a:r>
            <a:r>
              <a:rPr lang="en" sz="1500">
                <a:solidFill>
                  <a:schemeClr val="dk1"/>
                </a:solidFill>
              </a:rPr>
              <a:t> Money given to you without providing goods or services in return.</a:t>
            </a:r>
            <a:br>
              <a:rPr lang="en" sz="1500">
                <a:solidFill>
                  <a:schemeClr val="dk1"/>
                </a:solidFill>
              </a:rPr>
            </a:br>
            <a:endParaRPr sz="1500">
              <a:solidFill>
                <a:schemeClr val="dk1"/>
              </a:solidFill>
            </a:endParaRPr>
          </a:p>
          <a:p>
            <a:pPr indent="-323850" lvl="1" marL="914400" rtl="0" algn="l">
              <a:spcBef>
                <a:spcPts val="0"/>
              </a:spcBef>
              <a:spcAft>
                <a:spcPts val="0"/>
              </a:spcAft>
              <a:buClr>
                <a:schemeClr val="dk1"/>
              </a:buClr>
              <a:buSzPts val="1500"/>
              <a:buChar char="○"/>
            </a:pPr>
            <a:r>
              <a:rPr b="1" lang="en" sz="1500">
                <a:solidFill>
                  <a:schemeClr val="dk1"/>
                </a:solidFill>
              </a:rPr>
              <a:t>How you get it:</a:t>
            </a:r>
            <a:r>
              <a:rPr lang="en" sz="1500">
                <a:solidFill>
                  <a:schemeClr val="dk1"/>
                </a:solidFill>
              </a:rPr>
              <a:t> Through government programs, gifts, or allowances.</a:t>
            </a:r>
            <a:br>
              <a:rPr lang="en" sz="1500">
                <a:solidFill>
                  <a:schemeClr val="dk1"/>
                </a:solidFill>
              </a:rPr>
            </a:br>
            <a:endParaRPr sz="1500">
              <a:solidFill>
                <a:schemeClr val="dk1"/>
              </a:solidFill>
            </a:endParaRPr>
          </a:p>
          <a:p>
            <a:pPr indent="-323850" lvl="1" marL="914400" rtl="0" algn="l">
              <a:spcBef>
                <a:spcPts val="0"/>
              </a:spcBef>
              <a:spcAft>
                <a:spcPts val="0"/>
              </a:spcAft>
              <a:buClr>
                <a:schemeClr val="dk1"/>
              </a:buClr>
              <a:buSzPts val="1500"/>
              <a:buChar char="○"/>
            </a:pPr>
            <a:r>
              <a:rPr b="1" lang="en" sz="1500">
                <a:solidFill>
                  <a:schemeClr val="dk1"/>
                </a:solidFill>
              </a:rPr>
              <a:t>Examples:</a:t>
            </a:r>
            <a:br>
              <a:rPr b="1" lang="en" sz="1500">
                <a:solidFill>
                  <a:schemeClr val="dk1"/>
                </a:solidFill>
              </a:rPr>
            </a:br>
            <a:endParaRPr b="1"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Social security benefits.</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Unemployment benefits.</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Allowance from parents.</a:t>
            </a:r>
            <a:br>
              <a:rPr lang="en" sz="1500">
                <a:solidFill>
                  <a:schemeClr val="dk1"/>
                </a:solidFill>
              </a:rPr>
            </a:br>
            <a:endParaRPr sz="1500"/>
          </a:p>
        </p:txBody>
      </p:sp>
      <p:pic>
        <p:nvPicPr>
          <p:cNvPr id="79" name="Google Shape;79;p17" title="images (58).jpg"/>
          <p:cNvPicPr preferRelativeResize="0"/>
          <p:nvPr/>
        </p:nvPicPr>
        <p:blipFill>
          <a:blip r:embed="rId3">
            <a:alphaModFix/>
          </a:blip>
          <a:stretch>
            <a:fillRect/>
          </a:stretch>
        </p:blipFill>
        <p:spPr>
          <a:xfrm>
            <a:off x="4772303" y="2490450"/>
            <a:ext cx="3425900" cy="1924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IS INCOME USED?</a:t>
            </a:r>
            <a:endParaRPr/>
          </a:p>
        </p:txBody>
      </p:sp>
      <p:sp>
        <p:nvSpPr>
          <p:cNvPr id="85" name="Google Shape;85;p18"/>
          <p:cNvSpPr txBox="1"/>
          <p:nvPr>
            <p:ph idx="1" type="body"/>
          </p:nvPr>
        </p:nvSpPr>
        <p:spPr>
          <a:xfrm>
            <a:off x="311700" y="13279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Once you have income, you need to decide how to use it wisely.</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Spending:</a:t>
            </a:r>
            <a:r>
              <a:rPr lang="en" sz="1500">
                <a:solidFill>
                  <a:schemeClr val="dk1"/>
                </a:solidFill>
              </a:rPr>
              <a:t> Buying things you need (like food, rent, or clothes).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Saving:</a:t>
            </a:r>
            <a:r>
              <a:rPr lang="en" sz="1500">
                <a:solidFill>
                  <a:schemeClr val="dk1"/>
                </a:solidFill>
              </a:rPr>
              <a:t> Putting money aside for future needs or emergencies.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Investing:</a:t>
            </a:r>
            <a:r>
              <a:rPr lang="en" sz="1500">
                <a:solidFill>
                  <a:schemeClr val="dk1"/>
                </a:solidFill>
              </a:rPr>
              <a:t> Using money to make more money (like buying stocks or starting a business).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Giving:</a:t>
            </a:r>
            <a:r>
              <a:rPr lang="en" sz="1500">
                <a:solidFill>
                  <a:schemeClr val="dk1"/>
                </a:solidFill>
              </a:rPr>
              <a:t> Donating to charity or helping others.</a:t>
            </a:r>
            <a:br>
              <a:rPr lang="en" sz="1500">
                <a:solidFill>
                  <a:schemeClr val="dk1"/>
                </a:solidFill>
              </a:rPr>
            </a:br>
            <a:endParaRPr sz="1500"/>
          </a:p>
        </p:txBody>
      </p:sp>
      <p:pic>
        <p:nvPicPr>
          <p:cNvPr id="86" name="Google Shape;86;p18" title="images (20).png"/>
          <p:cNvPicPr preferRelativeResize="0"/>
          <p:nvPr/>
        </p:nvPicPr>
        <p:blipFill rotWithShape="1">
          <a:blip r:embed="rId3">
            <a:alphaModFix/>
          </a:blip>
          <a:srcRect b="7550" l="0" r="0" t="-7549"/>
          <a:stretch/>
        </p:blipFill>
        <p:spPr>
          <a:xfrm>
            <a:off x="7101725" y="830800"/>
            <a:ext cx="1432025" cy="188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Why Is Income Important?</a:t>
            </a:r>
            <a:endParaRPr b="1" sz="2500"/>
          </a:p>
          <a:p>
            <a:pPr indent="0" lvl="0" marL="0" rtl="0" algn="l">
              <a:spcBef>
                <a:spcPts val="400"/>
              </a:spcBef>
              <a:spcAft>
                <a:spcPts val="0"/>
              </a:spcAft>
              <a:buNone/>
            </a:pPr>
            <a:r>
              <a:t/>
            </a:r>
            <a:endParaRPr sz="2500"/>
          </a:p>
        </p:txBody>
      </p:sp>
      <p:sp>
        <p:nvSpPr>
          <p:cNvPr id="92" name="Google Shape;92;p19"/>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Covers Basic Needs:</a:t>
            </a:r>
            <a:endParaRPr b="1" sz="1500">
              <a:solidFill>
                <a:schemeClr val="dk1"/>
              </a:solidFill>
            </a:endParaRPr>
          </a:p>
          <a:p>
            <a:pPr indent="0" lvl="0" marL="0" rtl="0" algn="l">
              <a:spcBef>
                <a:spcPts val="1200"/>
              </a:spcBef>
              <a:spcAft>
                <a:spcPts val="0"/>
              </a:spcAft>
              <a:buNone/>
            </a:pPr>
            <a:br>
              <a:rPr b="1" lang="en" sz="1500">
                <a:solidFill>
                  <a:schemeClr val="dk1"/>
                </a:solidFill>
              </a:rPr>
            </a:br>
            <a:r>
              <a:rPr lang="en" sz="1500">
                <a:solidFill>
                  <a:schemeClr val="dk1"/>
                </a:solidFill>
              </a:rPr>
              <a:t> You need income to pay for food, housing, transportation, and other essentials.</a:t>
            </a:r>
            <a:br>
              <a:rPr lang="en" sz="1500">
                <a:solidFill>
                  <a:schemeClr val="dk1"/>
                </a:solidFill>
              </a:rPr>
            </a:br>
            <a:endParaRPr sz="1500">
              <a:solidFill>
                <a:schemeClr val="dk1"/>
              </a:solidFill>
            </a:endParaRPr>
          </a:p>
          <a:p>
            <a:pPr indent="0" lvl="0" marL="0" rtl="0" algn="l">
              <a:spcBef>
                <a:spcPts val="1200"/>
              </a:spcBef>
              <a:spcAft>
                <a:spcPts val="0"/>
              </a:spcAft>
              <a:buNone/>
            </a:pPr>
            <a:r>
              <a:rPr b="1" lang="en" sz="1500">
                <a:solidFill>
                  <a:schemeClr val="dk1"/>
                </a:solidFill>
              </a:rPr>
              <a:t>Helps You Save for the Future:</a:t>
            </a:r>
            <a:endParaRPr b="1" sz="1500">
              <a:solidFill>
                <a:schemeClr val="dk1"/>
              </a:solidFill>
            </a:endParaRPr>
          </a:p>
          <a:p>
            <a:pPr indent="0" lvl="0" marL="0" rtl="0" algn="l">
              <a:spcBef>
                <a:spcPts val="1200"/>
              </a:spcBef>
              <a:spcAft>
                <a:spcPts val="1200"/>
              </a:spcAft>
              <a:buNone/>
            </a:pPr>
            <a:br>
              <a:rPr b="1" lang="en" sz="1500">
                <a:solidFill>
                  <a:schemeClr val="dk1"/>
                </a:solidFill>
              </a:rPr>
            </a:br>
            <a:r>
              <a:rPr lang="en" sz="1500">
                <a:solidFill>
                  <a:schemeClr val="dk1"/>
                </a:solidFill>
              </a:rPr>
              <a:t> Income lets you build an emergency fund, save for college, or buy a car.</a:t>
            </a:r>
            <a:br>
              <a:rPr lang="en" sz="1500">
                <a:solidFill>
                  <a:schemeClr val="dk1"/>
                </a:solidFill>
              </a:rPr>
            </a:br>
            <a:endParaRPr sz="1500"/>
          </a:p>
        </p:txBody>
      </p:sp>
      <p:pic>
        <p:nvPicPr>
          <p:cNvPr id="93" name="Google Shape;93;p19" title="images (59).jpg"/>
          <p:cNvPicPr preferRelativeResize="0"/>
          <p:nvPr/>
        </p:nvPicPr>
        <p:blipFill>
          <a:blip r:embed="rId3">
            <a:alphaModFix/>
          </a:blip>
          <a:stretch>
            <a:fillRect/>
          </a:stretch>
        </p:blipFill>
        <p:spPr>
          <a:xfrm>
            <a:off x="2861500" y="3629013"/>
            <a:ext cx="3028950" cy="1514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idx="1" type="body"/>
          </p:nvPr>
        </p:nvSpPr>
        <p:spPr>
          <a:xfrm>
            <a:off x="311700" y="380225"/>
            <a:ext cx="8520600" cy="3416400"/>
          </a:xfrm>
          <a:prstGeom prst="rect">
            <a:avLst/>
          </a:prstGeom>
        </p:spPr>
        <p:txBody>
          <a:bodyPr anchorCtr="0" anchor="t" bIns="91425" lIns="91425" spcFirstLastPara="1" rIns="91425" wrap="square" tIns="91425">
            <a:normAutofit lnSpcReduction="20000"/>
          </a:bodyPr>
          <a:lstStyle/>
          <a:p>
            <a:pPr indent="0" lvl="0" marL="457200" rtl="0" algn="l">
              <a:spcBef>
                <a:spcPts val="1200"/>
              </a:spcBef>
              <a:spcAft>
                <a:spcPts val="0"/>
              </a:spcAft>
              <a:buNone/>
            </a:pPr>
            <a:r>
              <a:rPr b="1" lang="en" sz="1500">
                <a:solidFill>
                  <a:schemeClr val="dk1"/>
                </a:solidFill>
              </a:rPr>
              <a:t>Allows You to Invest:</a:t>
            </a:r>
            <a:endParaRPr b="1" sz="1500">
              <a:solidFill>
                <a:schemeClr val="dk1"/>
              </a:solidFill>
            </a:endParaRPr>
          </a:p>
          <a:p>
            <a:pPr indent="0" lvl="0" marL="457200" rtl="0" algn="l">
              <a:spcBef>
                <a:spcPts val="1200"/>
              </a:spcBef>
              <a:spcAft>
                <a:spcPts val="0"/>
              </a:spcAft>
              <a:buNone/>
            </a:pPr>
            <a:br>
              <a:rPr b="1" lang="en" sz="1500">
                <a:solidFill>
                  <a:schemeClr val="dk1"/>
                </a:solidFill>
              </a:rPr>
            </a:br>
            <a:r>
              <a:rPr lang="en" sz="1500">
                <a:solidFill>
                  <a:schemeClr val="dk1"/>
                </a:solidFill>
              </a:rPr>
              <a:t> With income, you can invest in things that grow your money over time, like stocks, real estate, or businesses.</a:t>
            </a:r>
            <a:br>
              <a:rPr lang="en" sz="1500">
                <a:solidFill>
                  <a:schemeClr val="dk1"/>
                </a:solidFill>
              </a:rPr>
            </a:br>
            <a:endParaRPr sz="1500">
              <a:solidFill>
                <a:schemeClr val="dk1"/>
              </a:solidFill>
            </a:endParaRPr>
          </a:p>
          <a:p>
            <a:pPr indent="0" lvl="0" marL="457200" rtl="0" algn="l">
              <a:spcBef>
                <a:spcPts val="1200"/>
              </a:spcBef>
              <a:spcAft>
                <a:spcPts val="0"/>
              </a:spcAft>
              <a:buNone/>
            </a:pPr>
            <a:r>
              <a:rPr b="1" lang="en" sz="1500">
                <a:solidFill>
                  <a:schemeClr val="dk1"/>
                </a:solidFill>
              </a:rPr>
              <a:t>Gives You Financial Freedom:</a:t>
            </a:r>
            <a:endParaRPr b="1" sz="1500">
              <a:solidFill>
                <a:schemeClr val="dk1"/>
              </a:solidFill>
            </a:endParaRPr>
          </a:p>
          <a:p>
            <a:pPr indent="0" lvl="0" marL="457200" rtl="0" algn="l">
              <a:spcBef>
                <a:spcPts val="1200"/>
              </a:spcBef>
              <a:spcAft>
                <a:spcPts val="0"/>
              </a:spcAft>
              <a:buNone/>
            </a:pPr>
            <a:br>
              <a:rPr b="1" lang="en" sz="1500">
                <a:solidFill>
                  <a:schemeClr val="dk1"/>
                </a:solidFill>
              </a:rPr>
            </a:br>
            <a:r>
              <a:rPr lang="en" sz="1500">
                <a:solidFill>
                  <a:schemeClr val="dk1"/>
                </a:solidFill>
              </a:rPr>
              <a:t> The more income you have, the more choices you have in life. You can travel, start a business, or even retire early.</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pic>
        <p:nvPicPr>
          <p:cNvPr id="99" name="Google Shape;99;p20" title="images (60).jpg"/>
          <p:cNvPicPr preferRelativeResize="0"/>
          <p:nvPr/>
        </p:nvPicPr>
        <p:blipFill>
          <a:blip r:embed="rId3">
            <a:alphaModFix/>
          </a:blip>
          <a:stretch>
            <a:fillRect/>
          </a:stretch>
        </p:blipFill>
        <p:spPr>
          <a:xfrm>
            <a:off x="3518538" y="3011025"/>
            <a:ext cx="2200275" cy="2076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Key Terms to Know About Income:</a:t>
            </a:r>
            <a:endParaRPr b="1" sz="2500"/>
          </a:p>
          <a:p>
            <a:pPr indent="0" lvl="0" marL="0" rtl="0" algn="l">
              <a:spcBef>
                <a:spcPts val="400"/>
              </a:spcBef>
              <a:spcAft>
                <a:spcPts val="0"/>
              </a:spcAft>
              <a:buNone/>
            </a:pPr>
            <a:r>
              <a:t/>
            </a:r>
            <a:endParaRPr/>
          </a:p>
        </p:txBody>
      </p:sp>
      <p:sp>
        <p:nvSpPr>
          <p:cNvPr id="105" name="Google Shape;105;p21"/>
          <p:cNvSpPr txBox="1"/>
          <p:nvPr>
            <p:ph idx="1" type="body"/>
          </p:nvPr>
        </p:nvSpPr>
        <p:spPr>
          <a:xfrm>
            <a:off x="311700" y="126210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Gross Income:</a:t>
            </a:r>
            <a:r>
              <a:rPr lang="en" sz="1500">
                <a:solidFill>
                  <a:schemeClr val="dk1"/>
                </a:solidFill>
              </a:rPr>
              <a:t> The total amount you earn before taxes and deductions.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Net Income:</a:t>
            </a:r>
            <a:r>
              <a:rPr lang="en" sz="1500">
                <a:solidFill>
                  <a:schemeClr val="dk1"/>
                </a:solidFill>
              </a:rPr>
              <a:t> The amount you take home after taxes and deductions.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Passive Income:</a:t>
            </a:r>
            <a:r>
              <a:rPr lang="en" sz="1500">
                <a:solidFill>
                  <a:schemeClr val="dk1"/>
                </a:solidFill>
              </a:rPr>
              <a:t> Money earned without active work.</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Active Income:</a:t>
            </a:r>
            <a:r>
              <a:rPr lang="en" sz="1500">
                <a:solidFill>
                  <a:schemeClr val="dk1"/>
                </a:solidFill>
              </a:rPr>
              <a:t> Money earned through direct effort (like a job).</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
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4061464b6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4061464b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4061464b6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4061464b6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4061464b6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4061464b6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4061464b6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4061464b6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4061464b6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4061464b6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4061464b6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4061464b6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4061464b6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4061464b6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061464b63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4061464b6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061464b63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4061464b63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061464b63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4061464b63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4061464b63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4061464b63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3262"/>
            <a:ext cx="9144000" cy="4572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11700" y="724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Digital payments</a:t>
            </a:r>
            <a:r>
              <a:rPr lang="en">
                <a:solidFill>
                  <a:schemeClr val="dk1"/>
                </a:solidFill>
              </a:rPr>
              <a:t> are transactions made without using physical cash. Instead, money is transferred electronically using </a:t>
            </a:r>
            <a:r>
              <a:rPr b="1" lang="en">
                <a:solidFill>
                  <a:schemeClr val="dk1"/>
                </a:solidFill>
              </a:rPr>
              <a:t>computers, smartphones, or other devices</a:t>
            </a:r>
            <a:r>
              <a:rPr lang="en">
                <a:solidFill>
                  <a:schemeClr val="dk1"/>
                </a:solidFill>
              </a:rPr>
              <a:t>. This includes payments for goods, services, or even transferring money between people.</a:t>
            </a:r>
            <a:endParaRPr/>
          </a:p>
        </p:txBody>
      </p:sp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6600" y="2330525"/>
            <a:ext cx="3730800" cy="248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DIGITAL PAYMENTS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Online Bank Transfers</a:t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NEFT (National Electronic Funds Transfer):</a:t>
            </a:r>
            <a:r>
              <a:rPr lang="en" sz="1500">
                <a:solidFill>
                  <a:schemeClr val="dk1"/>
                </a:solidFill>
              </a:rPr>
              <a:t> Transfers money from one bank to another.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RTGS (Real-Time Gross Settlement):</a:t>
            </a:r>
            <a:r>
              <a:rPr lang="en" sz="1500">
                <a:solidFill>
                  <a:schemeClr val="dk1"/>
                </a:solidFill>
              </a:rPr>
              <a:t> For large-value transactions in real-time.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IMPS (Immediate Payment Service):</a:t>
            </a:r>
            <a:r>
              <a:rPr lang="en" sz="1500">
                <a:solidFill>
                  <a:schemeClr val="dk1"/>
                </a:solidFill>
              </a:rPr>
              <a:t> 24/7 instant bank-to-bank transfer.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0128" y="3202525"/>
            <a:ext cx="3726193" cy="194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55575" y="5604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Mobile Wallets (e-Wallets)</a:t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Apps that store money digitally.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Examples: </a:t>
            </a:r>
            <a:r>
              <a:rPr b="1" lang="en" sz="1500">
                <a:solidFill>
                  <a:schemeClr val="dk1"/>
                </a:solidFill>
              </a:rPr>
              <a:t>Paytm, PhonePe, Google Pay, MobiKwik.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You can link your wallet to a bank account and pay at shops or online.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73" name="Google Shape;73;p16" title="download - 2025-04-07T130100.47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7150" y="3295950"/>
            <a:ext cx="6569550" cy="103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5604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Unified Payments Interface (UPI)</a:t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 </a:t>
            </a:r>
            <a:r>
              <a:rPr b="1" lang="en" sz="1500">
                <a:solidFill>
                  <a:schemeClr val="dk1"/>
                </a:solidFill>
              </a:rPr>
              <a:t>real-time payment system</a:t>
            </a:r>
            <a:r>
              <a:rPr lang="en" sz="1500">
                <a:solidFill>
                  <a:schemeClr val="dk1"/>
                </a:solidFill>
              </a:rPr>
              <a:t> that connects multiple bank accounts to a single mobile app.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You can send/receive money, pay bills, recharge phones, etc.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Example:</a:t>
            </a:r>
            <a:r>
              <a:rPr lang="en" sz="1500">
                <a:solidFill>
                  <a:schemeClr val="dk1"/>
                </a:solidFill>
              </a:rPr>
              <a:t> Using Google Pay to send ₹500 to a friend instantly.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79" name="Google Shape;79;p17" title="download (86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8263" y="2775325"/>
            <a:ext cx="2162175" cy="211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77500" y="516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Credit/Debit Cards (POS &amp; Online)</a:t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Debit Cards:</a:t>
            </a:r>
            <a:r>
              <a:rPr lang="en" sz="1500">
                <a:solidFill>
                  <a:schemeClr val="dk1"/>
                </a:solidFill>
              </a:rPr>
              <a:t> Linked to your bank account.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Credit Cards:</a:t>
            </a:r>
            <a:r>
              <a:rPr lang="en" sz="1500">
                <a:solidFill>
                  <a:schemeClr val="dk1"/>
                </a:solidFill>
              </a:rPr>
              <a:t> Let you borrow money up to a limit.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Used for </a:t>
            </a:r>
            <a:r>
              <a:rPr b="1" lang="en" sz="1500">
                <a:solidFill>
                  <a:schemeClr val="dk1"/>
                </a:solidFill>
              </a:rPr>
              <a:t>online shopping, bill payments, and in-store purchases</a:t>
            </a:r>
            <a:r>
              <a:rPr lang="en" sz="1500">
                <a:solidFill>
                  <a:schemeClr val="dk1"/>
                </a:solidFill>
              </a:rPr>
              <a:t> (via POS machines).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85" name="Google Shape;85;p18" title="images (63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4663" y="2706238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516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Mobile Banking Apps</a:t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Banks have their own apps for managing accounts, making payments, and transferring money.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Example: </a:t>
            </a:r>
            <a:r>
              <a:rPr b="1" lang="en" sz="1500">
                <a:solidFill>
                  <a:schemeClr val="dk1"/>
                </a:solidFill>
              </a:rPr>
              <a:t>SBI YONO, HDFC Mobile Banking.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91" name="Google Shape;91;p19" title="imag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1125" y="2455950"/>
            <a:ext cx="4572000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11700" y="67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USSD-Based Payments (for Feature Phones)</a:t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For people without smartphones.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 *</a:t>
            </a:r>
            <a:r>
              <a:rPr b="1" lang="en" sz="1500">
                <a:solidFill>
                  <a:schemeClr val="dk1"/>
                </a:solidFill>
              </a:rPr>
              <a:t>99#</a:t>
            </a:r>
            <a:r>
              <a:rPr lang="en" sz="1500">
                <a:solidFill>
                  <a:schemeClr val="dk1"/>
                </a:solidFill>
              </a:rPr>
              <a:t> to access banking services (e.g., transferring money via </a:t>
            </a:r>
            <a:r>
              <a:rPr b="1" lang="en" sz="1500">
                <a:solidFill>
                  <a:schemeClr val="dk1"/>
                </a:solidFill>
              </a:rPr>
              <a:t>BHIM UPI</a:t>
            </a:r>
            <a:r>
              <a:rPr lang="en" sz="1500">
                <a:solidFill>
                  <a:schemeClr val="dk1"/>
                </a:solidFill>
              </a:rPr>
              <a:t>).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97" name="Google Shape;97;p20" title="download (87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1799" y="2654325"/>
            <a:ext cx="5708750" cy="191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11700" y="724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Digital Gold &amp; Cryptocurrencies</a:t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Platforms allow people to buy gold digitally or even invest in cryptocurrencies like Bitcoin (though not legal tender in India).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03" name="Google Shape;103;p21" title="download - 2025-04-07T130655.02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4379" y="2477254"/>
            <a:ext cx="3583850" cy="232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IT WORK?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Initiation: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You open an app (like Google Pay) and enter the payment details.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Authorization: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The app verifies your account using an </a:t>
            </a:r>
            <a:r>
              <a:rPr b="1" lang="en" sz="1500">
                <a:solidFill>
                  <a:schemeClr val="dk1"/>
                </a:solidFill>
              </a:rPr>
              <a:t>OTP (One-Time Password)</a:t>
            </a:r>
            <a:r>
              <a:rPr lang="en" sz="1500">
                <a:solidFill>
                  <a:schemeClr val="dk1"/>
                </a:solidFill>
              </a:rPr>
              <a:t> or PIN.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311700" y="581100"/>
            <a:ext cx="8520600" cy="39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Processing: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The payment request goes through banks or payment gateways.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Settlement: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The money is transferred instantly or within a few hours, depending on the method.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Confirmation: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You receive a notification confirming the transaction.</a:t>
            </a:r>
            <a:br>
              <a:rPr lang="en" sz="1500">
                <a:solidFill>
                  <a:schemeClr val="dk1"/>
                </a:solidFill>
              </a:rPr>
            </a:b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</a:t>
            </a:r>
            <a:endParaRPr/>
          </a:p>
        </p:txBody>
      </p:sp>
      <p:sp>
        <p:nvSpPr>
          <p:cNvPr id="120" name="Google Shape;12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Convenience:</a:t>
            </a:r>
            <a:r>
              <a:rPr lang="en" sz="1500">
                <a:solidFill>
                  <a:schemeClr val="dk1"/>
                </a:solidFill>
              </a:rPr>
              <a:t> Pay anytime, anywhere without carrying cash.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Speed:</a:t>
            </a:r>
            <a:r>
              <a:rPr lang="en" sz="1500">
                <a:solidFill>
                  <a:schemeClr val="dk1"/>
                </a:solidFill>
              </a:rPr>
              <a:t> Instant transactions, especially with UPI.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Security:</a:t>
            </a:r>
            <a:r>
              <a:rPr lang="en" sz="1500">
                <a:solidFill>
                  <a:schemeClr val="dk1"/>
                </a:solidFill>
              </a:rPr>
              <a:t> Strong encryption and OTPs reduce fraud.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Tracking:</a:t>
            </a:r>
            <a:r>
              <a:rPr lang="en" sz="1500">
                <a:solidFill>
                  <a:schemeClr val="dk1"/>
                </a:solidFill>
              </a:rPr>
              <a:t> Easy to track expenses and transactions.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Financial Inclusion:</a:t>
            </a:r>
            <a:r>
              <a:rPr lang="en" sz="1500">
                <a:solidFill>
                  <a:schemeClr val="dk1"/>
                </a:solidFill>
              </a:rPr>
              <a:t> Reaches people in remote areas through mobile apps.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
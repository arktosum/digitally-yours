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4029918cf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4029918cf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4029918cf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4029918cf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4029918cf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4029918cf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4029918cfb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4029918cf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4029918cfb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4029918cf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4029918cfb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4029918cf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4029918cfb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4029918cfb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4029918cfb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4029918cfb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4029918cfb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4029918cfb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4029918cfb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4029918cfb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402b497e3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402b497e3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402b497e3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402b497e3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402b497e3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402b497e3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402b497e3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402b497e3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402b497e3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402b497e3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891000" y="0"/>
            <a:ext cx="7300124"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idx="1" type="body"/>
          </p:nvPr>
        </p:nvSpPr>
        <p:spPr>
          <a:xfrm>
            <a:off x="311700" y="567875"/>
            <a:ext cx="85206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lang="en">
                <a:solidFill>
                  <a:schemeClr val="dk1"/>
                </a:solidFill>
              </a:rPr>
              <a:t>Financial literacy means having the knowledge and skills to manage your money wisely. It’s about understanding how money works- how to earn it, save it, invest it, and make smart decisions so you can reach your financial goals.</a:t>
            </a:r>
            <a:endParaRPr>
              <a:solidFill>
                <a:schemeClr val="dk1"/>
              </a:solidFill>
            </a:endParaRPr>
          </a:p>
          <a:p>
            <a:pPr indent="0" lvl="0" marL="0" rtl="0" algn="l">
              <a:spcBef>
                <a:spcPts val="400"/>
              </a:spcBef>
              <a:spcAft>
                <a:spcPts val="1200"/>
              </a:spcAft>
              <a:buNone/>
            </a:pPr>
            <a:r>
              <a:t/>
            </a:r>
            <a:endParaRPr/>
          </a:p>
        </p:txBody>
      </p:sp>
      <p:pic>
        <p:nvPicPr>
          <p:cNvPr id="60" name="Google Shape;60;p14"/>
          <p:cNvPicPr preferRelativeResize="0"/>
          <p:nvPr/>
        </p:nvPicPr>
        <p:blipFill>
          <a:blip r:embed="rId3">
            <a:alphaModFix/>
          </a:blip>
          <a:stretch>
            <a:fillRect/>
          </a:stretch>
        </p:blipFill>
        <p:spPr>
          <a:xfrm>
            <a:off x="2484501" y="2028375"/>
            <a:ext cx="3914700" cy="25076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IS IT IMPORTANT?</a:t>
            </a:r>
            <a:endParaRPr/>
          </a:p>
        </p:txBody>
      </p:sp>
      <p:sp>
        <p:nvSpPr>
          <p:cNvPr id="66" name="Google Shape;66;p15"/>
          <p:cNvSpPr txBox="1"/>
          <p:nvPr>
            <p:ph idx="1" type="body"/>
          </p:nvPr>
        </p:nvSpPr>
        <p:spPr>
          <a:xfrm>
            <a:off x="311700" y="1305975"/>
            <a:ext cx="8520600" cy="3416400"/>
          </a:xfrm>
          <a:prstGeom prst="rect">
            <a:avLst/>
          </a:prstGeom>
        </p:spPr>
        <p:txBody>
          <a:bodyPr anchorCtr="0" anchor="t" bIns="91425" lIns="91425" spcFirstLastPara="1" rIns="91425" wrap="square" tIns="91425">
            <a:normAutofit/>
          </a:bodyPr>
          <a:lstStyle/>
          <a:p>
            <a:pPr indent="0" lvl="0" marL="457200" rtl="0" algn="l">
              <a:spcBef>
                <a:spcPts val="1200"/>
              </a:spcBef>
              <a:spcAft>
                <a:spcPts val="0"/>
              </a:spcAft>
              <a:buNone/>
            </a:pPr>
            <a:r>
              <a:rPr b="1" lang="en" sz="2000">
                <a:solidFill>
                  <a:schemeClr val="dk1"/>
                </a:solidFill>
              </a:rPr>
              <a:t>Helps You Make Smart Money Choices</a:t>
            </a:r>
            <a:endParaRPr b="1" sz="2000">
              <a:solidFill>
                <a:schemeClr val="dk1"/>
              </a:solidFill>
            </a:endParaRPr>
          </a:p>
          <a:p>
            <a:pPr indent="0" lvl="0" marL="0" rtl="0" algn="l">
              <a:spcBef>
                <a:spcPts val="1200"/>
              </a:spcBef>
              <a:spcAft>
                <a:spcPts val="1200"/>
              </a:spcAft>
              <a:buNone/>
            </a:pPr>
            <a:r>
              <a:rPr lang="en">
                <a:solidFill>
                  <a:schemeClr val="dk1"/>
                </a:solidFill>
              </a:rPr>
              <a:t> Being financially literate means you can make informed decisions about how to manage your money. Without this knowledge, people might end up spending more than they earn, getting into debt, or missing out on opportunities to save and invest.</a:t>
            </a:r>
            <a:br>
              <a:rPr lang="en">
                <a:solidFill>
                  <a:schemeClr val="dk1"/>
                </a:solidFill>
              </a:rPr>
            </a:br>
            <a:br>
              <a:rPr lang="en">
                <a:solidFill>
                  <a:schemeClr val="dk1"/>
                </a:solidFill>
              </a:rPr>
            </a:br>
            <a:endParaRPr/>
          </a:p>
        </p:txBody>
      </p:sp>
      <p:pic>
        <p:nvPicPr>
          <p:cNvPr id="67" name="Google Shape;67;p15"/>
          <p:cNvPicPr preferRelativeResize="0"/>
          <p:nvPr/>
        </p:nvPicPr>
        <p:blipFill>
          <a:blip r:embed="rId3">
            <a:alphaModFix/>
          </a:blip>
          <a:stretch>
            <a:fillRect/>
          </a:stretch>
        </p:blipFill>
        <p:spPr>
          <a:xfrm>
            <a:off x="2978827" y="3086552"/>
            <a:ext cx="2938893" cy="1955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idx="1" type="body"/>
          </p:nvPr>
        </p:nvSpPr>
        <p:spPr>
          <a:xfrm>
            <a:off x="311700" y="555100"/>
            <a:ext cx="8520600" cy="3416400"/>
          </a:xfrm>
          <a:prstGeom prst="rect">
            <a:avLst/>
          </a:prstGeom>
        </p:spPr>
        <p:txBody>
          <a:bodyPr anchorCtr="0" anchor="t" bIns="91425" lIns="91425" spcFirstLastPara="1" rIns="91425" wrap="square" tIns="91425">
            <a:normAutofit/>
          </a:bodyPr>
          <a:lstStyle/>
          <a:p>
            <a:pPr indent="0" lvl="0" marL="457200" rtl="0" algn="l">
              <a:spcBef>
                <a:spcPts val="1200"/>
              </a:spcBef>
              <a:spcAft>
                <a:spcPts val="0"/>
              </a:spcAft>
              <a:buNone/>
            </a:pPr>
            <a:r>
              <a:rPr b="1" lang="en" sz="2100">
                <a:solidFill>
                  <a:schemeClr val="dk1"/>
                </a:solidFill>
              </a:rPr>
              <a:t>Prepares You for Financial Independence</a:t>
            </a:r>
            <a:endParaRPr b="1">
              <a:solidFill>
                <a:schemeClr val="dk1"/>
              </a:solidFill>
            </a:endParaRPr>
          </a:p>
          <a:p>
            <a:pPr indent="0" lvl="0" marL="457200" rtl="0" algn="l">
              <a:spcBef>
                <a:spcPts val="1200"/>
              </a:spcBef>
              <a:spcAft>
                <a:spcPts val="1200"/>
              </a:spcAft>
              <a:buNone/>
            </a:pPr>
            <a:r>
              <a:rPr lang="en">
                <a:solidFill>
                  <a:schemeClr val="dk1"/>
                </a:solidFill>
              </a:rPr>
              <a:t> As you grow older, you'll need to handle your own finances. Learning about financial literacy at 18 gives you the skills to manage bills, rent, savings, and investments without depending on anyone else.</a:t>
            </a:r>
            <a:br>
              <a:rPr lang="en">
                <a:solidFill>
                  <a:schemeClr val="dk1"/>
                </a:solidFill>
              </a:rPr>
            </a:br>
            <a:endParaRPr/>
          </a:p>
        </p:txBody>
      </p:sp>
      <p:pic>
        <p:nvPicPr>
          <p:cNvPr id="73" name="Google Shape;73;p16"/>
          <p:cNvPicPr preferRelativeResize="0"/>
          <p:nvPr/>
        </p:nvPicPr>
        <p:blipFill>
          <a:blip r:embed="rId3">
            <a:alphaModFix/>
          </a:blip>
          <a:stretch>
            <a:fillRect/>
          </a:stretch>
        </p:blipFill>
        <p:spPr>
          <a:xfrm>
            <a:off x="2872200" y="2571750"/>
            <a:ext cx="3588425" cy="24097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idx="1" type="body"/>
          </p:nvPr>
        </p:nvSpPr>
        <p:spPr>
          <a:xfrm>
            <a:off x="311700" y="301700"/>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rPr b="1" lang="en">
                <a:solidFill>
                  <a:schemeClr val="dk1"/>
                </a:solidFill>
              </a:rPr>
              <a:t>Reduces Financial Stress</a:t>
            </a:r>
            <a:endParaRPr b="1">
              <a:solidFill>
                <a:schemeClr val="dk1"/>
              </a:solidFill>
            </a:endParaRPr>
          </a:p>
          <a:p>
            <a:pPr indent="0" lvl="0" marL="0" rtl="0" algn="l">
              <a:spcBef>
                <a:spcPts val="1200"/>
              </a:spcBef>
              <a:spcAft>
                <a:spcPts val="1200"/>
              </a:spcAft>
              <a:buNone/>
            </a:pPr>
            <a:br>
              <a:rPr b="1" lang="en">
                <a:solidFill>
                  <a:schemeClr val="dk1"/>
                </a:solidFill>
              </a:rPr>
            </a:br>
            <a:r>
              <a:rPr lang="en">
                <a:solidFill>
                  <a:schemeClr val="dk1"/>
                </a:solidFill>
              </a:rPr>
              <a:t> Knowing how to handle money reduces the anxiety that comes with bills, debt, and financial decisions. When you understand the basics of managing your finances, you feel more in control and confident about your financial situation.</a:t>
            </a:r>
            <a:br>
              <a:rPr lang="en">
                <a:solidFill>
                  <a:schemeClr val="dk1"/>
                </a:solidFill>
              </a:rPr>
            </a:br>
            <a:endParaRPr/>
          </a:p>
        </p:txBody>
      </p:sp>
      <p:pic>
        <p:nvPicPr>
          <p:cNvPr id="79" name="Google Shape;79;p17"/>
          <p:cNvPicPr preferRelativeResize="0"/>
          <p:nvPr/>
        </p:nvPicPr>
        <p:blipFill>
          <a:blip r:embed="rId3">
            <a:alphaModFix/>
          </a:blip>
          <a:stretch>
            <a:fillRect/>
          </a:stretch>
        </p:blipFill>
        <p:spPr>
          <a:xfrm>
            <a:off x="3538525" y="2840250"/>
            <a:ext cx="2066925" cy="2095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idx="1" type="body"/>
          </p:nvPr>
        </p:nvSpPr>
        <p:spPr>
          <a:xfrm>
            <a:off x="311700" y="608200"/>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a:solidFill>
                  <a:schemeClr val="dk1"/>
                </a:solidFill>
              </a:rPr>
              <a:t>Helps You Avoid Debt Traps</a:t>
            </a:r>
            <a:endParaRPr b="1">
              <a:solidFill>
                <a:schemeClr val="dk1"/>
              </a:solidFill>
            </a:endParaRPr>
          </a:p>
          <a:p>
            <a:pPr indent="0" lvl="0" marL="0" rtl="0" algn="l">
              <a:spcBef>
                <a:spcPts val="1200"/>
              </a:spcBef>
              <a:spcAft>
                <a:spcPts val="1200"/>
              </a:spcAft>
              <a:buNone/>
            </a:pPr>
            <a:br>
              <a:rPr b="1" lang="en">
                <a:solidFill>
                  <a:schemeClr val="dk1"/>
                </a:solidFill>
              </a:rPr>
            </a:br>
            <a:r>
              <a:rPr lang="en">
                <a:solidFill>
                  <a:schemeClr val="dk1"/>
                </a:solidFill>
              </a:rPr>
              <a:t> Without financial literacy, it's easy to get into debt by using credit cards or taking out loans irresponsibly. A solid understanding of how interest works and how to avoid overspending helps you stay out of debt.</a:t>
            </a:r>
            <a:br>
              <a:rPr lang="en">
                <a:solidFill>
                  <a:schemeClr val="dk1"/>
                </a:solidFill>
              </a:rPr>
            </a:br>
            <a:br>
              <a:rPr lang="en">
                <a:solidFill>
                  <a:schemeClr val="dk1"/>
                </a:solidFill>
              </a:rPr>
            </a:br>
            <a:endParaRPr/>
          </a:p>
        </p:txBody>
      </p:sp>
      <p:pic>
        <p:nvPicPr>
          <p:cNvPr id="85" name="Google Shape;85;p18"/>
          <p:cNvPicPr preferRelativeResize="0"/>
          <p:nvPr/>
        </p:nvPicPr>
        <p:blipFill>
          <a:blip r:embed="rId3">
            <a:alphaModFix/>
          </a:blip>
          <a:stretch>
            <a:fillRect/>
          </a:stretch>
        </p:blipFill>
        <p:spPr>
          <a:xfrm>
            <a:off x="2867452" y="2813977"/>
            <a:ext cx="3135500" cy="20865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idx="1" type="body"/>
          </p:nvPr>
        </p:nvSpPr>
        <p:spPr>
          <a:xfrm>
            <a:off x="261075" y="29052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t/>
            </a:r>
            <a:endParaRPr>
              <a:solidFill>
                <a:schemeClr val="dk1"/>
              </a:solidFill>
            </a:endParaRPr>
          </a:p>
          <a:p>
            <a:pPr indent="0" lvl="0" marL="457200" rtl="0" algn="l">
              <a:spcBef>
                <a:spcPts val="1200"/>
              </a:spcBef>
              <a:spcAft>
                <a:spcPts val="0"/>
              </a:spcAft>
              <a:buNone/>
            </a:pPr>
            <a:r>
              <a:rPr b="1" lang="en">
                <a:solidFill>
                  <a:schemeClr val="dk1"/>
                </a:solidFill>
              </a:rPr>
              <a:t>Allows You to Build Wealth Over Time</a:t>
            </a:r>
            <a:endParaRPr b="1">
              <a:solidFill>
                <a:schemeClr val="dk1"/>
              </a:solidFill>
            </a:endParaRPr>
          </a:p>
          <a:p>
            <a:pPr indent="0" lvl="0" marL="457200" rtl="0" algn="l">
              <a:spcBef>
                <a:spcPts val="1200"/>
              </a:spcBef>
              <a:spcAft>
                <a:spcPts val="1200"/>
              </a:spcAft>
              <a:buNone/>
            </a:pPr>
            <a:br>
              <a:rPr b="1" lang="en">
                <a:solidFill>
                  <a:schemeClr val="dk1"/>
                </a:solidFill>
              </a:rPr>
            </a:br>
            <a:r>
              <a:rPr lang="en">
                <a:solidFill>
                  <a:schemeClr val="dk1"/>
                </a:solidFill>
              </a:rPr>
              <a:t> Understanding the basics of investing can lead to long-term wealth creation. Small, smart decisions made early in life (like saving a portion of your income or investing in stocks) can pay off big later.</a:t>
            </a:r>
            <a:br>
              <a:rPr lang="en">
                <a:solidFill>
                  <a:schemeClr val="dk1"/>
                </a:solidFill>
              </a:rPr>
            </a:br>
            <a:endParaRPr/>
          </a:p>
        </p:txBody>
      </p:sp>
      <p:pic>
        <p:nvPicPr>
          <p:cNvPr id="91" name="Google Shape;91;p19"/>
          <p:cNvPicPr preferRelativeResize="0"/>
          <p:nvPr/>
        </p:nvPicPr>
        <p:blipFill>
          <a:blip r:embed="rId3">
            <a:alphaModFix/>
          </a:blip>
          <a:stretch>
            <a:fillRect/>
          </a:stretch>
        </p:blipFill>
        <p:spPr>
          <a:xfrm>
            <a:off x="5691650" y="2644326"/>
            <a:ext cx="2377675" cy="23776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idx="1" type="body"/>
          </p:nvPr>
        </p:nvSpPr>
        <p:spPr>
          <a:xfrm>
            <a:off x="311700" y="66262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a:solidFill>
                  <a:schemeClr val="dk1"/>
                </a:solidFill>
              </a:rPr>
              <a:t>Improves Your Future Opportunities</a:t>
            </a:r>
            <a:endParaRPr b="1">
              <a:solidFill>
                <a:schemeClr val="dk1"/>
              </a:solidFill>
            </a:endParaRPr>
          </a:p>
          <a:p>
            <a:pPr indent="0" lvl="0" marL="0" rtl="0" algn="l">
              <a:spcBef>
                <a:spcPts val="1200"/>
              </a:spcBef>
              <a:spcAft>
                <a:spcPts val="1200"/>
              </a:spcAft>
              <a:buNone/>
            </a:pPr>
            <a:br>
              <a:rPr b="1" lang="en">
                <a:solidFill>
                  <a:schemeClr val="dk1"/>
                </a:solidFill>
              </a:rPr>
            </a:br>
            <a:r>
              <a:rPr lang="en">
                <a:solidFill>
                  <a:schemeClr val="dk1"/>
                </a:solidFill>
              </a:rPr>
              <a:t> Financial literacy opens doors. Whether you want to buy a house, start a business, or travel, having a solid understanding of money helps you plan and achieve these goals.</a:t>
            </a:r>
            <a:br>
              <a:rPr lang="en">
                <a:solidFill>
                  <a:schemeClr val="dk1"/>
                </a:solidFill>
              </a:rPr>
            </a:br>
            <a:endParaRPr/>
          </a:p>
        </p:txBody>
      </p:sp>
      <p:pic>
        <p:nvPicPr>
          <p:cNvPr id="97" name="Google Shape;97;p20"/>
          <p:cNvPicPr preferRelativeResize="0"/>
          <p:nvPr/>
        </p:nvPicPr>
        <p:blipFill>
          <a:blip r:embed="rId3">
            <a:alphaModFix/>
          </a:blip>
          <a:stretch>
            <a:fillRect/>
          </a:stretch>
        </p:blipFill>
        <p:spPr>
          <a:xfrm>
            <a:off x="3076941" y="2485778"/>
            <a:ext cx="2990125" cy="23944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CORE CONCEPTS</a:t>
            </a:r>
            <a:endParaRPr/>
          </a:p>
        </p:txBody>
      </p:sp>
      <p:sp>
        <p:nvSpPr>
          <p:cNvPr id="103" name="Google Shape;103;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rPr b="1" lang="en">
                <a:solidFill>
                  <a:schemeClr val="dk1"/>
                </a:solidFill>
              </a:rPr>
              <a:t>Earning and Income</a:t>
            </a:r>
            <a:br>
              <a:rPr b="1" lang="en" sz="1500">
                <a:solidFill>
                  <a:schemeClr val="dk1"/>
                </a:solidFill>
              </a:rPr>
            </a:br>
            <a:r>
              <a:rPr lang="en" sz="1500">
                <a:solidFill>
                  <a:schemeClr val="dk1"/>
                </a:solidFill>
              </a:rPr>
              <a:t> Understanding how to make money is the first step. Whether it’s through a job, side hustle, or investments, knowing where your income comes from and how much you can earn is essential for managing your finances.</a:t>
            </a:r>
            <a:br>
              <a:rPr lang="en" sz="1500">
                <a:solidFill>
                  <a:schemeClr val="dk1"/>
                </a:solidFill>
              </a:rPr>
            </a:br>
            <a:br>
              <a:rPr lang="en" sz="1500">
                <a:solidFill>
                  <a:schemeClr val="dk1"/>
                </a:solidFill>
              </a:rPr>
            </a:br>
            <a:r>
              <a:rPr lang="en" sz="1500">
                <a:solidFill>
                  <a:schemeClr val="dk1"/>
                </a:solidFill>
              </a:rPr>
              <a:t> </a:t>
            </a:r>
            <a:r>
              <a:rPr b="1" lang="en" sz="1500">
                <a:solidFill>
                  <a:schemeClr val="dk1"/>
                </a:solidFill>
              </a:rPr>
              <a:t>Why it matters:</a:t>
            </a:r>
            <a:br>
              <a:rPr b="1" lang="en" sz="1500">
                <a:solidFill>
                  <a:schemeClr val="dk1"/>
                </a:solidFill>
              </a:rPr>
            </a:br>
            <a:r>
              <a:rPr lang="en" sz="1500">
                <a:solidFill>
                  <a:schemeClr val="dk1"/>
                </a:solidFill>
              </a:rPr>
              <a:t> The more you learn about different ways to earn money, the more options you'll have for financial success.</a:t>
            </a:r>
            <a:br>
              <a:rPr lang="en" sz="1500">
                <a:solidFill>
                  <a:schemeClr val="dk1"/>
                </a:solidFill>
              </a:rPr>
            </a:br>
            <a:endParaRPr sz="1500"/>
          </a:p>
        </p:txBody>
      </p:sp>
      <p:pic>
        <p:nvPicPr>
          <p:cNvPr id="104" name="Google Shape;104;p21"/>
          <p:cNvPicPr preferRelativeResize="0"/>
          <p:nvPr/>
        </p:nvPicPr>
        <p:blipFill>
          <a:blip r:embed="rId3">
            <a:alphaModFix/>
          </a:blip>
          <a:stretch>
            <a:fillRect/>
          </a:stretch>
        </p:blipFill>
        <p:spPr>
          <a:xfrm>
            <a:off x="3338500" y="3295650"/>
            <a:ext cx="2466975" cy="1847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idx="1" type="body"/>
          </p:nvPr>
        </p:nvSpPr>
        <p:spPr>
          <a:xfrm>
            <a:off x="311700" y="5537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rPr b="1" lang="en">
                <a:solidFill>
                  <a:schemeClr val="dk1"/>
                </a:solidFill>
              </a:rPr>
              <a:t>Budgeting and Money Management</a:t>
            </a:r>
            <a:br>
              <a:rPr b="1" lang="en">
                <a:solidFill>
                  <a:schemeClr val="dk1"/>
                </a:solidFill>
              </a:rPr>
            </a:br>
            <a:r>
              <a:rPr lang="en">
                <a:solidFill>
                  <a:schemeClr val="dk1"/>
                </a:solidFill>
              </a:rPr>
              <a:t> </a:t>
            </a:r>
            <a:r>
              <a:rPr lang="en" sz="1500">
                <a:solidFill>
                  <a:schemeClr val="dk1"/>
                </a:solidFill>
              </a:rPr>
              <a:t>Budgeting is the process of tracking your income and expenses, so you know exactly where your money is going. A budget helps you avoid overspending, plan for savings, and make sure you’re not living paycheck to paycheck.</a:t>
            </a:r>
            <a:br>
              <a:rPr lang="en" sz="1500">
                <a:solidFill>
                  <a:schemeClr val="dk1"/>
                </a:solidFill>
              </a:rPr>
            </a:br>
            <a:br>
              <a:rPr lang="en" sz="1500">
                <a:solidFill>
                  <a:schemeClr val="dk1"/>
                </a:solidFill>
              </a:rPr>
            </a:br>
            <a:r>
              <a:rPr lang="en" sz="1500">
                <a:solidFill>
                  <a:schemeClr val="dk1"/>
                </a:solidFill>
              </a:rPr>
              <a:t> </a:t>
            </a:r>
            <a:r>
              <a:rPr b="1" lang="en" sz="1500">
                <a:solidFill>
                  <a:schemeClr val="dk1"/>
                </a:solidFill>
              </a:rPr>
              <a:t>Why it matters:</a:t>
            </a:r>
            <a:br>
              <a:rPr b="1" lang="en" sz="1500">
                <a:solidFill>
                  <a:schemeClr val="dk1"/>
                </a:solidFill>
              </a:rPr>
            </a:br>
            <a:r>
              <a:rPr lang="en" sz="1500">
                <a:solidFill>
                  <a:schemeClr val="dk1"/>
                </a:solidFill>
              </a:rPr>
              <a:t> Without a budget, it’s easy to lose track of your spending and end up in debt. A budget lets you control your money instead of letting it control you.</a:t>
            </a:r>
            <a:br>
              <a:rPr lang="en" sz="1500">
                <a:solidFill>
                  <a:schemeClr val="dk1"/>
                </a:solidFill>
              </a:rPr>
            </a:br>
            <a:endParaRPr sz="1500"/>
          </a:p>
        </p:txBody>
      </p:sp>
      <p:pic>
        <p:nvPicPr>
          <p:cNvPr id="110" name="Google Shape;110;p22"/>
          <p:cNvPicPr preferRelativeResize="0"/>
          <p:nvPr/>
        </p:nvPicPr>
        <p:blipFill>
          <a:blip r:embed="rId3">
            <a:alphaModFix/>
          </a:blip>
          <a:stretch>
            <a:fillRect/>
          </a:stretch>
        </p:blipFill>
        <p:spPr>
          <a:xfrm>
            <a:off x="3251074" y="2962099"/>
            <a:ext cx="2783801" cy="1857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2500"/>
              <a:t> </a:t>
            </a:r>
            <a:r>
              <a:rPr b="1" lang="en" sz="2500"/>
              <a:t>Basic Budget Example</a:t>
            </a:r>
            <a:br>
              <a:rPr b="1" lang="en" sz="2500"/>
            </a:br>
            <a:endParaRPr b="1" sz="2500"/>
          </a:p>
          <a:p>
            <a:pPr indent="0" lvl="0" marL="0" rtl="0" algn="l">
              <a:spcBef>
                <a:spcPts val="1200"/>
              </a:spcBef>
              <a:spcAft>
                <a:spcPts val="0"/>
              </a:spcAft>
              <a:buNone/>
            </a:pPr>
            <a:r>
              <a:t/>
            </a:r>
            <a:endParaRPr sz="2500"/>
          </a:p>
        </p:txBody>
      </p:sp>
      <p:sp>
        <p:nvSpPr>
          <p:cNvPr id="116" name="Google Shape;116;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1" marL="914400" rtl="0" algn="l">
              <a:spcBef>
                <a:spcPts val="1200"/>
              </a:spcBef>
              <a:spcAft>
                <a:spcPts val="0"/>
              </a:spcAft>
              <a:buClr>
                <a:schemeClr val="dk1"/>
              </a:buClr>
              <a:buSzPts val="1100"/>
              <a:buChar char="○"/>
            </a:pPr>
            <a:r>
              <a:rPr b="1" lang="en" sz="1100">
                <a:solidFill>
                  <a:schemeClr val="dk1"/>
                </a:solidFill>
              </a:rPr>
              <a:t>Income:</a:t>
            </a:r>
            <a:r>
              <a:rPr lang="en" sz="1100">
                <a:solidFill>
                  <a:schemeClr val="dk1"/>
                </a:solidFill>
              </a:rPr>
              <a:t> Rs.10,000</a:t>
            </a:r>
            <a:br>
              <a:rPr lang="en" sz="1100">
                <a:solidFill>
                  <a:schemeClr val="dk1"/>
                </a:solidFill>
              </a:rPr>
            </a:br>
            <a:endParaRPr sz="1100">
              <a:solidFill>
                <a:schemeClr val="dk1"/>
              </a:solidFill>
            </a:endParaRPr>
          </a:p>
          <a:p>
            <a:pPr indent="-298450" lvl="1" marL="914400" rtl="0" algn="l">
              <a:spcBef>
                <a:spcPts val="0"/>
              </a:spcBef>
              <a:spcAft>
                <a:spcPts val="0"/>
              </a:spcAft>
              <a:buClr>
                <a:schemeClr val="dk1"/>
              </a:buClr>
              <a:buSzPts val="1100"/>
              <a:buChar char="○"/>
            </a:pPr>
            <a:r>
              <a:rPr b="1" lang="en" sz="1100">
                <a:solidFill>
                  <a:schemeClr val="dk1"/>
                </a:solidFill>
              </a:rPr>
              <a:t>Expenses:</a:t>
            </a:r>
            <a:br>
              <a:rPr b="1" lang="en" sz="1100">
                <a:solidFill>
                  <a:schemeClr val="dk1"/>
                </a:solidFill>
              </a:rPr>
            </a:br>
            <a:endParaRPr b="1" sz="1100">
              <a:solidFill>
                <a:schemeClr val="dk1"/>
              </a:solidFill>
            </a:endParaRPr>
          </a:p>
          <a:p>
            <a:pPr indent="-298450" lvl="2" marL="1371600" rtl="0" algn="l">
              <a:spcBef>
                <a:spcPts val="0"/>
              </a:spcBef>
              <a:spcAft>
                <a:spcPts val="0"/>
              </a:spcAft>
              <a:buClr>
                <a:schemeClr val="dk1"/>
              </a:buClr>
              <a:buSzPts val="1100"/>
              <a:buChar char="■"/>
            </a:pPr>
            <a:r>
              <a:rPr lang="en" sz="1100">
                <a:solidFill>
                  <a:schemeClr val="dk1"/>
                </a:solidFill>
              </a:rPr>
              <a:t>Rent: </a:t>
            </a:r>
            <a:r>
              <a:rPr lang="en" sz="1100">
                <a:solidFill>
                  <a:schemeClr val="dk1"/>
                </a:solidFill>
              </a:rPr>
              <a:t>Rs.</a:t>
            </a:r>
            <a:r>
              <a:rPr lang="en" sz="1100">
                <a:solidFill>
                  <a:schemeClr val="dk1"/>
                </a:solidFill>
              </a:rPr>
              <a:t>3500</a:t>
            </a:r>
            <a:br>
              <a:rPr lang="en" sz="1100">
                <a:solidFill>
                  <a:schemeClr val="dk1"/>
                </a:solidFill>
              </a:rPr>
            </a:br>
            <a:endParaRPr sz="1100">
              <a:solidFill>
                <a:schemeClr val="dk1"/>
              </a:solidFill>
            </a:endParaRPr>
          </a:p>
          <a:p>
            <a:pPr indent="-298450" lvl="2" marL="1371600" rtl="0" algn="l">
              <a:spcBef>
                <a:spcPts val="0"/>
              </a:spcBef>
              <a:spcAft>
                <a:spcPts val="0"/>
              </a:spcAft>
              <a:buClr>
                <a:schemeClr val="dk1"/>
              </a:buClr>
              <a:buSzPts val="1100"/>
              <a:buChar char="■"/>
            </a:pPr>
            <a:r>
              <a:rPr lang="en" sz="1100">
                <a:solidFill>
                  <a:schemeClr val="dk1"/>
                </a:solidFill>
              </a:rPr>
              <a:t>Food:</a:t>
            </a:r>
            <a:r>
              <a:rPr lang="en" sz="1100">
                <a:solidFill>
                  <a:schemeClr val="dk1"/>
                </a:solidFill>
              </a:rPr>
              <a:t>Rs.2000</a:t>
            </a:r>
            <a:br>
              <a:rPr lang="en" sz="1100">
                <a:solidFill>
                  <a:schemeClr val="dk1"/>
                </a:solidFill>
              </a:rPr>
            </a:br>
            <a:endParaRPr sz="1100">
              <a:solidFill>
                <a:schemeClr val="dk1"/>
              </a:solidFill>
            </a:endParaRPr>
          </a:p>
          <a:p>
            <a:pPr indent="-298450" lvl="2" marL="1371600" rtl="0" algn="l">
              <a:spcBef>
                <a:spcPts val="0"/>
              </a:spcBef>
              <a:spcAft>
                <a:spcPts val="0"/>
              </a:spcAft>
              <a:buClr>
                <a:schemeClr val="dk1"/>
              </a:buClr>
              <a:buSzPts val="1100"/>
              <a:buChar char="■"/>
            </a:pPr>
            <a:r>
              <a:rPr lang="en" sz="1100">
                <a:solidFill>
                  <a:schemeClr val="dk1"/>
                </a:solidFill>
              </a:rPr>
              <a:t>Entertainment: </a:t>
            </a:r>
            <a:r>
              <a:rPr lang="en" sz="1100">
                <a:solidFill>
                  <a:schemeClr val="dk1"/>
                </a:solidFill>
              </a:rPr>
              <a:t>Rs.1000</a:t>
            </a:r>
            <a:br>
              <a:rPr lang="en" sz="1100">
                <a:solidFill>
                  <a:schemeClr val="dk1"/>
                </a:solidFill>
              </a:rPr>
            </a:br>
            <a:endParaRPr sz="1100">
              <a:solidFill>
                <a:schemeClr val="dk1"/>
              </a:solidFill>
            </a:endParaRPr>
          </a:p>
          <a:p>
            <a:pPr indent="-298450" lvl="2" marL="1371600" rtl="0" algn="l">
              <a:spcBef>
                <a:spcPts val="0"/>
              </a:spcBef>
              <a:spcAft>
                <a:spcPts val="0"/>
              </a:spcAft>
              <a:buClr>
                <a:schemeClr val="dk1"/>
              </a:buClr>
              <a:buSzPts val="1100"/>
              <a:buChar char="■"/>
            </a:pPr>
            <a:r>
              <a:rPr lang="en" sz="1100">
                <a:solidFill>
                  <a:schemeClr val="dk1"/>
                </a:solidFill>
              </a:rPr>
              <a:t>Savings: </a:t>
            </a:r>
            <a:r>
              <a:rPr lang="en" sz="1100">
                <a:solidFill>
                  <a:schemeClr val="dk1"/>
                </a:solidFill>
              </a:rPr>
              <a:t>Rs.2500</a:t>
            </a:r>
            <a:br>
              <a:rPr lang="en" sz="1100">
                <a:solidFill>
                  <a:schemeClr val="dk1"/>
                </a:solidFill>
              </a:rPr>
            </a:br>
            <a:endParaRPr sz="1100">
              <a:solidFill>
                <a:schemeClr val="dk1"/>
              </a:solidFill>
            </a:endParaRPr>
          </a:p>
          <a:p>
            <a:pPr indent="-298450" lvl="2" marL="1371600" rtl="0" algn="l">
              <a:spcBef>
                <a:spcPts val="0"/>
              </a:spcBef>
              <a:spcAft>
                <a:spcPts val="0"/>
              </a:spcAft>
              <a:buClr>
                <a:schemeClr val="dk1"/>
              </a:buClr>
              <a:buSzPts val="1100"/>
              <a:buChar char="■"/>
            </a:pPr>
            <a:r>
              <a:rPr lang="en" sz="1100">
                <a:solidFill>
                  <a:schemeClr val="dk1"/>
                </a:solidFill>
              </a:rPr>
              <a:t>Remaining: </a:t>
            </a:r>
            <a:r>
              <a:rPr lang="en" sz="1100">
                <a:solidFill>
                  <a:schemeClr val="dk1"/>
                </a:solidFill>
              </a:rPr>
              <a:t>Rs. 1000</a:t>
            </a:r>
            <a:br>
              <a:rPr lang="en" sz="1100">
                <a:solidFill>
                  <a:schemeClr val="dk1"/>
                </a:solidFill>
              </a:rPr>
            </a:br>
            <a:endParaRPr/>
          </a:p>
        </p:txBody>
      </p:sp>
      <p:pic>
        <p:nvPicPr>
          <p:cNvPr id="117" name="Google Shape;117;p23"/>
          <p:cNvPicPr preferRelativeResize="0"/>
          <p:nvPr/>
        </p:nvPicPr>
        <p:blipFill>
          <a:blip r:embed="rId3">
            <a:alphaModFix/>
          </a:blip>
          <a:stretch>
            <a:fillRect/>
          </a:stretch>
        </p:blipFill>
        <p:spPr>
          <a:xfrm>
            <a:off x="4750705" y="1720480"/>
            <a:ext cx="3652800" cy="24307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4"/>
          <p:cNvSpPr txBox="1"/>
          <p:nvPr>
            <p:ph idx="1" type="body"/>
          </p:nvPr>
        </p:nvSpPr>
        <p:spPr>
          <a:xfrm>
            <a:off x="311700" y="653550"/>
            <a:ext cx="8520600" cy="3416400"/>
          </a:xfrm>
          <a:prstGeom prst="rect">
            <a:avLst/>
          </a:prstGeom>
        </p:spPr>
        <p:txBody>
          <a:bodyPr anchorCtr="0" anchor="t" bIns="91425" lIns="91425" spcFirstLastPara="1" rIns="91425" wrap="square" tIns="91425">
            <a:normAutofit/>
          </a:bodyPr>
          <a:lstStyle/>
          <a:p>
            <a:pPr indent="0" lvl="0" marL="457200" rtl="0" algn="l">
              <a:spcBef>
                <a:spcPts val="1200"/>
              </a:spcBef>
              <a:spcAft>
                <a:spcPts val="1200"/>
              </a:spcAft>
              <a:buNone/>
            </a:pPr>
            <a:r>
              <a:rPr b="1" lang="en">
                <a:solidFill>
                  <a:schemeClr val="dk1"/>
                </a:solidFill>
              </a:rPr>
              <a:t>Saving and Emergency Fund</a:t>
            </a:r>
            <a:br>
              <a:rPr b="1" lang="en">
                <a:solidFill>
                  <a:schemeClr val="dk1"/>
                </a:solidFill>
              </a:rPr>
            </a:br>
            <a:r>
              <a:rPr lang="en">
                <a:solidFill>
                  <a:schemeClr val="dk1"/>
                </a:solidFill>
              </a:rPr>
              <a:t> </a:t>
            </a:r>
            <a:r>
              <a:rPr lang="en" sz="1500">
                <a:solidFill>
                  <a:schemeClr val="dk1"/>
                </a:solidFill>
              </a:rPr>
              <a:t>Saving is setting aside money for future needs. An emergency fund is a specific amount of money set aside to cover unexpected expenses, like medical bills or car repairs.</a:t>
            </a:r>
            <a:br>
              <a:rPr lang="en" sz="1500">
                <a:solidFill>
                  <a:schemeClr val="dk1"/>
                </a:solidFill>
              </a:rPr>
            </a:br>
            <a:br>
              <a:rPr lang="en" sz="1500">
                <a:solidFill>
                  <a:schemeClr val="dk1"/>
                </a:solidFill>
              </a:rPr>
            </a:br>
            <a:r>
              <a:rPr lang="en" sz="1500">
                <a:solidFill>
                  <a:schemeClr val="dk1"/>
                </a:solidFill>
              </a:rPr>
              <a:t> </a:t>
            </a:r>
            <a:r>
              <a:rPr b="1" lang="en" sz="1500">
                <a:solidFill>
                  <a:schemeClr val="dk1"/>
                </a:solidFill>
              </a:rPr>
              <a:t>Why it matters:</a:t>
            </a:r>
            <a:br>
              <a:rPr b="1" lang="en" sz="1500">
                <a:solidFill>
                  <a:schemeClr val="dk1"/>
                </a:solidFill>
              </a:rPr>
            </a:br>
            <a:r>
              <a:rPr lang="en" sz="1500">
                <a:solidFill>
                  <a:schemeClr val="dk1"/>
                </a:solidFill>
              </a:rPr>
              <a:t> Life is unpredictable. If something unexpected happens (like losing your job or needing emergency medical care), you won’t have to rely on credit cards or loans to cover it.</a:t>
            </a:r>
            <a:br>
              <a:rPr lang="en" sz="1500">
                <a:solidFill>
                  <a:schemeClr val="dk1"/>
                </a:solidFill>
              </a:rPr>
            </a:br>
            <a:br>
              <a:rPr lang="en" sz="1500">
                <a:solidFill>
                  <a:schemeClr val="dk1"/>
                </a:solidFill>
              </a:rPr>
            </a:br>
            <a:endParaRPr sz="1500"/>
          </a:p>
        </p:txBody>
      </p:sp>
      <p:pic>
        <p:nvPicPr>
          <p:cNvPr id="123" name="Google Shape;123;p24"/>
          <p:cNvPicPr preferRelativeResize="0"/>
          <p:nvPr/>
        </p:nvPicPr>
        <p:blipFill>
          <a:blip r:embed="rId3">
            <a:alphaModFix/>
          </a:blip>
          <a:stretch>
            <a:fillRect/>
          </a:stretch>
        </p:blipFill>
        <p:spPr>
          <a:xfrm>
            <a:off x="3151476" y="2946126"/>
            <a:ext cx="2906475" cy="19341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5"/>
          <p:cNvSpPr txBox="1"/>
          <p:nvPr>
            <p:ph idx="1" type="body"/>
          </p:nvPr>
        </p:nvSpPr>
        <p:spPr>
          <a:xfrm>
            <a:off x="311700" y="5537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rPr b="1" lang="en">
                <a:solidFill>
                  <a:schemeClr val="dk1"/>
                </a:solidFill>
              </a:rPr>
              <a:t>Debt Management and Credit</a:t>
            </a:r>
            <a:br>
              <a:rPr b="1" lang="en" sz="1500">
                <a:solidFill>
                  <a:schemeClr val="dk1"/>
                </a:solidFill>
              </a:rPr>
            </a:br>
            <a:r>
              <a:rPr lang="en" sz="1500">
                <a:solidFill>
                  <a:schemeClr val="dk1"/>
                </a:solidFill>
              </a:rPr>
              <a:t> Understanding the difference between “good” and “bad” debt is important. </a:t>
            </a:r>
            <a:r>
              <a:rPr b="1" lang="en" sz="1500">
                <a:solidFill>
                  <a:schemeClr val="dk1"/>
                </a:solidFill>
              </a:rPr>
              <a:t>Good debt</a:t>
            </a:r>
            <a:r>
              <a:rPr lang="en" sz="1500">
                <a:solidFill>
                  <a:schemeClr val="dk1"/>
                </a:solidFill>
              </a:rPr>
              <a:t> can help you build your credit or fund investments (like student loans or a mortgage), while </a:t>
            </a:r>
            <a:r>
              <a:rPr b="1" lang="en" sz="1500">
                <a:solidFill>
                  <a:schemeClr val="dk1"/>
                </a:solidFill>
              </a:rPr>
              <a:t>bad debt</a:t>
            </a:r>
            <a:r>
              <a:rPr lang="en" sz="1500">
                <a:solidFill>
                  <a:schemeClr val="dk1"/>
                </a:solidFill>
              </a:rPr>
              <a:t> (like credit card debt) can cost you a lot of money in interest.</a:t>
            </a:r>
            <a:br>
              <a:rPr lang="en" sz="1500">
                <a:solidFill>
                  <a:schemeClr val="dk1"/>
                </a:solidFill>
              </a:rPr>
            </a:br>
            <a:br>
              <a:rPr lang="en" sz="1500">
                <a:solidFill>
                  <a:schemeClr val="dk1"/>
                </a:solidFill>
              </a:rPr>
            </a:br>
            <a:r>
              <a:rPr lang="en" sz="1500">
                <a:solidFill>
                  <a:schemeClr val="dk1"/>
                </a:solidFill>
              </a:rPr>
              <a:t> </a:t>
            </a:r>
            <a:r>
              <a:rPr b="1" lang="en" sz="1500">
                <a:solidFill>
                  <a:schemeClr val="dk1"/>
                </a:solidFill>
              </a:rPr>
              <a:t>Why it matters:</a:t>
            </a:r>
            <a:br>
              <a:rPr b="1" lang="en" sz="1500">
                <a:solidFill>
                  <a:schemeClr val="dk1"/>
                </a:solidFill>
              </a:rPr>
            </a:br>
            <a:r>
              <a:rPr lang="en" sz="1500">
                <a:solidFill>
                  <a:schemeClr val="dk1"/>
                </a:solidFill>
              </a:rPr>
              <a:t> Mismanaging debt can lead to financial struggles and hurt your credit score. Knowing how to manage it, including paying it off on time, ensures you can access better financial opportunities later.</a:t>
            </a:r>
            <a:br>
              <a:rPr lang="en" sz="1500">
                <a:solidFill>
                  <a:schemeClr val="dk1"/>
                </a:solidFill>
              </a:rPr>
            </a:br>
            <a:endParaRPr sz="1500"/>
          </a:p>
        </p:txBody>
      </p:sp>
      <p:pic>
        <p:nvPicPr>
          <p:cNvPr id="129" name="Google Shape;129;p25"/>
          <p:cNvPicPr preferRelativeResize="0"/>
          <p:nvPr/>
        </p:nvPicPr>
        <p:blipFill>
          <a:blip r:embed="rId3">
            <a:alphaModFix/>
          </a:blip>
          <a:stretch>
            <a:fillRect/>
          </a:stretch>
        </p:blipFill>
        <p:spPr>
          <a:xfrm>
            <a:off x="3414713" y="3108113"/>
            <a:ext cx="2619375" cy="17430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6"/>
          <p:cNvSpPr txBox="1"/>
          <p:nvPr>
            <p:ph idx="1" type="body"/>
          </p:nvPr>
        </p:nvSpPr>
        <p:spPr>
          <a:xfrm>
            <a:off x="311700" y="5809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rPr b="1" lang="en">
                <a:solidFill>
                  <a:schemeClr val="dk1"/>
                </a:solidFill>
              </a:rPr>
              <a:t>Investing for the Future</a:t>
            </a:r>
            <a:br>
              <a:rPr b="1" lang="en" sz="1500">
                <a:solidFill>
                  <a:schemeClr val="dk1"/>
                </a:solidFill>
              </a:rPr>
            </a:br>
            <a:r>
              <a:rPr lang="en" sz="1500">
                <a:solidFill>
                  <a:schemeClr val="dk1"/>
                </a:solidFill>
              </a:rPr>
              <a:t> Investing is putting your money into things like stocks, bonds, or real estate with the goal of making a profit. Understanding the basics of investing (like risk, returns, and diversification) can help you grow your wealth.</a:t>
            </a:r>
            <a:br>
              <a:rPr lang="en" sz="1500">
                <a:solidFill>
                  <a:schemeClr val="dk1"/>
                </a:solidFill>
              </a:rPr>
            </a:br>
            <a:br>
              <a:rPr lang="en" sz="1500">
                <a:solidFill>
                  <a:schemeClr val="dk1"/>
                </a:solidFill>
              </a:rPr>
            </a:br>
            <a:r>
              <a:rPr lang="en" sz="1500">
                <a:solidFill>
                  <a:schemeClr val="dk1"/>
                </a:solidFill>
              </a:rPr>
              <a:t> </a:t>
            </a:r>
            <a:r>
              <a:rPr b="1" lang="en" sz="1500">
                <a:solidFill>
                  <a:schemeClr val="dk1"/>
                </a:solidFill>
              </a:rPr>
              <a:t>Why it matters:</a:t>
            </a:r>
            <a:br>
              <a:rPr b="1" lang="en" sz="1500">
                <a:solidFill>
                  <a:schemeClr val="dk1"/>
                </a:solidFill>
              </a:rPr>
            </a:br>
            <a:r>
              <a:rPr lang="en" sz="1500">
                <a:solidFill>
                  <a:schemeClr val="dk1"/>
                </a:solidFill>
              </a:rPr>
              <a:t> Investing can help you achieve long-term goals like buying a house, paying for college, or retiring comfortably. Starting early means you’ll have more time for your investments to grow.</a:t>
            </a:r>
            <a:br>
              <a:rPr lang="en" sz="1500">
                <a:solidFill>
                  <a:schemeClr val="dk1"/>
                </a:solidFill>
              </a:rPr>
            </a:br>
            <a:endParaRPr sz="1500"/>
          </a:p>
        </p:txBody>
      </p:sp>
      <p:pic>
        <p:nvPicPr>
          <p:cNvPr id="135" name="Google Shape;135;p26"/>
          <p:cNvPicPr preferRelativeResize="0"/>
          <p:nvPr/>
        </p:nvPicPr>
        <p:blipFill>
          <a:blip r:embed="rId3">
            <a:alphaModFix/>
          </a:blip>
          <a:stretch>
            <a:fillRect/>
          </a:stretch>
        </p:blipFill>
        <p:spPr>
          <a:xfrm>
            <a:off x="3118125" y="3030675"/>
            <a:ext cx="2686050" cy="16954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7"/>
          <p:cNvSpPr txBox="1"/>
          <p:nvPr>
            <p:ph idx="1" type="body"/>
          </p:nvPr>
        </p:nvSpPr>
        <p:spPr>
          <a:xfrm>
            <a:off x="311700" y="753350"/>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rPr b="1" lang="en">
                <a:solidFill>
                  <a:schemeClr val="dk1"/>
                </a:solidFill>
              </a:rPr>
              <a:t>Taxes and Withholdings</a:t>
            </a:r>
            <a:br>
              <a:rPr b="1" lang="en" sz="1500">
                <a:solidFill>
                  <a:schemeClr val="dk1"/>
                </a:solidFill>
              </a:rPr>
            </a:br>
            <a:r>
              <a:rPr lang="en" sz="1500">
                <a:solidFill>
                  <a:schemeClr val="dk1"/>
                </a:solidFill>
              </a:rPr>
              <a:t> Taxes are the money you pay to the government, usually taken from your paycheck. Understanding taxes, how they work, and how to file your tax return will save you headaches later on.</a:t>
            </a:r>
            <a:br>
              <a:rPr lang="en" sz="1500">
                <a:solidFill>
                  <a:schemeClr val="dk1"/>
                </a:solidFill>
              </a:rPr>
            </a:br>
            <a:br>
              <a:rPr lang="en" sz="1500">
                <a:solidFill>
                  <a:schemeClr val="dk1"/>
                </a:solidFill>
              </a:rPr>
            </a:br>
            <a:r>
              <a:rPr lang="en" sz="1500">
                <a:solidFill>
                  <a:schemeClr val="dk1"/>
                </a:solidFill>
              </a:rPr>
              <a:t> </a:t>
            </a:r>
            <a:r>
              <a:rPr b="1" lang="en" sz="1500">
                <a:solidFill>
                  <a:schemeClr val="dk1"/>
                </a:solidFill>
              </a:rPr>
              <a:t>Why it matters:</a:t>
            </a:r>
            <a:br>
              <a:rPr b="1" lang="en" sz="1500">
                <a:solidFill>
                  <a:schemeClr val="dk1"/>
                </a:solidFill>
              </a:rPr>
            </a:br>
            <a:r>
              <a:rPr lang="en" sz="1500">
                <a:solidFill>
                  <a:schemeClr val="dk1"/>
                </a:solidFill>
              </a:rPr>
              <a:t> The more you earn, the more taxes you’ll pay. Financial literacy helps you plan for these taxes so they don’t surprise you.</a:t>
            </a:r>
            <a:br>
              <a:rPr lang="en" sz="1500">
                <a:solidFill>
                  <a:schemeClr val="dk1"/>
                </a:solidFill>
              </a:rPr>
            </a:br>
            <a:endParaRPr sz="1500"/>
          </a:p>
        </p:txBody>
      </p:sp>
      <p:pic>
        <p:nvPicPr>
          <p:cNvPr id="141" name="Google Shape;141;p27"/>
          <p:cNvPicPr preferRelativeResize="0"/>
          <p:nvPr/>
        </p:nvPicPr>
        <p:blipFill>
          <a:blip r:embed="rId3">
            <a:alphaModFix/>
          </a:blip>
          <a:stretch>
            <a:fillRect/>
          </a:stretch>
        </p:blipFill>
        <p:spPr>
          <a:xfrm>
            <a:off x="3500425" y="2928338"/>
            <a:ext cx="2143125" cy="21431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2500"/>
              <a:t>Real-Life Impact of Financial Literacy:</a:t>
            </a:r>
            <a:endParaRPr b="1" sz="2500"/>
          </a:p>
          <a:p>
            <a:pPr indent="0" lvl="0" marL="0" rtl="0" algn="l">
              <a:spcBef>
                <a:spcPts val="400"/>
              </a:spcBef>
              <a:spcAft>
                <a:spcPts val="0"/>
              </a:spcAft>
              <a:buNone/>
            </a:pPr>
            <a:r>
              <a:t/>
            </a:r>
            <a:endParaRPr sz="2500"/>
          </a:p>
        </p:txBody>
      </p:sp>
      <p:sp>
        <p:nvSpPr>
          <p:cNvPr id="147" name="Google Shape;147;p28"/>
          <p:cNvSpPr txBox="1"/>
          <p:nvPr>
            <p:ph idx="1" type="body"/>
          </p:nvPr>
        </p:nvSpPr>
        <p:spPr>
          <a:xfrm>
            <a:off x="311700" y="1225050"/>
            <a:ext cx="8520600" cy="3416400"/>
          </a:xfrm>
          <a:prstGeom prst="rect">
            <a:avLst/>
          </a:prstGeom>
        </p:spPr>
        <p:txBody>
          <a:bodyPr anchorCtr="0" anchor="t" bIns="91425" lIns="91425" spcFirstLastPara="1" rIns="91425" wrap="square" tIns="91425">
            <a:noAutofit/>
          </a:bodyPr>
          <a:lstStyle/>
          <a:p>
            <a:pPr indent="-323850" lvl="0" marL="457200" rtl="0" algn="l">
              <a:spcBef>
                <a:spcPts val="1200"/>
              </a:spcBef>
              <a:spcAft>
                <a:spcPts val="0"/>
              </a:spcAft>
              <a:buClr>
                <a:schemeClr val="dk1"/>
              </a:buClr>
              <a:buSzPts val="1500"/>
              <a:buChar char="●"/>
            </a:pPr>
            <a:r>
              <a:rPr b="1" lang="en" sz="1500">
                <a:solidFill>
                  <a:schemeClr val="dk1"/>
                </a:solidFill>
              </a:rPr>
              <a:t>Better Decision-Making:</a:t>
            </a:r>
            <a:br>
              <a:rPr b="1" lang="en" sz="1500">
                <a:solidFill>
                  <a:schemeClr val="dk1"/>
                </a:solidFill>
              </a:rPr>
            </a:br>
            <a:r>
              <a:rPr lang="en" sz="1500">
                <a:solidFill>
                  <a:schemeClr val="dk1"/>
                </a:solidFill>
              </a:rPr>
              <a:t> Financial literacy helps you make smart choices, whether it’s about buying your first car, renting an apartment, or taking on student loans.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Financial Freedom:</a:t>
            </a:r>
            <a:br>
              <a:rPr b="1" lang="en" sz="1500">
                <a:solidFill>
                  <a:schemeClr val="dk1"/>
                </a:solidFill>
              </a:rPr>
            </a:br>
            <a:r>
              <a:rPr lang="en" sz="1500">
                <a:solidFill>
                  <a:schemeClr val="dk1"/>
                </a:solidFill>
              </a:rPr>
              <a:t> When you understand money, you can create financial goals and work toward them. The more you manage your money well, the more freedom you have to do what you want in life.</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Confidence in the Future:</a:t>
            </a:r>
            <a:br>
              <a:rPr b="1" lang="en" sz="1500">
                <a:solidFill>
                  <a:schemeClr val="dk1"/>
                </a:solidFill>
              </a:rPr>
            </a:br>
            <a:r>
              <a:rPr lang="en" sz="1500">
                <a:solidFill>
                  <a:schemeClr val="dk1"/>
                </a:solidFill>
              </a:rPr>
              <a:t> As you understand how to save, invest, and manage debt, you'll feel more confident about your financial future, knowing you're prepared for whatever comes your way.</a:t>
            </a:r>
            <a:endParaRPr sz="1500">
              <a:solidFill>
                <a:schemeClr val="dk1"/>
              </a:solidFill>
            </a:endParaRPr>
          </a:p>
          <a:p>
            <a:pPr indent="0" lvl="0" marL="0" rtl="0" algn="l">
              <a:spcBef>
                <a:spcPts val="1200"/>
              </a:spcBef>
              <a:spcAft>
                <a:spcPts val="1200"/>
              </a:spcAft>
              <a:buNone/>
            </a:pPr>
            <a:r>
              <a:t/>
            </a:r>
            <a:endParaRPr sz="15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
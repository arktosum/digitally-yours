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05fb79be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05fb79be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05fb79be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05fb79be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05fb79be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05fb79be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05fb79be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05fb79be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05fb79be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05fb79be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05fb79be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05fb79be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05fb79be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05fb79be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05fb79be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05fb79be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05fb79be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05fb79be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05fb79be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405fb79be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05fb79be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05fb79be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05fb79be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05fb79be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05fb79be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405fb79be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05fb79be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05fb79be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05fb79be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05fb79be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470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BANKING</a:t>
            </a:r>
            <a:endParaRPr/>
          </a:p>
        </p:txBody>
      </p:sp>
      <p:pic>
        <p:nvPicPr>
          <p:cNvPr id="55" name="Google Shape;55;p13" title="download (8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700" y="2618325"/>
            <a:ext cx="3794675" cy="252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625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Banking is the </a:t>
            </a:r>
            <a:r>
              <a:rPr b="1" lang="en">
                <a:solidFill>
                  <a:schemeClr val="dk1"/>
                </a:solidFill>
              </a:rPr>
              <a:t>business of managing money</a:t>
            </a:r>
            <a:r>
              <a:rPr lang="en">
                <a:solidFill>
                  <a:schemeClr val="dk1"/>
                </a:solidFill>
              </a:rPr>
              <a:t>. Banks are institutions that </a:t>
            </a:r>
            <a:r>
              <a:rPr b="1" lang="en">
                <a:solidFill>
                  <a:schemeClr val="dk1"/>
                </a:solidFill>
              </a:rPr>
              <a:t>receive deposits from people and businesses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lend money to borrowers</a:t>
            </a:r>
            <a:r>
              <a:rPr lang="en">
                <a:solidFill>
                  <a:schemeClr val="dk1"/>
                </a:solidFill>
              </a:rPr>
              <a:t>, and offer various financial services to help manage, invest, and grow money.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At its core, banking is about </a:t>
            </a:r>
            <a:r>
              <a:rPr b="1" lang="en">
                <a:solidFill>
                  <a:schemeClr val="dk1"/>
                </a:solidFill>
              </a:rPr>
              <a:t>facilitating the flow of money</a:t>
            </a:r>
            <a:r>
              <a:rPr lang="en">
                <a:solidFill>
                  <a:schemeClr val="dk1"/>
                </a:solidFill>
              </a:rPr>
              <a:t> between those who have money to save and those who need money to borrow.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7938" y="2772225"/>
            <a:ext cx="4305125" cy="224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FUNCTIONS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Accepting Deposits: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Banks provide a safe place to store money.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Types of deposits include </a:t>
            </a:r>
            <a:r>
              <a:rPr b="1" lang="en" sz="1500">
                <a:solidFill>
                  <a:schemeClr val="dk1"/>
                </a:solidFill>
              </a:rPr>
              <a:t>savings accounts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checking accounts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b="1" lang="en" sz="1500">
                <a:solidFill>
                  <a:schemeClr val="dk1"/>
                </a:solidFill>
              </a:rPr>
              <a:t>fixed deposits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People deposit money to </a:t>
            </a:r>
            <a:r>
              <a:rPr b="1" lang="en" sz="1500">
                <a:solidFill>
                  <a:schemeClr val="dk1"/>
                </a:solidFill>
              </a:rPr>
              <a:t>earn interest</a:t>
            </a:r>
            <a:r>
              <a:rPr lang="en" sz="1500">
                <a:solidFill>
                  <a:schemeClr val="dk1"/>
                </a:solidFill>
              </a:rPr>
              <a:t> or for easy access.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9744" y="3047325"/>
            <a:ext cx="3144250" cy="209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615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Providing Loans: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Banks lend money to individuals, businesses, and governments.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This helps people buy homes, start businesses, or invest in growth.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Banks charge </a:t>
            </a:r>
            <a:r>
              <a:rPr b="1" lang="en" sz="1500">
                <a:solidFill>
                  <a:schemeClr val="dk1"/>
                </a:solidFill>
              </a:rPr>
              <a:t>interest</a:t>
            </a:r>
            <a:r>
              <a:rPr lang="en" sz="1500">
                <a:solidFill>
                  <a:schemeClr val="dk1"/>
                </a:solidFill>
              </a:rPr>
              <a:t> on these loans, which is a primary source of their income.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74" name="Google Shape;74;p16" title="download - 2025-04-07T120506.53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9888" y="2844352"/>
            <a:ext cx="3044225" cy="20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58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Facilitating Payments: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Banks offer services like </a:t>
            </a:r>
            <a:r>
              <a:rPr b="1" lang="en" sz="1500">
                <a:solidFill>
                  <a:schemeClr val="dk1"/>
                </a:solidFill>
              </a:rPr>
              <a:t>credit/debit cards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online banking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b="1" lang="en" sz="1500">
                <a:solidFill>
                  <a:schemeClr val="dk1"/>
                </a:solidFill>
              </a:rPr>
              <a:t>mobile payments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They help transfer money locally and internationally through systems like </a:t>
            </a:r>
            <a:r>
              <a:rPr b="1" lang="en" sz="1500">
                <a:solidFill>
                  <a:schemeClr val="dk1"/>
                </a:solidFill>
              </a:rPr>
              <a:t>NEFT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RTGS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b="1" lang="en" sz="1500">
                <a:solidFill>
                  <a:schemeClr val="dk1"/>
                </a:solidFill>
              </a:rPr>
              <a:t>SWIFT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0" name="Google Shape;80;p17" title="download (8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951" y="2340576"/>
            <a:ext cx="2392300" cy="23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625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Wealth Management &amp; Investment Services: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Banks provide </a:t>
            </a:r>
            <a:r>
              <a:rPr b="1" lang="en" sz="1500">
                <a:solidFill>
                  <a:schemeClr val="dk1"/>
                </a:solidFill>
              </a:rPr>
              <a:t>investment products</a:t>
            </a:r>
            <a:r>
              <a:rPr lang="en" sz="1500">
                <a:solidFill>
                  <a:schemeClr val="dk1"/>
                </a:solidFill>
              </a:rPr>
              <a:t> like mutual funds, stocks, bonds, etc.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They offer financial advice to individuals and businesses to grow their wealth.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6" name="Google Shape;86;p18" title="download (8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500" y="2389350"/>
            <a:ext cx="3220125" cy="26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565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Foreign Exchange &amp; Trade Services: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Banks help with </a:t>
            </a:r>
            <a:r>
              <a:rPr b="1" lang="en" sz="1500">
                <a:solidFill>
                  <a:schemeClr val="dk1"/>
                </a:solidFill>
              </a:rPr>
              <a:t>currency exchange</a:t>
            </a:r>
            <a:r>
              <a:rPr lang="en" sz="1500">
                <a:solidFill>
                  <a:schemeClr val="dk1"/>
                </a:solidFill>
              </a:rPr>
              <a:t> for international travel and trade.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They support </a:t>
            </a:r>
            <a:r>
              <a:rPr b="1" lang="en" sz="1500">
                <a:solidFill>
                  <a:schemeClr val="dk1"/>
                </a:solidFill>
              </a:rPr>
              <a:t>global businesses</a:t>
            </a:r>
            <a:r>
              <a:rPr lang="en" sz="1500">
                <a:solidFill>
                  <a:schemeClr val="dk1"/>
                </a:solidFill>
              </a:rPr>
              <a:t> through letters of credit, trade financing, etc.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2" name="Google Shape;92;p19" title="download - 2025-04-07T120727.43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3626" y="2347026"/>
            <a:ext cx="3563475" cy="226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BANKING WORK?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 Accepting Deposits (The Source of Funds)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Individuals and businesses</a:t>
            </a:r>
            <a:r>
              <a:rPr lang="en" sz="1500">
                <a:solidFill>
                  <a:schemeClr val="dk1"/>
                </a:solidFill>
              </a:rPr>
              <a:t> deposit money into their accounts.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bank pays </a:t>
            </a:r>
            <a:r>
              <a:rPr b="1" lang="en" sz="1500">
                <a:solidFill>
                  <a:schemeClr val="dk1"/>
                </a:solidFill>
              </a:rPr>
              <a:t>interest</a:t>
            </a:r>
            <a:r>
              <a:rPr lang="en" sz="1500">
                <a:solidFill>
                  <a:schemeClr val="dk1"/>
                </a:solidFill>
              </a:rPr>
              <a:t> on these deposits (though often low).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8250" y="2741275"/>
            <a:ext cx="2934525" cy="218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60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 Lending Money (The Use of Funds)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Banks lend part of the deposited money to borrowers (for homes, businesses, education, etc.).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Borrowers pay </a:t>
            </a:r>
            <a:r>
              <a:rPr b="1" lang="en" sz="1500">
                <a:solidFill>
                  <a:schemeClr val="dk1"/>
                </a:solidFill>
              </a:rPr>
              <a:t>interest</a:t>
            </a:r>
            <a:r>
              <a:rPr lang="en" sz="1500">
                <a:solidFill>
                  <a:schemeClr val="dk1"/>
                </a:solidFill>
              </a:rPr>
              <a:t> on the loan, which is usually higher than the interest paid to depositors.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This difference is called the </a:t>
            </a:r>
            <a:r>
              <a:rPr b="1" lang="en" sz="1500">
                <a:solidFill>
                  <a:schemeClr val="dk1"/>
                </a:solidFill>
              </a:rPr>
              <a:t>interest rate spread</a:t>
            </a:r>
            <a:r>
              <a:rPr lang="en" sz="1500">
                <a:solidFill>
                  <a:schemeClr val="dk1"/>
                </a:solidFill>
              </a:rPr>
              <a:t>, which is how banks make a profit.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5" name="Google Shape;105;p21" title="download - 2025-04-07T121856.29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2600" y="3186225"/>
            <a:ext cx="249555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60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Making a Profit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You deposit ₹10,000 at 4% interest → you earn ₹400 annually.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The bank lends ₹8,000 to someone at 10% interest → the borrower pays ₹800 annually.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The bank keeps </a:t>
            </a:r>
            <a:r>
              <a:rPr b="1" lang="en" sz="1500">
                <a:solidFill>
                  <a:schemeClr val="dk1"/>
                </a:solidFill>
              </a:rPr>
              <a:t>₹400 as profit</a:t>
            </a:r>
            <a:r>
              <a:rPr lang="en" sz="1500">
                <a:solidFill>
                  <a:schemeClr val="dk1"/>
                </a:solidFill>
              </a:rPr>
              <a:t> after paying you interest.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1" name="Google Shape;111;p22" title="download (83).png"/>
          <p:cNvPicPr preferRelativeResize="0"/>
          <p:nvPr/>
        </p:nvPicPr>
        <p:blipFill rotWithShape="1">
          <a:blip r:embed="rId3">
            <a:alphaModFix/>
          </a:blip>
          <a:srcRect b="9016" l="0" r="0" t="0"/>
          <a:stretch/>
        </p:blipFill>
        <p:spPr>
          <a:xfrm>
            <a:off x="6473588" y="2753925"/>
            <a:ext cx="2028825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BANKS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Retail Banks: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Serve </a:t>
            </a:r>
            <a:r>
              <a:rPr b="1" lang="en" sz="1500">
                <a:solidFill>
                  <a:schemeClr val="dk1"/>
                </a:solidFill>
              </a:rPr>
              <a:t>individuals</a:t>
            </a:r>
            <a:r>
              <a:rPr lang="en" sz="1500">
                <a:solidFill>
                  <a:schemeClr val="dk1"/>
                </a:solidFill>
              </a:rPr>
              <a:t> and </a:t>
            </a:r>
            <a:r>
              <a:rPr b="1" lang="en" sz="1500">
                <a:solidFill>
                  <a:schemeClr val="dk1"/>
                </a:solidFill>
              </a:rPr>
              <a:t>small businesses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Services: Savings accounts, loans, credit cards, ATMs, etc.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8" name="Google Shape;118;p23" title="download - 2025-04-07T122306.49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4275" y="2816975"/>
            <a:ext cx="2830225" cy="209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565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Commercial Banks: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Serve </a:t>
            </a:r>
            <a:r>
              <a:rPr b="1" lang="en" sz="1500">
                <a:solidFill>
                  <a:schemeClr val="dk1"/>
                </a:solidFill>
              </a:rPr>
              <a:t>large businesses</a:t>
            </a:r>
            <a:r>
              <a:rPr lang="en" sz="1500">
                <a:solidFill>
                  <a:schemeClr val="dk1"/>
                </a:solidFill>
              </a:rPr>
              <a:t> and </a:t>
            </a:r>
            <a:r>
              <a:rPr b="1" lang="en" sz="1500">
                <a:solidFill>
                  <a:schemeClr val="dk1"/>
                </a:solidFill>
              </a:rPr>
              <a:t>corporations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Services: Business loans, credit lines, cash management.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24" name="Google Shape;124;p24" title="download (8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7500" y="2571750"/>
            <a:ext cx="3634550" cy="203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575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Investment Banks: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Help companies </a:t>
            </a:r>
            <a:r>
              <a:rPr b="1" lang="en" sz="1500">
                <a:solidFill>
                  <a:schemeClr val="dk1"/>
                </a:solidFill>
              </a:rPr>
              <a:t>raise capital</a:t>
            </a:r>
            <a:r>
              <a:rPr lang="en" sz="1500">
                <a:solidFill>
                  <a:schemeClr val="dk1"/>
                </a:solidFill>
              </a:rPr>
              <a:t> through stocks/bonds.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Advice</a:t>
            </a:r>
            <a:r>
              <a:rPr lang="en" sz="1500">
                <a:solidFill>
                  <a:schemeClr val="dk1"/>
                </a:solidFill>
              </a:rPr>
              <a:t> on </a:t>
            </a:r>
            <a:r>
              <a:rPr b="1" lang="en" sz="1500">
                <a:solidFill>
                  <a:schemeClr val="dk1"/>
                </a:solidFill>
              </a:rPr>
              <a:t>mergers, acquisitions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b="1" lang="en" sz="1500">
                <a:solidFill>
                  <a:schemeClr val="dk1"/>
                </a:solidFill>
              </a:rPr>
              <a:t>large investments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30" name="Google Shape;130;p25" title="download - 2025-04-07T122519.21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3803" y="2450250"/>
            <a:ext cx="3555475" cy="20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575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Central Banks: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Control a country’s money supply and interest rates.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b="1" lang="en" sz="1500">
                <a:solidFill>
                  <a:schemeClr val="dk1"/>
                </a:solidFill>
              </a:rPr>
              <a:t>Reserve Bank of India (RBI)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Federal Reserve (USA)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They regulate commercial banks to ensure economic stability.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36" name="Google Shape;13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7528" y="2650200"/>
            <a:ext cx="2990725" cy="22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TERMS TO KNOW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Interest Rate:</a:t>
            </a:r>
            <a:r>
              <a:rPr lang="en" sz="1500">
                <a:solidFill>
                  <a:schemeClr val="dk1"/>
                </a:solidFill>
              </a:rPr>
              <a:t> The cost of borrowing money or the reward for saving money.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Loan:</a:t>
            </a:r>
            <a:r>
              <a:rPr lang="en" sz="1500">
                <a:solidFill>
                  <a:schemeClr val="dk1"/>
                </a:solidFill>
              </a:rPr>
              <a:t> Money borrowed from the bank with an obligation to repay with interest.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Deposit:</a:t>
            </a:r>
            <a:r>
              <a:rPr lang="en" sz="1500">
                <a:solidFill>
                  <a:schemeClr val="dk1"/>
                </a:solidFill>
              </a:rPr>
              <a:t> Money placed in a bank account for safekeeping.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Credit Score:</a:t>
            </a:r>
            <a:r>
              <a:rPr lang="en" sz="1500">
                <a:solidFill>
                  <a:schemeClr val="dk1"/>
                </a:solidFill>
              </a:rPr>
              <a:t> A measure of how likely you are to repay loans.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ATM:</a:t>
            </a:r>
            <a:r>
              <a:rPr lang="en" sz="1500">
                <a:solidFill>
                  <a:schemeClr val="dk1"/>
                </a:solidFill>
              </a:rPr>
              <a:t> Automated Teller Machine for withdrawing or depositing cash.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IT IMPORTANT?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Financial Security:</a:t>
            </a:r>
            <a:r>
              <a:rPr lang="en" sz="1500">
                <a:solidFill>
                  <a:schemeClr val="dk1"/>
                </a:solidFill>
              </a:rPr>
              <a:t> Keeps money safe.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Economic Growth:</a:t>
            </a:r>
            <a:r>
              <a:rPr lang="en" sz="1500">
                <a:solidFill>
                  <a:schemeClr val="dk1"/>
                </a:solidFill>
              </a:rPr>
              <a:t> Provides loans to businesses, creating jobs.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Convenience:</a:t>
            </a:r>
            <a:r>
              <a:rPr lang="en" sz="1500">
                <a:solidFill>
                  <a:schemeClr val="dk1"/>
                </a:solidFill>
              </a:rPr>
              <a:t> Easy access to money through ATMs, online banking, mobile apps.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Global Trade:</a:t>
            </a:r>
            <a:r>
              <a:rPr lang="en" sz="1500">
                <a:solidFill>
                  <a:schemeClr val="dk1"/>
                </a:solidFill>
              </a:rPr>
              <a:t> Facilitates international transactions for businesses.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
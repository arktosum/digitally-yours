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61464b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61464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61464b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61464b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061464b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061464b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061464b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061464b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061464b6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061464b6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061464b6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061464b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061464b6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061464b6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061464b6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061464b6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61464b6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61464b6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061464b6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061464b6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061464b6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061464b6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3262"/>
            <a:ext cx="9144000" cy="4572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72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Digital payments</a:t>
            </a:r>
            <a:r>
              <a:rPr lang="en">
                <a:solidFill>
                  <a:schemeClr val="dk1"/>
                </a:solidFill>
              </a:rPr>
              <a:t> are transactions made without using physical cash. Instead, money is transferred electronically using </a:t>
            </a:r>
            <a:r>
              <a:rPr b="1" lang="en">
                <a:solidFill>
                  <a:schemeClr val="dk1"/>
                </a:solidFill>
              </a:rPr>
              <a:t>computers, smartphones, or other devices</a:t>
            </a:r>
            <a:r>
              <a:rPr lang="en">
                <a:solidFill>
                  <a:schemeClr val="dk1"/>
                </a:solidFill>
              </a:rPr>
              <a:t>. This includes payments for goods, services, or even transferring money between people.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600" y="2330525"/>
            <a:ext cx="3730800" cy="24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DIGITAL PAYMENTS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Online Bank Transfers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NEFT (National Electronic Funds Transfer):</a:t>
            </a:r>
            <a:r>
              <a:rPr lang="en" sz="1500">
                <a:solidFill>
                  <a:schemeClr val="dk1"/>
                </a:solidFill>
              </a:rPr>
              <a:t> Transfers money from one bank to another.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RTGS (Real-Time Gross Settlement):</a:t>
            </a:r>
            <a:r>
              <a:rPr lang="en" sz="1500">
                <a:solidFill>
                  <a:schemeClr val="dk1"/>
                </a:solidFill>
              </a:rPr>
              <a:t> For large-value transactions in real-time.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IMPS (Immediate Payment Service):</a:t>
            </a:r>
            <a:r>
              <a:rPr lang="en" sz="1500">
                <a:solidFill>
                  <a:schemeClr val="dk1"/>
                </a:solidFill>
              </a:rPr>
              <a:t> 24/7 instant bank-to-bank transfer.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0128" y="3202525"/>
            <a:ext cx="3726193" cy="19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55575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Mobile Wallets (e-Wallets)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Apps that store money digitally.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Examples: </a:t>
            </a:r>
            <a:r>
              <a:rPr b="1" lang="en" sz="1500">
                <a:solidFill>
                  <a:schemeClr val="dk1"/>
                </a:solidFill>
              </a:rPr>
              <a:t>Paytm, PhonePe, Google Pay, MobiKwik.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link your wallet to a bank account and pay at shops or online.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3" name="Google Shape;73;p16" title="download - 2025-04-07T130100.47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150" y="3295950"/>
            <a:ext cx="6569550" cy="10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560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Unified Payments Interface (UPI)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real-time payment system</a:t>
            </a:r>
            <a:r>
              <a:rPr lang="en" sz="1500">
                <a:solidFill>
                  <a:schemeClr val="dk1"/>
                </a:solidFill>
              </a:rPr>
              <a:t> that connects multiple bank accounts to a single mobile app.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send/receive money, pay bills, recharge phones,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Using Google Pay to send ₹500 to a friend instantly.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9" name="Google Shape;79;p17" title="download (8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263" y="2775325"/>
            <a:ext cx="21621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77500" y="516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Credit/Debit Cards (POS &amp; Online)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Debit Cards:</a:t>
            </a:r>
            <a:r>
              <a:rPr lang="en" sz="1500">
                <a:solidFill>
                  <a:schemeClr val="dk1"/>
                </a:solidFill>
              </a:rPr>
              <a:t> Linked to your bank account.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Credit Cards:</a:t>
            </a:r>
            <a:r>
              <a:rPr lang="en" sz="1500">
                <a:solidFill>
                  <a:schemeClr val="dk1"/>
                </a:solidFill>
              </a:rPr>
              <a:t> Let you borrow money up to a limit.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Used for </a:t>
            </a:r>
            <a:r>
              <a:rPr b="1" lang="en" sz="1500">
                <a:solidFill>
                  <a:schemeClr val="dk1"/>
                </a:solidFill>
              </a:rPr>
              <a:t>online shopping, bill payments, and in-store purchases</a:t>
            </a:r>
            <a:r>
              <a:rPr lang="en" sz="1500">
                <a:solidFill>
                  <a:schemeClr val="dk1"/>
                </a:solidFill>
              </a:rPr>
              <a:t> (via POS machines).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5" name="Google Shape;85;p18" title="images (6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663" y="270623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51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Mobile Banking Apps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have their own apps for managing accounts, making payments, and transferring money.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SBI YONO, HDFC Mobile Banking.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1" name="Google Shape;91;p19" title="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1125" y="2455950"/>
            <a:ext cx="4572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67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USSD-Based Payments (for Feature Phones)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 people without smartphones.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*</a:t>
            </a:r>
            <a:r>
              <a:rPr b="1" lang="en" sz="1500">
                <a:solidFill>
                  <a:schemeClr val="dk1"/>
                </a:solidFill>
              </a:rPr>
              <a:t>99#</a:t>
            </a:r>
            <a:r>
              <a:rPr lang="en" sz="1500">
                <a:solidFill>
                  <a:schemeClr val="dk1"/>
                </a:solidFill>
              </a:rPr>
              <a:t> to access banking services (e.g., transferring money via </a:t>
            </a:r>
            <a:r>
              <a:rPr b="1" lang="en" sz="1500">
                <a:solidFill>
                  <a:schemeClr val="dk1"/>
                </a:solidFill>
              </a:rPr>
              <a:t>BHIM UPI</a:t>
            </a:r>
            <a:r>
              <a:rPr lang="en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7" name="Google Shape;97;p20" title="download (8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799" y="2654325"/>
            <a:ext cx="5708750" cy="191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72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Digital Gold &amp; Cryptocurrencies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Platforms allow people to buy gold digitally or even invest in cryptocurrencies like Bitcoin (though not legal tender in India).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3" name="Google Shape;103;p21" title="download - 2025-04-07T130655.02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379" y="2477254"/>
            <a:ext cx="3583850" cy="23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Initiation: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open an app (like Google Pay) and enter the payment details.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Authorization: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app verifies your account using an </a:t>
            </a:r>
            <a:r>
              <a:rPr b="1" lang="en" sz="1500">
                <a:solidFill>
                  <a:schemeClr val="dk1"/>
                </a:solidFill>
              </a:rPr>
              <a:t>OTP (One-Time Password)</a:t>
            </a:r>
            <a:r>
              <a:rPr lang="en" sz="1500">
                <a:solidFill>
                  <a:schemeClr val="dk1"/>
                </a:solidFill>
              </a:rPr>
              <a:t> or PIN.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581100"/>
            <a:ext cx="85206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Processing: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payment request goes through banks or payment gateways.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Settlement: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money is transferred instantly or within a few hours, depending on the method.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Confirmation: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receive a notification confirming the transaction.</a:t>
            </a:r>
            <a:br>
              <a:rPr lang="en" sz="15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Convenience:</a:t>
            </a:r>
            <a:r>
              <a:rPr lang="en" sz="1500">
                <a:solidFill>
                  <a:schemeClr val="dk1"/>
                </a:solidFill>
              </a:rPr>
              <a:t> Pay anytime, anywhere without carrying cash.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Speed:</a:t>
            </a:r>
            <a:r>
              <a:rPr lang="en" sz="1500">
                <a:solidFill>
                  <a:schemeClr val="dk1"/>
                </a:solidFill>
              </a:rPr>
              <a:t> Instant transactions, especially with UPI.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Security:</a:t>
            </a:r>
            <a:r>
              <a:rPr lang="en" sz="1500">
                <a:solidFill>
                  <a:schemeClr val="dk1"/>
                </a:solidFill>
              </a:rPr>
              <a:t> Strong encryption and OTPs reduce fraud.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Tracking:</a:t>
            </a:r>
            <a:r>
              <a:rPr lang="en" sz="1500">
                <a:solidFill>
                  <a:schemeClr val="dk1"/>
                </a:solidFill>
              </a:rPr>
              <a:t> Easy to track expenses and transactions.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Financial Inclusion:</a:t>
            </a:r>
            <a:r>
              <a:rPr lang="en" sz="1500">
                <a:solidFill>
                  <a:schemeClr val="dk1"/>
                </a:solidFill>
              </a:rPr>
              <a:t> Reaches people in remote areas through mobile apps.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
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2f4ec5de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2f4ec5de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2f4ec5de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2f4ec5de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42f4ec5de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42f4ec5de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42f4ec5de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42f4ec5de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42f4ec5de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42f4ec5de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2f4ec5dec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42f4ec5dec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42f4ec5de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42f4ec5de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42f4ec5de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42f4ec5de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42f4ec5dec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42f4ec5dec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42f4ec5de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42f4ec5de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42f4ec5dec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42f4ec5dec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42f4ec5de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42f4ec5de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coursera.org/articles/what-is-artificial-intelligence" TargetMode="Externa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3389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MACHINE LEARNING</a:t>
            </a:r>
            <a:endParaRPr/>
          </a:p>
        </p:txBody>
      </p:sp>
      <p:pic>
        <p:nvPicPr>
          <p:cNvPr id="55" name="Google Shape;55;p13" title="download (40).jpg"/>
          <p:cNvPicPr preferRelativeResize="0"/>
          <p:nvPr/>
        </p:nvPicPr>
        <p:blipFill>
          <a:blip r:embed="rId3">
            <a:alphaModFix/>
          </a:blip>
          <a:stretch>
            <a:fillRect/>
          </a:stretch>
        </p:blipFill>
        <p:spPr>
          <a:xfrm>
            <a:off x="2203775" y="2719325"/>
            <a:ext cx="4528125" cy="2150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7139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t/>
            </a:r>
            <a:endParaRPr b="1" sz="1500">
              <a:solidFill>
                <a:srgbClr val="0F1114"/>
              </a:solidFill>
              <a:highlight>
                <a:srgbClr val="FFFFFF"/>
              </a:highlight>
            </a:endParaRPr>
          </a:p>
          <a:p>
            <a:pPr indent="0" lvl="0" marL="0" rtl="0" algn="l">
              <a:spcBef>
                <a:spcPts val="0"/>
              </a:spcBef>
              <a:spcAft>
                <a:spcPts val="0"/>
              </a:spcAft>
              <a:buClr>
                <a:schemeClr val="dk1"/>
              </a:buClr>
              <a:buSzPts val="1100"/>
              <a:buFont typeface="Arial"/>
              <a:buNone/>
            </a:pPr>
            <a:r>
              <a:rPr lang="en" sz="1500">
                <a:solidFill>
                  <a:srgbClr val="0F1114"/>
                </a:solidFill>
                <a:highlight>
                  <a:srgbClr val="FFFFFF"/>
                </a:highlight>
              </a:rPr>
              <a:t>Machine learning is a subfield of </a:t>
            </a:r>
            <a:r>
              <a:rPr lang="en" sz="1500" u="sng">
                <a:solidFill>
                  <a:srgbClr val="1155CC"/>
                </a:solidFill>
                <a:highlight>
                  <a:srgbClr val="FFFFFF"/>
                </a:highlight>
                <a:hlinkClick r:id="rId3">
                  <a:extLst>
                    <a:ext uri="{A12FA001-AC4F-418D-AE19-62706E023703}">
                      <ahyp:hlinkClr val="tx"/>
                    </a:ext>
                  </a:extLst>
                </a:hlinkClick>
              </a:rPr>
              <a:t>artificial intelligence</a:t>
            </a:r>
            <a:r>
              <a:rPr lang="en" sz="1500">
                <a:solidFill>
                  <a:srgbClr val="0F1114"/>
                </a:solidFill>
                <a:highlight>
                  <a:srgbClr val="FFFFFF"/>
                </a:highlight>
              </a:rPr>
              <a:t> that uses algorithms trained on data sets to create models capable of performing tasks that would otherwise only be possible for humans, such as categorizing images, analyzing data, or predicting price fluctuations. Today, machine learning is one of the most common forms of artificial intelligence and often powers many of the digital goods and services we use every day. </a:t>
            </a:r>
            <a:endParaRPr sz="1500">
              <a:solidFill>
                <a:srgbClr val="0F1114"/>
              </a:solidFill>
              <a:highlight>
                <a:srgbClr val="FFFFFF"/>
              </a:highlight>
            </a:endParaRPr>
          </a:p>
          <a:p>
            <a:pPr indent="0" lvl="0" marL="0" rtl="0" algn="l">
              <a:spcBef>
                <a:spcPts val="0"/>
              </a:spcBef>
              <a:spcAft>
                <a:spcPts val="1200"/>
              </a:spcAft>
              <a:buNone/>
            </a:pPr>
            <a:r>
              <a:t/>
            </a:r>
            <a:endParaRPr sz="1500"/>
          </a:p>
        </p:txBody>
      </p:sp>
      <p:pic>
        <p:nvPicPr>
          <p:cNvPr id="61" name="Google Shape;61;p14" title="images (14).jpg"/>
          <p:cNvPicPr preferRelativeResize="0"/>
          <p:nvPr/>
        </p:nvPicPr>
        <p:blipFill>
          <a:blip r:embed="rId4">
            <a:alphaModFix/>
          </a:blip>
          <a:stretch>
            <a:fillRect/>
          </a:stretch>
        </p:blipFill>
        <p:spPr>
          <a:xfrm>
            <a:off x="2028350" y="2664250"/>
            <a:ext cx="5164050" cy="1991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EXAMPLES</a:t>
            </a:r>
            <a:endParaRPr/>
          </a:p>
        </p:txBody>
      </p:sp>
      <p:sp>
        <p:nvSpPr>
          <p:cNvPr id="67" name="Google Shape;67;p15"/>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Recommendation engines that suggest products, songs, or television shows to you, such as those found on Amazon, Spotify, or Netflix. </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Speech recognition software that allows you to convert voice memos into text.. </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Self-driving cars and driver assistance features, such as blind-spot detection and automatic stopping, to improve overall vehicle safety. </a:t>
            </a:r>
            <a:endParaRPr sz="1500">
              <a:solidFill>
                <a:srgbClr val="0F1114"/>
              </a:solidFill>
              <a:highlight>
                <a:srgbClr val="FFFFFF"/>
              </a:highlight>
            </a:endParaRPr>
          </a:p>
          <a:p>
            <a:pPr indent="0" lvl="0" marL="0" rtl="0" algn="l">
              <a:spcBef>
                <a:spcPts val="1200"/>
              </a:spcBef>
              <a:spcAft>
                <a:spcPts val="1200"/>
              </a:spcAft>
              <a:buNone/>
            </a:pPr>
            <a:r>
              <a:t/>
            </a:r>
            <a:endParaRPr sz="1500"/>
          </a:p>
        </p:txBody>
      </p:sp>
      <p:pic>
        <p:nvPicPr>
          <p:cNvPr id="68" name="Google Shape;68;p15" title="download (14).png"/>
          <p:cNvPicPr preferRelativeResize="0"/>
          <p:nvPr/>
        </p:nvPicPr>
        <p:blipFill>
          <a:blip r:embed="rId3">
            <a:alphaModFix/>
          </a:blip>
          <a:stretch>
            <a:fillRect/>
          </a:stretch>
        </p:blipFill>
        <p:spPr>
          <a:xfrm>
            <a:off x="840450" y="2679950"/>
            <a:ext cx="2610459" cy="2463550"/>
          </a:xfrm>
          <a:prstGeom prst="rect">
            <a:avLst/>
          </a:prstGeom>
          <a:noFill/>
          <a:ln>
            <a:noFill/>
          </a:ln>
        </p:spPr>
      </p:pic>
      <p:pic>
        <p:nvPicPr>
          <p:cNvPr id="69" name="Google Shape;69;p15" title="images (15).jpg"/>
          <p:cNvPicPr preferRelativeResize="0"/>
          <p:nvPr/>
        </p:nvPicPr>
        <p:blipFill>
          <a:blip r:embed="rId4">
            <a:alphaModFix/>
          </a:blip>
          <a:stretch>
            <a:fillRect/>
          </a:stretch>
        </p:blipFill>
        <p:spPr>
          <a:xfrm>
            <a:off x="4703025" y="2747175"/>
            <a:ext cx="3901730" cy="2130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ML</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b="1" lang="en" sz="1500">
                <a:solidFill>
                  <a:srgbClr val="0F1114"/>
                </a:solidFill>
                <a:highlight>
                  <a:srgbClr val="FFFFFF"/>
                </a:highlight>
              </a:rPr>
              <a:t>Supervised Learning</a:t>
            </a:r>
            <a:r>
              <a:rPr lang="en" sz="1500">
                <a:solidFill>
                  <a:srgbClr val="0F1114"/>
                </a:solidFill>
                <a:highlight>
                  <a:srgbClr val="FFFFFF"/>
                </a:highlight>
              </a:rPr>
              <a:t>:</a:t>
            </a:r>
            <a:endParaRPr sz="1500">
              <a:solidFill>
                <a:srgbClr val="0F1114"/>
              </a:solidFill>
              <a:highlight>
                <a:srgbClr val="FFFFFF"/>
              </a:highlight>
            </a:endParaRPr>
          </a:p>
          <a:p>
            <a:pPr indent="0" lvl="0" marL="914400" rtl="0" algn="l">
              <a:spcBef>
                <a:spcPts val="1200"/>
              </a:spcBef>
              <a:spcAft>
                <a:spcPts val="0"/>
              </a:spcAft>
              <a:buNone/>
            </a:pPr>
            <a:r>
              <a:rPr lang="en" sz="1500">
                <a:solidFill>
                  <a:srgbClr val="0F1114"/>
                </a:solidFill>
                <a:highlight>
                  <a:srgbClr val="FFFFFF"/>
                </a:highlight>
              </a:rPr>
              <a:t>The computer learns from examples that are already labeled with the correct answers.</a:t>
            </a:r>
            <a:endParaRPr sz="1500">
              <a:solidFill>
                <a:srgbClr val="0F1114"/>
              </a:solidFill>
              <a:highlight>
                <a:srgbClr val="FFFFFF"/>
              </a:highlight>
            </a:endParaRPr>
          </a:p>
          <a:p>
            <a:pPr indent="0" lvl="0" marL="914400" rtl="0" algn="l">
              <a:spcBef>
                <a:spcPts val="1200"/>
              </a:spcBef>
              <a:spcAft>
                <a:spcPts val="0"/>
              </a:spcAft>
              <a:buNone/>
            </a:pPr>
            <a:r>
              <a:rPr lang="en" sz="1500">
                <a:solidFill>
                  <a:srgbClr val="0F1114"/>
                </a:solidFill>
                <a:highlight>
                  <a:srgbClr val="FFFF00"/>
                </a:highlight>
              </a:rPr>
              <a:t>Example</a:t>
            </a:r>
            <a:r>
              <a:rPr lang="en" sz="1500">
                <a:solidFill>
                  <a:srgbClr val="0F1114"/>
                </a:solidFill>
                <a:highlight>
                  <a:srgbClr val="FFFFFF"/>
                </a:highlight>
              </a:rPr>
              <a:t>: Spam email detection, where emails are labeled as spam or not spam.</a:t>
            </a:r>
            <a:endParaRPr sz="1500">
              <a:solidFill>
                <a:srgbClr val="0F1114"/>
              </a:solidFill>
              <a:highlight>
                <a:srgbClr val="FFFFFF"/>
              </a:highlight>
            </a:endParaRPr>
          </a:p>
          <a:p>
            <a:pPr indent="0" lvl="0" marL="457200" rtl="0" algn="l">
              <a:spcBef>
                <a:spcPts val="1200"/>
              </a:spcBef>
              <a:spcAft>
                <a:spcPts val="1200"/>
              </a:spcAft>
              <a:buNone/>
            </a:pPr>
            <a:br>
              <a:rPr lang="en" sz="1500">
                <a:solidFill>
                  <a:srgbClr val="0F1114"/>
                </a:solidFill>
                <a:highlight>
                  <a:srgbClr val="FFFFFF"/>
                </a:highlight>
              </a:rPr>
            </a:br>
            <a:endParaRPr sz="1500"/>
          </a:p>
        </p:txBody>
      </p:sp>
      <p:pic>
        <p:nvPicPr>
          <p:cNvPr id="76" name="Google Shape;76;p16" title="download (42).jpg"/>
          <p:cNvPicPr preferRelativeResize="0"/>
          <p:nvPr/>
        </p:nvPicPr>
        <p:blipFill>
          <a:blip r:embed="rId3">
            <a:alphaModFix/>
          </a:blip>
          <a:stretch>
            <a:fillRect/>
          </a:stretch>
        </p:blipFill>
        <p:spPr>
          <a:xfrm>
            <a:off x="2641225" y="2571754"/>
            <a:ext cx="3565050" cy="2166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3" name="Google Shape;83;p17" title="2022_11_MicrosoftTeams-image-5.jpg"/>
          <p:cNvPicPr preferRelativeResize="0"/>
          <p:nvPr/>
        </p:nvPicPr>
        <p:blipFill>
          <a:blip r:embed="rId3">
            <a:alphaModFix/>
          </a:blip>
          <a:stretch>
            <a:fillRect/>
          </a:stretch>
        </p:blipFill>
        <p:spPr>
          <a:xfrm>
            <a:off x="0" y="171450"/>
            <a:ext cx="9144000" cy="4800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b="1" lang="en" sz="1500">
                <a:solidFill>
                  <a:srgbClr val="0F1114"/>
                </a:solidFill>
                <a:highlight>
                  <a:srgbClr val="FFFFFF"/>
                </a:highlight>
              </a:rPr>
              <a:t>Unsupervised Learning</a:t>
            </a:r>
            <a:r>
              <a:rPr lang="en" sz="1500">
                <a:solidFill>
                  <a:srgbClr val="0F1114"/>
                </a:solidFill>
                <a:highlight>
                  <a:srgbClr val="FFFFFF"/>
                </a:highlight>
              </a:rPr>
              <a:t>:</a:t>
            </a:r>
            <a:endParaRPr sz="1500">
              <a:solidFill>
                <a:srgbClr val="0F1114"/>
              </a:solidFill>
              <a:highlight>
                <a:srgbClr val="FFFFFF"/>
              </a:highlight>
            </a:endParaRPr>
          </a:p>
          <a:p>
            <a:pPr indent="0" lvl="0" marL="914400" rtl="0" algn="l">
              <a:spcBef>
                <a:spcPts val="1200"/>
              </a:spcBef>
              <a:spcAft>
                <a:spcPts val="0"/>
              </a:spcAft>
              <a:buNone/>
            </a:pPr>
            <a:r>
              <a:rPr lang="en" sz="1500">
                <a:solidFill>
                  <a:srgbClr val="0F1114"/>
                </a:solidFill>
                <a:highlight>
                  <a:srgbClr val="FFFFFF"/>
                </a:highlight>
              </a:rPr>
              <a:t>The computer looks at data without any labels and tries to find patterns or groups on its own.</a:t>
            </a:r>
            <a:endParaRPr sz="1500">
              <a:solidFill>
                <a:srgbClr val="0F1114"/>
              </a:solidFill>
              <a:highlight>
                <a:srgbClr val="FFFFFF"/>
              </a:highlight>
            </a:endParaRPr>
          </a:p>
          <a:p>
            <a:pPr indent="-314325" lvl="1" marL="914400" rtl="0" algn="l">
              <a:spcBef>
                <a:spcPts val="1200"/>
              </a:spcBef>
              <a:spcAft>
                <a:spcPts val="0"/>
              </a:spcAft>
              <a:buClr>
                <a:srgbClr val="0F1114"/>
              </a:buClr>
              <a:buSzPts val="1350"/>
              <a:buChar char="➢"/>
            </a:pPr>
            <a:r>
              <a:rPr lang="en" sz="1350">
                <a:solidFill>
                  <a:srgbClr val="0F1114"/>
                </a:solidFill>
                <a:highlight>
                  <a:srgbClr val="FFFF00"/>
                </a:highlight>
              </a:rPr>
              <a:t>Example</a:t>
            </a:r>
            <a:r>
              <a:rPr lang="en" sz="1350">
                <a:solidFill>
                  <a:srgbClr val="0F1114"/>
                </a:solidFill>
                <a:highlight>
                  <a:srgbClr val="FFFFFF"/>
                </a:highlight>
              </a:rPr>
              <a:t>: Customer segmentation, where you group people into different categories based on buying behavior.</a:t>
            </a:r>
            <a:endParaRPr sz="1350">
              <a:solidFill>
                <a:srgbClr val="0F1114"/>
              </a:solidFill>
              <a:highlight>
                <a:srgbClr val="FFFFFF"/>
              </a:highlight>
            </a:endParaRPr>
          </a:p>
          <a:p>
            <a:pPr indent="0" lvl="0" marL="457200" rtl="0" algn="l">
              <a:spcBef>
                <a:spcPts val="1200"/>
              </a:spcBef>
              <a:spcAft>
                <a:spcPts val="1200"/>
              </a:spcAft>
              <a:buNone/>
            </a:pPr>
            <a:r>
              <a:t/>
            </a:r>
            <a:endParaRPr sz="1500">
              <a:solidFill>
                <a:srgbClr val="0F1114"/>
              </a:solidFill>
              <a:highlight>
                <a:srgbClr val="FFFFFF"/>
              </a:highlight>
            </a:endParaRPr>
          </a:p>
        </p:txBody>
      </p:sp>
      <p:pic>
        <p:nvPicPr>
          <p:cNvPr id="89" name="Google Shape;89;p18" title="download (41).jpg"/>
          <p:cNvPicPr preferRelativeResize="0"/>
          <p:nvPr/>
        </p:nvPicPr>
        <p:blipFill>
          <a:blip r:embed="rId3">
            <a:alphaModFix/>
          </a:blip>
          <a:stretch>
            <a:fillRect/>
          </a:stretch>
        </p:blipFill>
        <p:spPr>
          <a:xfrm>
            <a:off x="4160826" y="2954200"/>
            <a:ext cx="2713600" cy="2032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6" name="Google Shape;96;p19" title="Unsupervised-Learning-Clustering.png"/>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idx="1" type="body"/>
          </p:nvPr>
        </p:nvSpPr>
        <p:spPr>
          <a:xfrm>
            <a:off x="465225" y="98802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b="1" lang="en" sz="1500">
                <a:solidFill>
                  <a:srgbClr val="0F1114"/>
                </a:solidFill>
                <a:highlight>
                  <a:srgbClr val="FFFFFF"/>
                </a:highlight>
              </a:rPr>
              <a:t>Reinforcement Learning</a:t>
            </a:r>
            <a:r>
              <a:rPr lang="en" sz="1500">
                <a:solidFill>
                  <a:srgbClr val="0F1114"/>
                </a:solidFill>
                <a:highlight>
                  <a:srgbClr val="FFFFFF"/>
                </a:highlight>
              </a:rPr>
              <a:t>:</a:t>
            </a:r>
            <a:endParaRPr sz="1500">
              <a:solidFill>
                <a:srgbClr val="0F1114"/>
              </a:solidFill>
              <a:highlight>
                <a:srgbClr val="FFFFFF"/>
              </a:highlight>
            </a:endParaRPr>
          </a:p>
          <a:p>
            <a:pPr indent="0" lvl="0" marL="914400" rtl="0" algn="l">
              <a:spcBef>
                <a:spcPts val="1200"/>
              </a:spcBef>
              <a:spcAft>
                <a:spcPts val="0"/>
              </a:spcAft>
              <a:buNone/>
            </a:pPr>
            <a:r>
              <a:rPr lang="en" sz="1500">
                <a:solidFill>
                  <a:srgbClr val="0F1114"/>
                </a:solidFill>
                <a:highlight>
                  <a:srgbClr val="FFFFFF"/>
                </a:highlight>
              </a:rPr>
              <a:t>The computer learns by taking actions and receiving feedback (rewards or penalties) based on those actions.</a:t>
            </a:r>
            <a:endParaRPr sz="1500">
              <a:solidFill>
                <a:srgbClr val="0F1114"/>
              </a:solidFill>
              <a:highlight>
                <a:srgbClr val="FFFFFF"/>
              </a:highlight>
            </a:endParaRPr>
          </a:p>
          <a:p>
            <a:pPr indent="0" lvl="0" marL="914400" rtl="0" algn="l">
              <a:spcBef>
                <a:spcPts val="1200"/>
              </a:spcBef>
              <a:spcAft>
                <a:spcPts val="1200"/>
              </a:spcAft>
              <a:buNone/>
            </a:pPr>
            <a:r>
              <a:rPr lang="en" sz="1500">
                <a:solidFill>
                  <a:srgbClr val="0F1114"/>
                </a:solidFill>
                <a:highlight>
                  <a:srgbClr val="FFFFFF"/>
                </a:highlight>
              </a:rPr>
              <a:t>Example: teaching a child to ride a bicycle.</a:t>
            </a:r>
            <a:endParaRPr sz="1500">
              <a:solidFill>
                <a:srgbClr val="0F1114"/>
              </a:solidFill>
              <a:highlight>
                <a:srgbClr val="FFFFFF"/>
              </a:highlight>
            </a:endParaRPr>
          </a:p>
        </p:txBody>
      </p:sp>
      <p:pic>
        <p:nvPicPr>
          <p:cNvPr id="102" name="Google Shape;102;p20" title="download (43).jpg"/>
          <p:cNvPicPr preferRelativeResize="0"/>
          <p:nvPr/>
        </p:nvPicPr>
        <p:blipFill>
          <a:blip r:embed="rId3">
            <a:alphaModFix/>
          </a:blip>
          <a:stretch>
            <a:fillRect/>
          </a:stretch>
        </p:blipFill>
        <p:spPr>
          <a:xfrm>
            <a:off x="2580962" y="2664250"/>
            <a:ext cx="4289125" cy="2151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8" name="Google Shape;10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9" name="Google Shape;109;p21" title="1724847000082.png"/>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BENEFITS</a:t>
            </a:r>
            <a:endParaRPr/>
          </a:p>
        </p:txBody>
      </p:sp>
      <p:sp>
        <p:nvSpPr>
          <p:cNvPr id="115" name="Google Shape;115;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rgbClr val="0F1114"/>
              </a:buClr>
              <a:buSzPts val="1500"/>
              <a:buChar char="●"/>
            </a:pPr>
            <a:r>
              <a:rPr lang="en" sz="1500">
                <a:solidFill>
                  <a:srgbClr val="0F1114"/>
                </a:solidFill>
                <a:highlight>
                  <a:srgbClr val="FFFFFF"/>
                </a:highlight>
              </a:rPr>
              <a:t>Machine learning can help automate repetitive tasks, saving time and reducing the need for human involvement.</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It helps make better decisions by analyzing large amounts of data and finding patterns humans might miss.</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Machine learning helps create personalized experiences, like recommendations based on what you like.</a:t>
            </a:r>
            <a:endParaRPr sz="1500">
              <a:solidFill>
                <a:srgbClr val="0F1114"/>
              </a:solidFill>
              <a:highlight>
                <a:srgbClr val="FFFFFF"/>
              </a:highlight>
            </a:endParaRPr>
          </a:p>
          <a:p>
            <a:pPr indent="0" lvl="0" marL="0" rtl="0" algn="l">
              <a:spcBef>
                <a:spcPts val="1200"/>
              </a:spcBef>
              <a:spcAft>
                <a:spcPts val="1200"/>
              </a:spcAft>
              <a:buNone/>
            </a:pPr>
            <a:r>
              <a:t/>
            </a:r>
            <a:endParaRPr sz="1500"/>
          </a:p>
        </p:txBody>
      </p:sp>
      <p:pic>
        <p:nvPicPr>
          <p:cNvPr id="116" name="Google Shape;116;p22" title="images (2).png"/>
          <p:cNvPicPr preferRelativeResize="0"/>
          <p:nvPr/>
        </p:nvPicPr>
        <p:blipFill>
          <a:blip r:embed="rId3">
            <a:alphaModFix/>
          </a:blip>
          <a:stretch>
            <a:fillRect/>
          </a:stretch>
        </p:blipFill>
        <p:spPr>
          <a:xfrm>
            <a:off x="5204324" y="2629500"/>
            <a:ext cx="2649675" cy="2359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idx="1" type="body"/>
          </p:nvPr>
        </p:nvSpPr>
        <p:spPr>
          <a:xfrm>
            <a:off x="399400" y="702950"/>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rgbClr val="0F1114"/>
              </a:buClr>
              <a:buSzPts val="1500"/>
              <a:buChar char="●"/>
            </a:pPr>
            <a:r>
              <a:rPr lang="en" sz="1500">
                <a:solidFill>
                  <a:srgbClr val="0F1114"/>
                </a:solidFill>
                <a:highlight>
                  <a:srgbClr val="FFFFFF"/>
                </a:highlight>
              </a:rPr>
              <a:t>It can predict future events or trends, which helps in planning ahead.</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Machine learning can work with huge amounts of data that would be too difficult for people to process manually.</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350">
                <a:solidFill>
                  <a:srgbClr val="0F1114"/>
                </a:solidFill>
                <a:highlight>
                  <a:srgbClr val="FFFFFF"/>
                </a:highlight>
              </a:rPr>
              <a:t>It can keep improving over time by learning from new data, making it more accurate and effective</a:t>
            </a:r>
            <a:endParaRPr sz="1500">
              <a:solidFill>
                <a:srgbClr val="0F1114"/>
              </a:solidFill>
              <a:highlight>
                <a:srgbClr val="FFFFFF"/>
              </a:highlight>
            </a:endParaRPr>
          </a:p>
          <a:p>
            <a:pPr indent="0" lvl="0" marL="914400" rtl="0" algn="l">
              <a:spcBef>
                <a:spcPts val="1200"/>
              </a:spcBef>
              <a:spcAft>
                <a:spcPts val="0"/>
              </a:spcAft>
              <a:buNone/>
            </a:pPr>
            <a:r>
              <a:t/>
            </a:r>
            <a:endParaRPr sz="1500">
              <a:solidFill>
                <a:srgbClr val="0F1114"/>
              </a:solidFill>
              <a:highlight>
                <a:srgbClr val="FFFFFF"/>
              </a:highlight>
            </a:endParaRPr>
          </a:p>
          <a:p>
            <a:pPr indent="0" lvl="0" marL="0" rtl="0" algn="l">
              <a:spcBef>
                <a:spcPts val="1200"/>
              </a:spcBef>
              <a:spcAft>
                <a:spcPts val="1200"/>
              </a:spcAft>
              <a:buNone/>
            </a:pPr>
            <a:r>
              <a:t/>
            </a:r>
            <a:endParaRPr sz="1500"/>
          </a:p>
        </p:txBody>
      </p:sp>
      <p:pic>
        <p:nvPicPr>
          <p:cNvPr id="122" name="Google Shape;122;p23" title="images (3).png"/>
          <p:cNvPicPr preferRelativeResize="0"/>
          <p:nvPr/>
        </p:nvPicPr>
        <p:blipFill>
          <a:blip r:embed="rId3">
            <a:alphaModFix/>
          </a:blip>
          <a:stretch>
            <a:fillRect/>
          </a:stretch>
        </p:blipFill>
        <p:spPr>
          <a:xfrm>
            <a:off x="4402049" y="2078375"/>
            <a:ext cx="3607250" cy="27019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DISADVANTAGES</a:t>
            </a:r>
            <a:endParaRPr/>
          </a:p>
        </p:txBody>
      </p:sp>
      <p:sp>
        <p:nvSpPr>
          <p:cNvPr id="128" name="Google Shape;128;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rgbClr val="0F1114"/>
              </a:buClr>
              <a:buSzPts val="1500"/>
              <a:buChar char="●"/>
            </a:pPr>
            <a:r>
              <a:rPr lang="en" sz="1500">
                <a:solidFill>
                  <a:srgbClr val="0F1114"/>
                </a:solidFill>
                <a:highlight>
                  <a:srgbClr val="FFFFFF"/>
                </a:highlight>
              </a:rPr>
              <a:t>If the data is biased (unfair or unbalanced), the machine might make unfair decisions.</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Machine learning often uses personal data, and if it’s not protected properly, people’s privacy could be at risk.</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Machines might replace humans in certain jobs, causing some people to lose their jobs.</a:t>
            </a:r>
            <a:endParaRPr sz="1500">
              <a:solidFill>
                <a:srgbClr val="0F1114"/>
              </a:solidFill>
              <a:highlight>
                <a:srgbClr val="FFFFFF"/>
              </a:highlight>
            </a:endParaRPr>
          </a:p>
          <a:p>
            <a:pPr indent="0" lvl="0" marL="0" rtl="0" algn="l">
              <a:spcBef>
                <a:spcPts val="1200"/>
              </a:spcBef>
              <a:spcAft>
                <a:spcPts val="1200"/>
              </a:spcAft>
              <a:buNone/>
            </a:pPr>
            <a:r>
              <a:t/>
            </a:r>
            <a:endParaRPr sz="1500"/>
          </a:p>
        </p:txBody>
      </p:sp>
      <p:pic>
        <p:nvPicPr>
          <p:cNvPr id="129" name="Google Shape;129;p24" title="images (16).jpg"/>
          <p:cNvPicPr preferRelativeResize="0"/>
          <p:nvPr/>
        </p:nvPicPr>
        <p:blipFill>
          <a:blip r:embed="rId3">
            <a:alphaModFix/>
          </a:blip>
          <a:stretch>
            <a:fillRect/>
          </a:stretch>
        </p:blipFill>
        <p:spPr>
          <a:xfrm>
            <a:off x="3692650" y="2499799"/>
            <a:ext cx="4469875" cy="2350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idx="1" type="body"/>
          </p:nvPr>
        </p:nvSpPr>
        <p:spPr>
          <a:xfrm>
            <a:off x="311700" y="6042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rgbClr val="0F1114"/>
              </a:buClr>
              <a:buSzPts val="1500"/>
              <a:buChar char="●"/>
            </a:pPr>
            <a:r>
              <a:rPr lang="en" sz="1500">
                <a:solidFill>
                  <a:srgbClr val="0F1114"/>
                </a:solidFill>
                <a:highlight>
                  <a:srgbClr val="FFFFFF"/>
                </a:highlight>
              </a:rPr>
              <a:t>Some machine learning systems are like a “black box,” meaning it’s hard to know how they make decisions</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Hackers can mess with the data or system to make it work wrongly, causing harm.</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If we depend too much on machines, we might stop thinking for ourselves and make mistakes.</a:t>
            </a:r>
            <a:endParaRPr sz="1500">
              <a:solidFill>
                <a:srgbClr val="0F1114"/>
              </a:solidFill>
              <a:highlight>
                <a:srgbClr val="FFFFFF"/>
              </a:highlight>
            </a:endParaRPr>
          </a:p>
          <a:p>
            <a:pPr indent="-323850" lvl="0" marL="457200" rtl="0" algn="l">
              <a:spcBef>
                <a:spcPts val="0"/>
              </a:spcBef>
              <a:spcAft>
                <a:spcPts val="0"/>
              </a:spcAft>
              <a:buClr>
                <a:srgbClr val="0F1114"/>
              </a:buClr>
              <a:buSzPts val="1500"/>
              <a:buChar char="●"/>
            </a:pPr>
            <a:r>
              <a:rPr lang="en" sz="1500">
                <a:solidFill>
                  <a:srgbClr val="0F1114"/>
                </a:solidFill>
                <a:highlight>
                  <a:srgbClr val="FFFFFF"/>
                </a:highlight>
              </a:rPr>
              <a:t>Machines might do things we didn’t expect, causing trouble.</a:t>
            </a:r>
            <a:endParaRPr sz="1500">
              <a:solidFill>
                <a:srgbClr val="0F1114"/>
              </a:solidFill>
              <a:highlight>
                <a:srgbClr val="FFFFFF"/>
              </a:highlight>
            </a:endParaRPr>
          </a:p>
          <a:p>
            <a:pPr indent="0" lvl="0" marL="457200" rtl="0" algn="l">
              <a:spcBef>
                <a:spcPts val="1200"/>
              </a:spcBef>
              <a:spcAft>
                <a:spcPts val="1200"/>
              </a:spcAft>
              <a:buNone/>
            </a:pPr>
            <a:r>
              <a:t/>
            </a:r>
            <a:endParaRPr sz="1500">
              <a:solidFill>
                <a:srgbClr val="0F1114"/>
              </a:solidFill>
              <a:highlight>
                <a:srgbClr val="FFFFFF"/>
              </a:highlight>
            </a:endParaRPr>
          </a:p>
        </p:txBody>
      </p:sp>
      <p:pic>
        <p:nvPicPr>
          <p:cNvPr id="135" name="Google Shape;135;p25" title="images (17).jpg"/>
          <p:cNvPicPr preferRelativeResize="0"/>
          <p:nvPr/>
        </p:nvPicPr>
        <p:blipFill>
          <a:blip r:embed="rId3">
            <a:alphaModFix/>
          </a:blip>
          <a:stretch>
            <a:fillRect/>
          </a:stretch>
        </p:blipFill>
        <p:spPr>
          <a:xfrm>
            <a:off x="3877069" y="2440200"/>
            <a:ext cx="4111031" cy="23021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
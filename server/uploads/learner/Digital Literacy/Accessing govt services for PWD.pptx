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106e6e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106e6e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106e6ea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106e6ea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0106e6ea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0106e6ea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106e6ea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106e6ea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0106e6ea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0106e6ea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0106e6ea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0106e6ea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0106e6ea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0106e6ea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0106e6ea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0106e6ea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0106e6e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0106e6e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40106e6ea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40106e6ea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0106e6ea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0106e6ea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isabilityaffairs.gov.i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ACCESSING GOVERNMENT SERVICES FOR PwD</a:t>
            </a:r>
            <a:endParaRPr/>
          </a:p>
        </p:txBody>
      </p:sp>
      <p:pic>
        <p:nvPicPr>
          <p:cNvPr id="55" name="Google Shape;55;p13" title="images (54).jpg"/>
          <p:cNvPicPr preferRelativeResize="0"/>
          <p:nvPr/>
        </p:nvPicPr>
        <p:blipFill>
          <a:blip r:embed="rId3">
            <a:alphaModFix/>
          </a:blip>
          <a:stretch>
            <a:fillRect/>
          </a:stretch>
        </p:blipFill>
        <p:spPr>
          <a:xfrm>
            <a:off x="2586400" y="2800875"/>
            <a:ext cx="3778975" cy="1968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757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The </a:t>
            </a:r>
            <a:r>
              <a:rPr b="1" lang="en">
                <a:solidFill>
                  <a:schemeClr val="dk1"/>
                </a:solidFill>
              </a:rPr>
              <a:t>Rights of Persons with Disabilities Act, 2016</a:t>
            </a:r>
            <a:r>
              <a:rPr lang="en">
                <a:solidFill>
                  <a:schemeClr val="dk1"/>
                </a:solidFill>
              </a:rPr>
              <a:t> is an Indian law that ensures equal rights and opportunities for people with disabilities (PWD).</a:t>
            </a:r>
            <a:endParaRPr>
              <a:solidFill>
                <a:schemeClr val="dk1"/>
              </a:solidFill>
            </a:endParaRPr>
          </a:p>
          <a:p>
            <a:pPr indent="0" lvl="0" marL="0" rtl="0" algn="l">
              <a:spcBef>
                <a:spcPts val="1200"/>
              </a:spcBef>
              <a:spcAft>
                <a:spcPts val="0"/>
              </a:spcAft>
              <a:buNone/>
            </a:pPr>
            <a:r>
              <a:rPr lang="en">
                <a:solidFill>
                  <a:schemeClr val="dk1"/>
                </a:solidFill>
              </a:rPr>
              <a:t>The Act promotes the full inclusion of persons with disabilities in society by ensuring accessibility, non-discrimination, and equal opportunities across various sectors.</a:t>
            </a:r>
            <a:endParaRPr>
              <a:solidFill>
                <a:schemeClr val="dk1"/>
              </a:solidFill>
            </a:endParaRPr>
          </a:p>
          <a:p>
            <a:pPr indent="0" lvl="0" marL="0" rtl="0" algn="l">
              <a:spcBef>
                <a:spcPts val="1200"/>
              </a:spcBef>
              <a:spcAft>
                <a:spcPts val="1200"/>
              </a:spcAft>
              <a:buClr>
                <a:schemeClr val="dk1"/>
              </a:buClr>
              <a:buSzPts val="1100"/>
              <a:buFont typeface="Arial"/>
              <a:buNone/>
            </a:pPr>
            <a:r>
              <a:t/>
            </a:r>
            <a:endParaRPr>
              <a:solidFill>
                <a:schemeClr val="dk1"/>
              </a:solidFill>
            </a:endParaRPr>
          </a:p>
        </p:txBody>
      </p:sp>
      <p:pic>
        <p:nvPicPr>
          <p:cNvPr id="61" name="Google Shape;61;p14" title="download (77).png"/>
          <p:cNvPicPr preferRelativeResize="0"/>
          <p:nvPr/>
        </p:nvPicPr>
        <p:blipFill>
          <a:blip r:embed="rId3">
            <a:alphaModFix/>
          </a:blip>
          <a:stretch>
            <a:fillRect/>
          </a:stretch>
        </p:blipFill>
        <p:spPr>
          <a:xfrm>
            <a:off x="2693750" y="2760350"/>
            <a:ext cx="3998650" cy="22392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PROVISIONS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AutoNum type="arabicPeriod"/>
            </a:pPr>
            <a:r>
              <a:rPr b="1" lang="en" sz="1500">
                <a:solidFill>
                  <a:schemeClr val="dk1"/>
                </a:solidFill>
              </a:rPr>
              <a:t>Access to Education and Employment</a:t>
            </a:r>
            <a:r>
              <a:rPr lang="en" sz="1500">
                <a:solidFill>
                  <a:schemeClr val="dk1"/>
                </a:solidFill>
              </a:rPr>
              <a:t>: PWD have the right to inclusive education and equal opportunities in employment.</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323850" lvl="0" marL="457200" rtl="0" algn="l">
              <a:spcBef>
                <a:spcPts val="1200"/>
              </a:spcBef>
              <a:spcAft>
                <a:spcPts val="0"/>
              </a:spcAft>
              <a:buClr>
                <a:schemeClr val="dk1"/>
              </a:buClr>
              <a:buSzPts val="1500"/>
              <a:buAutoNum type="arabicPeriod"/>
            </a:pPr>
            <a:r>
              <a:rPr b="1" lang="en" sz="1500">
                <a:solidFill>
                  <a:schemeClr val="dk1"/>
                </a:solidFill>
              </a:rPr>
              <a:t>Healthcare and Social Services</a:t>
            </a:r>
            <a:r>
              <a:rPr lang="en" sz="1500">
                <a:solidFill>
                  <a:schemeClr val="dk1"/>
                </a:solidFill>
              </a:rPr>
              <a:t>: The act mandates access to healthcare, social security, and other essential services.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download - 2025-04-03T142436.107.jpg"/>
          <p:cNvPicPr preferRelativeResize="0"/>
          <p:nvPr/>
        </p:nvPicPr>
        <p:blipFill>
          <a:blip r:embed="rId3">
            <a:alphaModFix/>
          </a:blip>
          <a:stretch>
            <a:fillRect/>
          </a:stretch>
        </p:blipFill>
        <p:spPr>
          <a:xfrm>
            <a:off x="1244938" y="3125538"/>
            <a:ext cx="2619375" cy="1743075"/>
          </a:xfrm>
          <a:prstGeom prst="rect">
            <a:avLst/>
          </a:prstGeom>
          <a:noFill/>
          <a:ln>
            <a:noFill/>
          </a:ln>
        </p:spPr>
      </p:pic>
      <p:pic>
        <p:nvPicPr>
          <p:cNvPr id="69" name="Google Shape;69;p15" title="download - 2025-04-03T142414.250.jpg"/>
          <p:cNvPicPr preferRelativeResize="0"/>
          <p:nvPr/>
        </p:nvPicPr>
        <p:blipFill>
          <a:blip r:embed="rId4">
            <a:alphaModFix/>
          </a:blip>
          <a:stretch>
            <a:fillRect/>
          </a:stretch>
        </p:blipFill>
        <p:spPr>
          <a:xfrm>
            <a:off x="5042463" y="3225563"/>
            <a:ext cx="296227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256875" y="62620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3.       </a:t>
            </a:r>
            <a:r>
              <a:rPr b="1" lang="en" sz="1500">
                <a:solidFill>
                  <a:schemeClr val="dk1"/>
                </a:solidFill>
              </a:rPr>
              <a:t>Accessible Infrastructure</a:t>
            </a:r>
            <a:r>
              <a:rPr lang="en" sz="1500">
                <a:solidFill>
                  <a:schemeClr val="dk1"/>
                </a:solidFill>
              </a:rPr>
              <a:t>: Government buildings and public spaces must be made accessible to people with disabilities.</a:t>
            </a:r>
            <a:endParaRPr sz="1500">
              <a:solidFill>
                <a:schemeClr val="dk1"/>
              </a:solidFill>
            </a:endParaRPr>
          </a:p>
          <a:p>
            <a:pPr indent="0" lvl="0" marL="457200" rtl="0" algn="l">
              <a:spcBef>
                <a:spcPts val="1200"/>
              </a:spcBef>
              <a:spcAft>
                <a:spcPts val="0"/>
              </a:spcAft>
              <a:buNone/>
            </a:pPr>
            <a:r>
              <a:t/>
            </a:r>
            <a:endParaRPr sz="1500">
              <a:solidFill>
                <a:schemeClr val="dk1"/>
              </a:solidFill>
            </a:endParaRPr>
          </a:p>
          <a:p>
            <a:pPr indent="0" lvl="0" marL="457200" rtl="0" algn="l">
              <a:spcBef>
                <a:spcPts val="1200"/>
              </a:spcBef>
              <a:spcAft>
                <a:spcPts val="0"/>
              </a:spcAft>
              <a:buNone/>
            </a:pPr>
            <a:r>
              <a:rPr b="1" lang="en" sz="1500">
                <a:solidFill>
                  <a:schemeClr val="dk1"/>
                </a:solidFill>
              </a:rPr>
              <a:t>4.       Rights Protection</a:t>
            </a:r>
            <a:r>
              <a:rPr lang="en" sz="1500">
                <a:solidFill>
                  <a:schemeClr val="dk1"/>
                </a:solidFill>
              </a:rPr>
              <a:t>: It also protects against discrimination and ensures participation in public life.</a:t>
            </a:r>
            <a:endParaRPr sz="1500">
              <a:solidFill>
                <a:schemeClr val="dk1"/>
              </a:solidFill>
            </a:endParaRPr>
          </a:p>
          <a:p>
            <a:pPr indent="0" lvl="0" marL="0" rtl="0" algn="l">
              <a:spcBef>
                <a:spcPts val="1200"/>
              </a:spcBef>
              <a:spcAft>
                <a:spcPts val="1200"/>
              </a:spcAft>
              <a:buNone/>
            </a:pPr>
            <a:r>
              <a:t/>
            </a:r>
            <a:endParaRPr/>
          </a:p>
        </p:txBody>
      </p:sp>
      <p:pic>
        <p:nvPicPr>
          <p:cNvPr id="75" name="Google Shape;75;p16" title="images (52).jpg"/>
          <p:cNvPicPr preferRelativeResize="0"/>
          <p:nvPr/>
        </p:nvPicPr>
        <p:blipFill>
          <a:blip r:embed="rId3">
            <a:alphaModFix/>
          </a:blip>
          <a:stretch>
            <a:fillRect/>
          </a:stretch>
        </p:blipFill>
        <p:spPr>
          <a:xfrm>
            <a:off x="2822512" y="2648500"/>
            <a:ext cx="3498975" cy="2208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body"/>
          </p:nvPr>
        </p:nvSpPr>
        <p:spPr>
          <a:xfrm>
            <a:off x="311700" y="6810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The Indian government provides a range of services for PWD, including disability certificates, financial assistance, educational support, and vocational training. Many of these services can be accessed online to increase convenience and accessibility.</a:t>
            </a:r>
            <a:endParaRPr>
              <a:solidFill>
                <a:schemeClr val="dk1"/>
              </a:solidFill>
            </a:endParaRPr>
          </a:p>
          <a:p>
            <a:pPr indent="0" lvl="0" marL="0" rtl="0" algn="l">
              <a:spcBef>
                <a:spcPts val="1200"/>
              </a:spcBef>
              <a:spcAft>
                <a:spcPts val="1200"/>
              </a:spcAft>
              <a:buNone/>
            </a:pPr>
            <a:r>
              <a:t/>
            </a:r>
            <a:endParaRPr/>
          </a:p>
        </p:txBody>
      </p:sp>
      <p:pic>
        <p:nvPicPr>
          <p:cNvPr id="81" name="Google Shape;81;p17" title="download - 2025-04-03T143137.050.jpg"/>
          <p:cNvPicPr preferRelativeResize="0"/>
          <p:nvPr/>
        </p:nvPicPr>
        <p:blipFill>
          <a:blip r:embed="rId3">
            <a:alphaModFix/>
          </a:blip>
          <a:stretch>
            <a:fillRect/>
          </a:stretch>
        </p:blipFill>
        <p:spPr>
          <a:xfrm>
            <a:off x="2586500" y="2359400"/>
            <a:ext cx="4331825" cy="2256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387350" lvl="0" marL="457200" rtl="0" algn="l">
              <a:lnSpc>
                <a:spcPct val="115000"/>
              </a:lnSpc>
              <a:spcBef>
                <a:spcPts val="1200"/>
              </a:spcBef>
              <a:spcAft>
                <a:spcPts val="0"/>
              </a:spcAft>
              <a:buSzPts val="2500"/>
              <a:buAutoNum type="arabicPeriod"/>
            </a:pPr>
            <a:r>
              <a:rPr b="1" lang="en" sz="2500"/>
              <a:t>Department of Empowerment of Persons with Disabilities (DEPwD)</a:t>
            </a:r>
            <a:endParaRPr sz="2500"/>
          </a:p>
        </p:txBody>
      </p:sp>
      <p:sp>
        <p:nvSpPr>
          <p:cNvPr id="87" name="Google Shape;87;p18"/>
          <p:cNvSpPr txBox="1"/>
          <p:nvPr>
            <p:ph idx="1" type="body"/>
          </p:nvPr>
        </p:nvSpPr>
        <p:spPr>
          <a:xfrm>
            <a:off x="256875" y="1678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The DEPwD is part of the Ministry of Social Justice and Empowerment and works to support PWD in India through various schemes and programs.</a:t>
            </a:r>
            <a:endParaRPr sz="1800">
              <a:solidFill>
                <a:schemeClr val="dk1"/>
              </a:solidFill>
            </a:endParaRPr>
          </a:p>
          <a:p>
            <a:pPr indent="0" lvl="0" marL="0" rtl="0" algn="l">
              <a:spcBef>
                <a:spcPts val="1200"/>
              </a:spcBef>
              <a:spcAft>
                <a:spcPts val="1200"/>
              </a:spcAft>
              <a:buNone/>
            </a:pPr>
            <a:r>
              <a:t/>
            </a:r>
            <a:endParaRPr/>
          </a:p>
        </p:txBody>
      </p:sp>
      <p:pic>
        <p:nvPicPr>
          <p:cNvPr id="88" name="Google Shape;88;p18" title="download - 2025-04-03T143327.388.jpg"/>
          <p:cNvPicPr preferRelativeResize="0"/>
          <p:nvPr/>
        </p:nvPicPr>
        <p:blipFill>
          <a:blip r:embed="rId3">
            <a:alphaModFix/>
          </a:blip>
          <a:stretch>
            <a:fillRect/>
          </a:stretch>
        </p:blipFill>
        <p:spPr>
          <a:xfrm>
            <a:off x="2796104" y="2623075"/>
            <a:ext cx="3551800" cy="2234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00" y="615250"/>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500">
                <a:solidFill>
                  <a:schemeClr val="dk1"/>
                </a:solidFill>
              </a:rPr>
              <a:t>Disability Certificate Application</a:t>
            </a:r>
            <a:r>
              <a:rPr lang="en" sz="1500">
                <a:solidFill>
                  <a:schemeClr val="dk1"/>
                </a:solidFill>
              </a:rPr>
              <a:t>: PWD can apply online for a disability certificate through the DEPwD portal. This certificate is essential for accessing government services and benefits, such as financial aid, healthcare support, and reservation in education and employment.</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Schemes for Skill Development and Employment</a:t>
            </a:r>
            <a:r>
              <a:rPr lang="en" sz="1500">
                <a:solidFill>
                  <a:schemeClr val="dk1"/>
                </a:solidFill>
              </a:rPr>
              <a:t>: DEPwD provides several schemes for the vocational training and employment of PWD, such as the </a:t>
            </a:r>
            <a:r>
              <a:rPr b="1" lang="en" sz="1500">
                <a:solidFill>
                  <a:schemeClr val="dk1"/>
                </a:solidFill>
              </a:rPr>
              <a:t>National Handicapped Finance and Development Corporation (NHFDC)</a:t>
            </a:r>
            <a:r>
              <a:rPr lang="en" sz="1500">
                <a:solidFill>
                  <a:schemeClr val="dk1"/>
                </a:solidFill>
              </a:rPr>
              <a:t>, which offers financial assistance for self-employment and small businesses.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Accessible Infrastructure</a:t>
            </a:r>
            <a:r>
              <a:rPr lang="en" sz="1500">
                <a:solidFill>
                  <a:schemeClr val="dk1"/>
                </a:solidFill>
              </a:rPr>
              <a:t>: The government promotes accessible infrastructure, including ramps, tactile paths, and signages for PWD in public places and transport systems.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ONLINE ACCESS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PWD in India can access these services by visiting the DEPwD website (</a:t>
            </a:r>
            <a:r>
              <a:rPr lang="en" u="sng">
                <a:solidFill>
                  <a:srgbClr val="1155CC"/>
                </a:solidFill>
                <a:hlinkClick r:id="rId3">
                  <a:extLst>
                    <a:ext uri="{A12FA001-AC4F-418D-AE19-62706E023703}">
                      <ahyp:hlinkClr val="tx"/>
                    </a:ext>
                  </a:extLst>
                </a:hlinkClick>
              </a:rPr>
              <a:t>https://disabilityaffairs.gov.in</a:t>
            </a:r>
            <a:r>
              <a:rPr lang="en">
                <a:solidFill>
                  <a:schemeClr val="dk1"/>
                </a:solidFill>
              </a:rPr>
              <a:t>), where they can apply for certificates, view government schemes, and find information about assistive technologies and other support services.</a:t>
            </a:r>
            <a:endParaRPr>
              <a:solidFill>
                <a:schemeClr val="dk1"/>
              </a:solidFill>
            </a:endParaRPr>
          </a:p>
          <a:p>
            <a:pPr indent="0" lvl="0" marL="0" rtl="0" algn="l">
              <a:spcBef>
                <a:spcPts val="1200"/>
              </a:spcBef>
              <a:spcAft>
                <a:spcPts val="0"/>
              </a:spcAft>
              <a:buNone/>
            </a:pPr>
            <a:r>
              <a:rPr b="1" lang="en">
                <a:solidFill>
                  <a:schemeClr val="dk1"/>
                </a:solidFill>
              </a:rPr>
              <a:t>Accessibility Features</a:t>
            </a:r>
            <a:r>
              <a:rPr lang="en">
                <a:solidFill>
                  <a:schemeClr val="dk1"/>
                </a:solidFill>
              </a:rPr>
              <a:t>: The DEPwD website is designed with accessibility in mind and is compatible with screen readers and other assistive technologies. The portal also supports different Indian languages.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2500"/>
              <a:t>Online Benefits and Schemes</a:t>
            </a:r>
            <a:r>
              <a:rPr lang="en" sz="2500"/>
              <a:t>:</a:t>
            </a:r>
            <a:endParaRPr sz="2500"/>
          </a:p>
          <a:p>
            <a:pPr indent="0" lvl="0" marL="0" rtl="0" algn="l">
              <a:spcBef>
                <a:spcPts val="1200"/>
              </a:spcBef>
              <a:spcAft>
                <a:spcPts val="0"/>
              </a:spcAft>
              <a:buNone/>
            </a:pPr>
            <a:r>
              <a:t/>
            </a:r>
            <a:endParaRPr sz="2500"/>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800">
                <a:solidFill>
                  <a:schemeClr val="dk1"/>
                </a:solidFill>
              </a:rPr>
              <a:t>Scholarships and Education Support</a:t>
            </a:r>
            <a:r>
              <a:rPr lang="en" sz="1800">
                <a:solidFill>
                  <a:schemeClr val="dk1"/>
                </a:solidFill>
              </a:rPr>
              <a:t>: </a:t>
            </a:r>
            <a:endParaRPr sz="1800">
              <a:solidFill>
                <a:schemeClr val="dk1"/>
              </a:solidFill>
            </a:endParaRPr>
          </a:p>
          <a:p>
            <a:pPr indent="0" lvl="0" marL="0" rtl="0" algn="l">
              <a:spcBef>
                <a:spcPts val="1200"/>
              </a:spcBef>
              <a:spcAft>
                <a:spcPts val="0"/>
              </a:spcAft>
              <a:buNone/>
            </a:pPr>
            <a:r>
              <a:rPr lang="en" sz="1800">
                <a:solidFill>
                  <a:schemeClr val="dk1"/>
                </a:solidFill>
              </a:rPr>
              <a:t>The government of India offers scholarships and financial aid to PWD to support their education at various levels, from primary education to higher education. PWD can apply for these scholarships through online portals like the </a:t>
            </a:r>
            <a:r>
              <a:rPr b="1" lang="en" sz="1800">
                <a:solidFill>
                  <a:schemeClr val="dk1"/>
                </a:solidFill>
              </a:rPr>
              <a:t>National Scholarship Portal (NSP)</a:t>
            </a:r>
            <a:r>
              <a:rPr lang="en" sz="1800">
                <a:solidFill>
                  <a:schemeClr val="dk1"/>
                </a:solidFill>
              </a:rPr>
              <a:t>.</a:t>
            </a:r>
            <a:endParaRPr sz="1800">
              <a:solidFill>
                <a:schemeClr val="dk1"/>
              </a:solidFill>
            </a:endParaRPr>
          </a:p>
          <a:p>
            <a:pPr indent="0" lvl="0" marL="0" rtl="0" algn="l">
              <a:spcBef>
                <a:spcPts val="1200"/>
              </a:spcBef>
              <a:spcAft>
                <a:spcPts val="1200"/>
              </a:spcAft>
              <a:buNone/>
            </a:pPr>
            <a:r>
              <a:t/>
            </a:r>
            <a:endParaRPr/>
          </a:p>
        </p:txBody>
      </p:sp>
      <p:pic>
        <p:nvPicPr>
          <p:cNvPr id="106" name="Google Shape;106;p21" title="download (78).png"/>
          <p:cNvPicPr preferRelativeResize="0"/>
          <p:nvPr/>
        </p:nvPicPr>
        <p:blipFill>
          <a:blip r:embed="rId3">
            <a:alphaModFix/>
          </a:blip>
          <a:stretch>
            <a:fillRect/>
          </a:stretch>
        </p:blipFill>
        <p:spPr>
          <a:xfrm>
            <a:off x="3394900" y="3077377"/>
            <a:ext cx="3207425" cy="1998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311700" y="6920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Disability Pension and Financial Aid</a:t>
            </a:r>
            <a:r>
              <a:rPr lang="en">
                <a:solidFill>
                  <a:schemeClr val="dk1"/>
                </a:solidFill>
              </a:rPr>
              <a:t>: </a:t>
            </a:r>
            <a:endParaRPr>
              <a:solidFill>
                <a:schemeClr val="dk1"/>
              </a:solidFill>
            </a:endParaRPr>
          </a:p>
          <a:p>
            <a:pPr indent="0" lvl="0" marL="0" rtl="0" algn="l">
              <a:spcBef>
                <a:spcPts val="1200"/>
              </a:spcBef>
              <a:spcAft>
                <a:spcPts val="0"/>
              </a:spcAft>
              <a:buNone/>
            </a:pPr>
            <a:r>
              <a:rPr lang="en">
                <a:solidFill>
                  <a:schemeClr val="dk1"/>
                </a:solidFill>
              </a:rPr>
              <a:t>Various state and central government schemes offer disability pensions or financial aid to low-income families with a member who has a disability. These benefits can often be applied for online, making it easier for PWD to access financial support.</a:t>
            </a:r>
            <a:endParaRPr>
              <a:solidFill>
                <a:schemeClr val="dk1"/>
              </a:solidFill>
            </a:endParaRPr>
          </a:p>
          <a:p>
            <a:pPr indent="0" lvl="0" marL="0" rtl="0" algn="l">
              <a:spcBef>
                <a:spcPts val="1200"/>
              </a:spcBef>
              <a:spcAft>
                <a:spcPts val="1200"/>
              </a:spcAft>
              <a:buNone/>
            </a:pPr>
            <a:r>
              <a:t/>
            </a:r>
            <a:endParaRPr/>
          </a:p>
        </p:txBody>
      </p:sp>
      <p:pic>
        <p:nvPicPr>
          <p:cNvPr id="112" name="Google Shape;112;p22" title="download - 2025-04-03T152941.779.jpg"/>
          <p:cNvPicPr preferRelativeResize="0"/>
          <p:nvPr/>
        </p:nvPicPr>
        <p:blipFill>
          <a:blip r:embed="rId3">
            <a:alphaModFix/>
          </a:blip>
          <a:stretch>
            <a:fillRect/>
          </a:stretch>
        </p:blipFill>
        <p:spPr>
          <a:xfrm>
            <a:off x="1807500" y="2992750"/>
            <a:ext cx="6076075" cy="197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idx="1" type="body"/>
          </p:nvPr>
        </p:nvSpPr>
        <p:spPr>
          <a:xfrm>
            <a:off x="311700" y="6700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Accessible Forms and Websites</a:t>
            </a:r>
            <a:r>
              <a:rPr lang="en">
                <a:solidFill>
                  <a:schemeClr val="dk1"/>
                </a:solidFill>
              </a:rPr>
              <a:t>:</a:t>
            </a:r>
            <a:endParaRPr>
              <a:solidFill>
                <a:schemeClr val="dk1"/>
              </a:solidFill>
            </a:endParaRPr>
          </a:p>
          <a:p>
            <a:pPr indent="0" lvl="0" marL="0" rtl="0" algn="l">
              <a:spcBef>
                <a:spcPts val="1200"/>
              </a:spcBef>
              <a:spcAft>
                <a:spcPts val="0"/>
              </a:spcAft>
              <a:buNone/>
            </a:pPr>
            <a:r>
              <a:rPr lang="en">
                <a:solidFill>
                  <a:schemeClr val="dk1"/>
                </a:solidFill>
              </a:rPr>
              <a:t> The government ensures that the application forms for these services are available in accessible formats, including screen reader-compatible PDFs, and some portals also support voice commands or text-to-speech features.</a:t>
            </a:r>
            <a:endParaRPr>
              <a:solidFill>
                <a:schemeClr val="dk1"/>
              </a:solidFill>
            </a:endParaRPr>
          </a:p>
          <a:p>
            <a:pPr indent="0" lvl="0" marL="0" rtl="0" algn="l">
              <a:spcBef>
                <a:spcPts val="1200"/>
              </a:spcBef>
              <a:spcAft>
                <a:spcPts val="1200"/>
              </a:spcAft>
              <a:buNone/>
            </a:pPr>
            <a:r>
              <a:t/>
            </a:r>
            <a:endParaRPr/>
          </a:p>
        </p:txBody>
      </p:sp>
      <p:pic>
        <p:nvPicPr>
          <p:cNvPr id="118" name="Google Shape;118;p23" title="download - 2025-04-03T153110.156.jpg"/>
          <p:cNvPicPr preferRelativeResize="0"/>
          <p:nvPr/>
        </p:nvPicPr>
        <p:blipFill>
          <a:blip r:embed="rId3">
            <a:alphaModFix/>
          </a:blip>
          <a:stretch>
            <a:fillRect/>
          </a:stretch>
        </p:blipFill>
        <p:spPr>
          <a:xfrm>
            <a:off x="2558375" y="2571750"/>
            <a:ext cx="3866550" cy="202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Other Key Government Programs</a:t>
            </a:r>
            <a:r>
              <a:rPr lang="en" sz="2500"/>
              <a:t>:</a:t>
            </a:r>
            <a:endParaRPr sz="2500"/>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800">
                <a:solidFill>
                  <a:schemeClr val="dk1"/>
                </a:solidFill>
              </a:rPr>
              <a:t>Accessible Voting</a:t>
            </a:r>
            <a:r>
              <a:rPr lang="en" sz="1800">
                <a:solidFill>
                  <a:schemeClr val="dk1"/>
                </a:solidFill>
              </a:rPr>
              <a:t>:</a:t>
            </a:r>
            <a:endParaRPr sz="1800">
              <a:solidFill>
                <a:schemeClr val="dk1"/>
              </a:solidFill>
            </a:endParaRPr>
          </a:p>
          <a:p>
            <a:pPr indent="0" lvl="0" marL="0" rtl="0" algn="l">
              <a:spcBef>
                <a:spcPts val="1200"/>
              </a:spcBef>
              <a:spcAft>
                <a:spcPts val="1200"/>
              </a:spcAft>
              <a:buNone/>
            </a:pPr>
            <a:r>
              <a:rPr lang="en" sz="1800">
                <a:solidFill>
                  <a:schemeClr val="dk1"/>
                </a:solidFill>
              </a:rPr>
              <a:t> The Election Commission of India has made efforts to ensure that polling stations and election materials are accessible to PWD. In addition, PWD can register to vote online and request postal ballots if needed</a:t>
            </a:r>
            <a:endParaRPr sz="1800"/>
          </a:p>
        </p:txBody>
      </p:sp>
      <p:pic>
        <p:nvPicPr>
          <p:cNvPr id="125" name="Google Shape;125;p24" title="images (53).jpg"/>
          <p:cNvPicPr preferRelativeResize="0"/>
          <p:nvPr/>
        </p:nvPicPr>
        <p:blipFill>
          <a:blip r:embed="rId3">
            <a:alphaModFix/>
          </a:blip>
          <a:stretch>
            <a:fillRect/>
          </a:stretch>
        </p:blipFill>
        <p:spPr>
          <a:xfrm>
            <a:off x="970826" y="2869651"/>
            <a:ext cx="2920650" cy="1943550"/>
          </a:xfrm>
          <a:prstGeom prst="rect">
            <a:avLst/>
          </a:prstGeom>
          <a:noFill/>
          <a:ln>
            <a:noFill/>
          </a:ln>
        </p:spPr>
      </p:pic>
      <p:pic>
        <p:nvPicPr>
          <p:cNvPr id="126" name="Google Shape;126;p24" title="download - 2025-04-03T153319.020.jpg"/>
          <p:cNvPicPr preferRelativeResize="0"/>
          <p:nvPr/>
        </p:nvPicPr>
        <p:blipFill>
          <a:blip r:embed="rId4">
            <a:alphaModFix/>
          </a:blip>
          <a:stretch>
            <a:fillRect/>
          </a:stretch>
        </p:blipFill>
        <p:spPr>
          <a:xfrm>
            <a:off x="4692950" y="2869650"/>
            <a:ext cx="3239232" cy="1943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
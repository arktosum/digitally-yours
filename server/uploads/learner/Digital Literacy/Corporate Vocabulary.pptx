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40292bd7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40292bd7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40292bd73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40292bd73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40292bd73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40292bd73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40292bd73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40292bd73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40292bd73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40292bd73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40292bd73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40292bd73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0292bd73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0292bd73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0292bd73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0292bd73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40292bd731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40292bd73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0292bd73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0292bd73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0292bd73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0292bd73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40292bd73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40292bd73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40292bd73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40292bd73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0292bd73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0292bd73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40292bd73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40292bd73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40292bd731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40292bd731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88458" y="1128325"/>
            <a:ext cx="8520600" cy="2052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COMMON VOCABULARY USED IN CORPORATE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Key Terms for Work and Tasks:</a:t>
            </a:r>
            <a:endParaRPr b="1" sz="2500"/>
          </a:p>
          <a:p>
            <a:pPr indent="0" lvl="0" marL="0" rtl="0" algn="l">
              <a:spcBef>
                <a:spcPts val="400"/>
              </a:spcBef>
              <a:spcAft>
                <a:spcPts val="0"/>
              </a:spcAft>
              <a:buNone/>
            </a:pPr>
            <a:r>
              <a:t/>
            </a:r>
            <a:endParaRPr sz="2500"/>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23850" lvl="0" marL="457200" rtl="0" algn="l">
              <a:spcBef>
                <a:spcPts val="1200"/>
              </a:spcBef>
              <a:spcAft>
                <a:spcPts val="0"/>
              </a:spcAft>
              <a:buClr>
                <a:schemeClr val="dk1"/>
              </a:buClr>
              <a:buSzPts val="1500"/>
              <a:buChar char="●"/>
            </a:pPr>
            <a:r>
              <a:rPr b="1" lang="en" sz="1500">
                <a:solidFill>
                  <a:schemeClr val="dk1"/>
                </a:solidFill>
              </a:rPr>
              <a:t>Deliverables</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Specific tasks or outcomes that are expected to be completed.</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Deadline</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date by which a task or project needs to be finished.</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Bandwidth</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Refers to the capacity or time someone has to handle tasks or projects.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Proactive</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Taking action in anticipation of future problems, rather than reacting to them.</a:t>
            </a:r>
            <a:endParaRPr sz="1500">
              <a:solidFill>
                <a:schemeClr val="dk1"/>
              </a:solidFill>
            </a:endParaRPr>
          </a:p>
          <a:p>
            <a:pPr indent="0" lvl="0" marL="0" rtl="0" algn="l">
              <a:spcBef>
                <a:spcPts val="1200"/>
              </a:spcBef>
              <a:spcAft>
                <a:spcPts val="1200"/>
              </a:spcAft>
              <a:buNone/>
            </a:pPr>
            <a:r>
              <a:t/>
            </a:r>
            <a:endParaRPr sz="1500"/>
          </a:p>
        </p:txBody>
      </p:sp>
      <p:pic>
        <p:nvPicPr>
          <p:cNvPr id="61" name="Google Shape;61;p14"/>
          <p:cNvPicPr preferRelativeResize="0"/>
          <p:nvPr/>
        </p:nvPicPr>
        <p:blipFill>
          <a:blip r:embed="rId3">
            <a:alphaModFix/>
          </a:blip>
          <a:stretch>
            <a:fillRect/>
          </a:stretch>
        </p:blipFill>
        <p:spPr>
          <a:xfrm>
            <a:off x="6773700" y="1861575"/>
            <a:ext cx="2058600" cy="10961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idx="1" type="body"/>
          </p:nvPr>
        </p:nvSpPr>
        <p:spPr>
          <a:xfrm>
            <a:off x="311700" y="571400"/>
            <a:ext cx="8520600" cy="3416400"/>
          </a:xfrm>
          <a:prstGeom prst="rect">
            <a:avLst/>
          </a:prstGeom>
        </p:spPr>
        <p:txBody>
          <a:bodyPr anchorCtr="0" anchor="t" bIns="91425" lIns="91425" spcFirstLastPara="1" rIns="91425" wrap="square" tIns="91425">
            <a:normAutofit lnSpcReduction="20000"/>
          </a:bodyPr>
          <a:lstStyle/>
          <a:p>
            <a:pPr indent="-323850" lvl="0" marL="457200" rtl="0" algn="l">
              <a:spcBef>
                <a:spcPts val="1200"/>
              </a:spcBef>
              <a:spcAft>
                <a:spcPts val="0"/>
              </a:spcAft>
              <a:buClr>
                <a:schemeClr val="dk1"/>
              </a:buClr>
              <a:buSzPts val="1500"/>
              <a:buChar char="●"/>
            </a:pPr>
            <a:r>
              <a:rPr b="1" lang="en" sz="1500">
                <a:solidFill>
                  <a:schemeClr val="dk1"/>
                </a:solidFill>
              </a:rPr>
              <a:t>Scope</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boundaries or extent of a project or task.</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Milestones</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Key points in a project that indicate progress.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Outsourcing</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practice of contracting third parties to handle specific business tasks.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Delegation</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Assigning tasks or responsibilities to others.</a:t>
            </a:r>
            <a:endParaRPr sz="1500">
              <a:solidFill>
                <a:schemeClr val="dk1"/>
              </a:solidFill>
            </a:endParaRPr>
          </a:p>
          <a:p>
            <a:pPr indent="0" lvl="0" marL="0" rtl="0" algn="l">
              <a:spcBef>
                <a:spcPts val="1200"/>
              </a:spcBef>
              <a:spcAft>
                <a:spcPts val="1200"/>
              </a:spcAft>
              <a:buNone/>
            </a:pPr>
            <a:r>
              <a:t/>
            </a:r>
            <a:endParaRPr sz="1500"/>
          </a:p>
        </p:txBody>
      </p:sp>
      <p:pic>
        <p:nvPicPr>
          <p:cNvPr id="67" name="Google Shape;67;p15"/>
          <p:cNvPicPr preferRelativeResize="0"/>
          <p:nvPr/>
        </p:nvPicPr>
        <p:blipFill>
          <a:blip r:embed="rId3">
            <a:alphaModFix/>
          </a:blip>
          <a:stretch>
            <a:fillRect/>
          </a:stretch>
        </p:blipFill>
        <p:spPr>
          <a:xfrm>
            <a:off x="6043650" y="2840213"/>
            <a:ext cx="2362200" cy="1933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idx="1" type="body"/>
          </p:nvPr>
        </p:nvSpPr>
        <p:spPr>
          <a:xfrm>
            <a:off x="311700" y="702950"/>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ROI (Return on Investment)</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The return or benefit gained from an investment.</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KPIs (Key Performance Indicators)</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Metrics used to evaluate the success of an individual or organization in achieving objectives.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Scalability</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ability of a business or system to grow and handle increased demand.</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Leverage</a:t>
            </a:r>
            <a:r>
              <a:rPr lang="en" sz="1500">
                <a:solidFill>
                  <a:schemeClr val="dk1"/>
                </a:solidFill>
              </a:rPr>
              <a:t>: </a:t>
            </a:r>
            <a:endParaRPr sz="1500">
              <a:solidFill>
                <a:schemeClr val="dk1"/>
              </a:solidFill>
            </a:endParaRPr>
          </a:p>
          <a:p>
            <a:pPr indent="0" lvl="0" marL="457200" rtl="0" algn="l">
              <a:spcBef>
                <a:spcPts val="1200"/>
              </a:spcBef>
              <a:spcAft>
                <a:spcPts val="1200"/>
              </a:spcAft>
              <a:buNone/>
            </a:pPr>
            <a:r>
              <a:rPr lang="en" sz="1500">
                <a:solidFill>
                  <a:schemeClr val="dk1"/>
                </a:solidFill>
              </a:rPr>
              <a:t>Using resources effectively to maximize potential return or impact.</a:t>
            </a:r>
            <a:endParaRPr sz="1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1" type="body"/>
          </p:nvPr>
        </p:nvSpPr>
        <p:spPr>
          <a:xfrm>
            <a:off x="311700" y="768725"/>
            <a:ext cx="8520600" cy="3416400"/>
          </a:xfrm>
          <a:prstGeom prst="rect">
            <a:avLst/>
          </a:prstGeom>
        </p:spPr>
        <p:txBody>
          <a:bodyPr anchorCtr="0" anchor="t" bIns="91425" lIns="91425" spcFirstLastPara="1" rIns="91425" wrap="square" tIns="91425">
            <a:normAutofit/>
          </a:bodyPr>
          <a:lstStyle/>
          <a:p>
            <a:pPr indent="-323850" lvl="0" marL="457200" rtl="0" algn="l">
              <a:spcBef>
                <a:spcPts val="1200"/>
              </a:spcBef>
              <a:spcAft>
                <a:spcPts val="0"/>
              </a:spcAft>
              <a:buClr>
                <a:schemeClr val="dk1"/>
              </a:buClr>
              <a:buSzPts val="1500"/>
              <a:buChar char="●"/>
            </a:pPr>
            <a:r>
              <a:rPr b="1" lang="en" sz="1500">
                <a:solidFill>
                  <a:schemeClr val="dk1"/>
                </a:solidFill>
              </a:rPr>
              <a:t>Benchmarking</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Comparing a company's performance or processes to industry standards or best practices.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Stakeholders</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Individuals or groups who have an interest in the success or failure of a company (e.g., employees, investors, customers).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Value Proposition</a:t>
            </a:r>
            <a:r>
              <a:rPr lang="en" sz="1500">
                <a:solidFill>
                  <a:schemeClr val="dk1"/>
                </a:solidFill>
              </a:rPr>
              <a:t>:</a:t>
            </a:r>
            <a:endParaRPr sz="1500">
              <a:solidFill>
                <a:schemeClr val="dk1"/>
              </a:solidFill>
            </a:endParaRPr>
          </a:p>
          <a:p>
            <a:pPr indent="0" lvl="0" marL="457200" rtl="0" algn="l">
              <a:spcBef>
                <a:spcPts val="1200"/>
              </a:spcBef>
              <a:spcAft>
                <a:spcPts val="1200"/>
              </a:spcAft>
              <a:buNone/>
            </a:pPr>
            <a:r>
              <a:rPr lang="en" sz="1500">
                <a:solidFill>
                  <a:schemeClr val="dk1"/>
                </a:solidFill>
              </a:rPr>
              <a:t> The unique value a product or service provides to customers.</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FINANCIAL TERMS</a:t>
            </a:r>
            <a:endParaRPr/>
          </a:p>
        </p:txBody>
      </p:sp>
      <p:sp>
        <p:nvSpPr>
          <p:cNvPr id="83" name="Google Shape;8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23850" lvl="0" marL="457200" rtl="0" algn="l">
              <a:spcBef>
                <a:spcPts val="1200"/>
              </a:spcBef>
              <a:spcAft>
                <a:spcPts val="0"/>
              </a:spcAft>
              <a:buClr>
                <a:schemeClr val="dk1"/>
              </a:buClr>
              <a:buSzPts val="1500"/>
              <a:buChar char="●"/>
            </a:pPr>
            <a:r>
              <a:rPr b="1" lang="en" sz="1500">
                <a:solidFill>
                  <a:schemeClr val="dk1"/>
                </a:solidFill>
              </a:rPr>
              <a:t>Revenue</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The total income generated from business activities before expenses.</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Profit Margin</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percentage of revenue that remains as profit after all expenses are deducted.</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Liquidity</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ease with which assets can be converted into cash.</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Capital</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Money or resources available for investment or business operations.</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COMMUNICATION AND MEETINGS</a:t>
            </a:r>
            <a:endParaRPr/>
          </a:p>
        </p:txBody>
      </p:sp>
      <p:sp>
        <p:nvSpPr>
          <p:cNvPr id="89" name="Google Shape;8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23850" lvl="0" marL="457200" rtl="0" algn="l">
              <a:spcBef>
                <a:spcPts val="1200"/>
              </a:spcBef>
              <a:spcAft>
                <a:spcPts val="0"/>
              </a:spcAft>
              <a:buClr>
                <a:schemeClr val="dk1"/>
              </a:buClr>
              <a:buSzPts val="1500"/>
              <a:buChar char="●"/>
            </a:pPr>
            <a:r>
              <a:rPr b="1" lang="en" sz="1500">
                <a:solidFill>
                  <a:schemeClr val="dk1"/>
                </a:solidFill>
              </a:rPr>
              <a:t>Agenda</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A list of topics to be discussed during a meeting.</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Follow-up</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Checking back on progress or outcomes after a meeting or task.</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Alignment</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Ensuring that everyone involved is in agreement or working towards the same goal.</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Feedback</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Information provided to help improve performance or outcomes.</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LEADERSHIP AND MANAGEMENT</a:t>
            </a:r>
            <a:endParaRPr/>
          </a:p>
        </p:txBody>
      </p:sp>
      <p:sp>
        <p:nvSpPr>
          <p:cNvPr id="95" name="Google Shape;95;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23850" lvl="0" marL="457200" rtl="0" algn="l">
              <a:spcBef>
                <a:spcPts val="1200"/>
              </a:spcBef>
              <a:spcAft>
                <a:spcPts val="0"/>
              </a:spcAft>
              <a:buClr>
                <a:schemeClr val="dk1"/>
              </a:buClr>
              <a:buSzPts val="1500"/>
              <a:buChar char="●"/>
            </a:pPr>
            <a:r>
              <a:rPr b="1" lang="en" sz="1500">
                <a:solidFill>
                  <a:schemeClr val="dk1"/>
                </a:solidFill>
              </a:rPr>
              <a:t>Vision</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long-term goals or aspirations of a company or team.</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Mission</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The core purpose or focus of a company or team.</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Mentoring</a:t>
            </a:r>
            <a:r>
              <a:rPr lang="en" sz="1500">
                <a:solidFill>
                  <a:schemeClr val="dk1"/>
                </a:solidFill>
              </a:rPr>
              <a:t>: </a:t>
            </a:r>
            <a:endParaRPr sz="1500">
              <a:solidFill>
                <a:schemeClr val="dk1"/>
              </a:solidFill>
            </a:endParaRPr>
          </a:p>
          <a:p>
            <a:pPr indent="0" lvl="0" marL="457200" rtl="0" algn="l">
              <a:spcBef>
                <a:spcPts val="1200"/>
              </a:spcBef>
              <a:spcAft>
                <a:spcPts val="0"/>
              </a:spcAft>
              <a:buNone/>
            </a:pPr>
            <a:r>
              <a:rPr lang="en" sz="1500">
                <a:solidFill>
                  <a:schemeClr val="dk1"/>
                </a:solidFill>
              </a:rPr>
              <a:t>Guiding and supporting a less experienced employee.</a:t>
            </a:r>
            <a:endParaRPr sz="1500">
              <a:solidFill>
                <a:schemeClr val="dk1"/>
              </a:solidFill>
            </a:endParaRPr>
          </a:p>
          <a:p>
            <a:pPr indent="-323850" lvl="0" marL="457200" rtl="0" algn="l">
              <a:spcBef>
                <a:spcPts val="1200"/>
              </a:spcBef>
              <a:spcAft>
                <a:spcPts val="0"/>
              </a:spcAft>
              <a:buClr>
                <a:schemeClr val="dk1"/>
              </a:buClr>
              <a:buSzPts val="1500"/>
              <a:buChar char="●"/>
            </a:pPr>
            <a:r>
              <a:rPr b="1" lang="en" sz="1500">
                <a:solidFill>
                  <a:schemeClr val="dk1"/>
                </a:solidFill>
              </a:rPr>
              <a:t>Performance Review</a:t>
            </a:r>
            <a:r>
              <a:rPr lang="en" sz="1500">
                <a:solidFill>
                  <a:schemeClr val="dk1"/>
                </a:solidFill>
              </a:rPr>
              <a:t>:</a:t>
            </a:r>
            <a:endParaRPr sz="1500">
              <a:solidFill>
                <a:schemeClr val="dk1"/>
              </a:solidFill>
            </a:endParaRPr>
          </a:p>
          <a:p>
            <a:pPr indent="0" lvl="0" marL="457200" rtl="0" algn="l">
              <a:spcBef>
                <a:spcPts val="1200"/>
              </a:spcBef>
              <a:spcAft>
                <a:spcPts val="0"/>
              </a:spcAft>
              <a:buNone/>
            </a:pPr>
            <a:r>
              <a:rPr lang="en" sz="1500">
                <a:solidFill>
                  <a:schemeClr val="dk1"/>
                </a:solidFill>
              </a:rPr>
              <a:t> A process to evaluate an employee’s work performance and provide feedback.</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What is a Consultant?</a:t>
            </a:r>
            <a:endParaRPr b="1" sz="2500"/>
          </a:p>
          <a:p>
            <a:pPr indent="0" lvl="0" marL="0" rtl="0" algn="l">
              <a:spcBef>
                <a:spcPts val="400"/>
              </a:spcBef>
              <a:spcAft>
                <a:spcPts val="0"/>
              </a:spcAft>
              <a:buNone/>
            </a:pPr>
            <a:r>
              <a:t/>
            </a:r>
            <a:endParaRPr sz="2500"/>
          </a:p>
        </p:txBody>
      </p:sp>
      <p:sp>
        <p:nvSpPr>
          <p:cNvPr id="101" name="Google Shape;101;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A </a:t>
            </a:r>
            <a:r>
              <a:rPr b="1" lang="en">
                <a:solidFill>
                  <a:schemeClr val="dk1"/>
                </a:solidFill>
              </a:rPr>
              <a:t>consultant</a:t>
            </a:r>
            <a:r>
              <a:rPr lang="en">
                <a:solidFill>
                  <a:schemeClr val="dk1"/>
                </a:solidFill>
              </a:rPr>
              <a:t> is a professional who provides expert advice in a particular area such as management, marketing, finance, technology, or legal services. Consultants are typically hired on a temporary or contract basis to solve specific problems, improve business processes, or offer specialized knowledge. They are not full-time employees and are generally paid on a project basis or hourly rates.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What is an Employee?</a:t>
            </a:r>
            <a:endParaRPr b="1" sz="2500"/>
          </a:p>
          <a:p>
            <a:pPr indent="0" lvl="0" marL="0" rtl="0" algn="l">
              <a:spcBef>
                <a:spcPts val="400"/>
              </a:spcBef>
              <a:spcAft>
                <a:spcPts val="0"/>
              </a:spcAft>
              <a:buNone/>
            </a:pPr>
            <a:r>
              <a:t/>
            </a:r>
            <a:endParaRPr sz="2500"/>
          </a:p>
        </p:txBody>
      </p:sp>
      <p:sp>
        <p:nvSpPr>
          <p:cNvPr id="107" name="Google Shape;107;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1200"/>
              </a:spcAft>
              <a:buClr>
                <a:schemeClr val="dk1"/>
              </a:buClr>
              <a:buSzPts val="1100"/>
              <a:buFont typeface="Arial"/>
              <a:buNone/>
            </a:pPr>
            <a:r>
              <a:rPr lang="en">
                <a:solidFill>
                  <a:schemeClr val="dk1"/>
                </a:solidFill>
              </a:rPr>
              <a:t>An </a:t>
            </a:r>
            <a:r>
              <a:rPr b="1" lang="en">
                <a:solidFill>
                  <a:schemeClr val="dk1"/>
                </a:solidFill>
              </a:rPr>
              <a:t>employee</a:t>
            </a:r>
            <a:r>
              <a:rPr lang="en">
                <a:solidFill>
                  <a:schemeClr val="dk1"/>
                </a:solidFill>
              </a:rPr>
              <a:t> is an individual hired by a company to perform specific duties in exchange for a salary or wages. Employees have a formal relationship with the employer, often under a contract, and are entitled to benefits like healthcare, retirement plans, and paid leave. Unlike consultants, employees are typically expected to follow company policies, work fixed hours, and perform duties as per job descriptions.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 What is TDS (Tax Deducted at Source)?</a:t>
            </a:r>
            <a:endParaRPr b="1" sz="2500"/>
          </a:p>
          <a:p>
            <a:pPr indent="0" lvl="0" marL="0" rtl="0" algn="l">
              <a:spcBef>
                <a:spcPts val="400"/>
              </a:spcBef>
              <a:spcAft>
                <a:spcPts val="0"/>
              </a:spcAft>
              <a:buNone/>
            </a:pPr>
            <a:r>
              <a:t/>
            </a:r>
            <a:endParaRPr sz="2500"/>
          </a:p>
        </p:txBody>
      </p:sp>
      <p:sp>
        <p:nvSpPr>
          <p:cNvPr id="113" name="Google Shape;11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sz="1600">
                <a:solidFill>
                  <a:schemeClr val="dk1"/>
                </a:solidFill>
              </a:rPr>
              <a:t>TDS (Tax Deducted at Source)</a:t>
            </a:r>
            <a:r>
              <a:rPr lang="en" sz="1600">
                <a:solidFill>
                  <a:schemeClr val="dk1"/>
                </a:solidFill>
              </a:rPr>
              <a:t> is a system where the tax is deducted from an individual's income at the time of payment by the payer (such as an employer or bank) before the amount is transferred. This is a way to ensure that tax payments are made regularly.</a:t>
            </a:r>
            <a:endParaRPr sz="1600">
              <a:solidFill>
                <a:schemeClr val="dk1"/>
              </a:solidFill>
            </a:endParaRPr>
          </a:p>
          <a:p>
            <a:pPr indent="-330200" lvl="0" marL="457200" rtl="0" algn="l">
              <a:spcBef>
                <a:spcPts val="1200"/>
              </a:spcBef>
              <a:spcAft>
                <a:spcPts val="0"/>
              </a:spcAft>
              <a:buClr>
                <a:schemeClr val="dk1"/>
              </a:buClr>
              <a:buSzPts val="1600"/>
              <a:buChar char="●"/>
            </a:pPr>
            <a:r>
              <a:rPr b="1" lang="en" sz="1600">
                <a:solidFill>
                  <a:schemeClr val="dk1"/>
                </a:solidFill>
              </a:rPr>
              <a:t>Example</a:t>
            </a:r>
            <a:r>
              <a:rPr lang="en" sz="1600">
                <a:solidFill>
                  <a:schemeClr val="dk1"/>
                </a:solidFill>
              </a:rPr>
              <a:t>: If you're an employee and your monthly salary is ₹50,000, your employer may deduct a portion of your salary as TDS before paying you the remaining amount.</a:t>
            </a:r>
            <a:endParaRPr sz="1600">
              <a:solidFill>
                <a:schemeClr val="dk1"/>
              </a:solidFill>
            </a:endParaRPr>
          </a:p>
          <a:p>
            <a:pPr indent="0" lvl="0" marL="0" rtl="0" algn="l">
              <a:spcBef>
                <a:spcPts val="1200"/>
              </a:spcBef>
              <a:spcAft>
                <a:spcPts val="1200"/>
              </a:spcAft>
              <a:buNone/>
            </a:pPr>
            <a:r>
              <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2500"/>
              <a:t>What is CTC (Cost to Company)?</a:t>
            </a:r>
            <a:endParaRPr b="1" sz="2500"/>
          </a:p>
          <a:p>
            <a:pPr indent="0" lvl="0" marL="0" rtl="0" algn="l">
              <a:spcBef>
                <a:spcPts val="400"/>
              </a:spcBef>
              <a:spcAft>
                <a:spcPts val="0"/>
              </a:spcAft>
              <a:buNone/>
            </a:pPr>
            <a:r>
              <a:t/>
            </a:r>
            <a:endParaRPr b="1" sz="2500"/>
          </a:p>
        </p:txBody>
      </p:sp>
      <p:sp>
        <p:nvSpPr>
          <p:cNvPr id="119" name="Google Shape;119;p24"/>
          <p:cNvSpPr txBox="1"/>
          <p:nvPr>
            <p:ph idx="1" type="body"/>
          </p:nvPr>
        </p:nvSpPr>
        <p:spPr>
          <a:xfrm>
            <a:off x="311700" y="1273100"/>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1200"/>
              </a:spcBef>
              <a:spcAft>
                <a:spcPts val="0"/>
              </a:spcAft>
              <a:buClr>
                <a:schemeClr val="dk1"/>
              </a:buClr>
              <a:buSzPct val="73333"/>
              <a:buFont typeface="Arial"/>
              <a:buNone/>
            </a:pPr>
            <a:r>
              <a:rPr b="1" lang="en" sz="1500">
                <a:solidFill>
                  <a:schemeClr val="dk1"/>
                </a:solidFill>
              </a:rPr>
              <a:t>CTC (Cost to Company)</a:t>
            </a:r>
            <a:r>
              <a:rPr lang="en" sz="1500">
                <a:solidFill>
                  <a:schemeClr val="dk1"/>
                </a:solidFill>
              </a:rPr>
              <a:t> refers to the total amount a company would spend on an employee in a year. It includes everything—salary, bonuses, benefits, allowances, and any other perks provided by the company.</a:t>
            </a:r>
            <a:endParaRPr sz="1500">
              <a:solidFill>
                <a:schemeClr val="dk1"/>
              </a:solidFill>
            </a:endParaRPr>
          </a:p>
          <a:p>
            <a:pPr indent="-316706" lvl="0" marL="457200" rtl="0" algn="l">
              <a:spcBef>
                <a:spcPts val="1200"/>
              </a:spcBef>
              <a:spcAft>
                <a:spcPts val="0"/>
              </a:spcAft>
              <a:buClr>
                <a:schemeClr val="dk1"/>
              </a:buClr>
              <a:buSzPct val="100000"/>
              <a:buChar char="●"/>
            </a:pPr>
            <a:r>
              <a:rPr b="1" lang="en" sz="1500">
                <a:solidFill>
                  <a:schemeClr val="dk1"/>
                </a:solidFill>
              </a:rPr>
              <a:t>Components of CTC</a:t>
            </a:r>
            <a:r>
              <a:rPr lang="en" sz="1500">
                <a:solidFill>
                  <a:schemeClr val="dk1"/>
                </a:solidFill>
              </a:rPr>
              <a:t>:</a:t>
            </a:r>
            <a:endParaRPr sz="1500">
              <a:solidFill>
                <a:schemeClr val="dk1"/>
              </a:solidFill>
            </a:endParaRPr>
          </a:p>
          <a:p>
            <a:pPr indent="0" lvl="0" marL="914400" rtl="0" algn="l">
              <a:spcBef>
                <a:spcPts val="1200"/>
              </a:spcBef>
              <a:spcAft>
                <a:spcPts val="0"/>
              </a:spcAft>
              <a:buNone/>
            </a:pPr>
            <a:r>
              <a:rPr b="1" lang="en" sz="1500">
                <a:solidFill>
                  <a:schemeClr val="dk1"/>
                </a:solidFill>
              </a:rPr>
              <a:t>Basic Salary</a:t>
            </a:r>
            <a:r>
              <a:rPr lang="en" sz="1500">
                <a:solidFill>
                  <a:schemeClr val="dk1"/>
                </a:solidFill>
              </a:rPr>
              <a:t>: The fixed component of the salary.</a:t>
            </a:r>
            <a:endParaRPr sz="1500">
              <a:solidFill>
                <a:schemeClr val="dk1"/>
              </a:solidFill>
            </a:endParaRPr>
          </a:p>
          <a:p>
            <a:pPr indent="0" lvl="0" marL="914400" rtl="0" algn="l">
              <a:spcBef>
                <a:spcPts val="1200"/>
              </a:spcBef>
              <a:spcAft>
                <a:spcPts val="0"/>
              </a:spcAft>
              <a:buNone/>
            </a:pPr>
            <a:r>
              <a:rPr b="1" lang="en" sz="1500">
                <a:solidFill>
                  <a:schemeClr val="dk1"/>
                </a:solidFill>
              </a:rPr>
              <a:t>Allowances</a:t>
            </a:r>
            <a:r>
              <a:rPr lang="en" sz="1500">
                <a:solidFill>
                  <a:schemeClr val="dk1"/>
                </a:solidFill>
              </a:rPr>
              <a:t>: Can include housing, travel, dearness, and special allowances.</a:t>
            </a:r>
            <a:endParaRPr sz="1500">
              <a:solidFill>
                <a:schemeClr val="dk1"/>
              </a:solidFill>
            </a:endParaRPr>
          </a:p>
          <a:p>
            <a:pPr indent="0" lvl="0" marL="914400" rtl="0" algn="l">
              <a:spcBef>
                <a:spcPts val="1200"/>
              </a:spcBef>
              <a:spcAft>
                <a:spcPts val="0"/>
              </a:spcAft>
              <a:buNone/>
            </a:pPr>
            <a:r>
              <a:rPr b="1" lang="en" sz="1500">
                <a:solidFill>
                  <a:schemeClr val="dk1"/>
                </a:solidFill>
              </a:rPr>
              <a:t>Bonuses</a:t>
            </a:r>
            <a:r>
              <a:rPr lang="en" sz="1500">
                <a:solidFill>
                  <a:schemeClr val="dk1"/>
                </a:solidFill>
              </a:rPr>
              <a:t>: Performance-based incentives or annual bonuses.</a:t>
            </a:r>
            <a:endParaRPr sz="1500">
              <a:solidFill>
                <a:schemeClr val="dk1"/>
              </a:solidFill>
            </a:endParaRPr>
          </a:p>
          <a:p>
            <a:pPr indent="0" lvl="0" marL="914400" rtl="0" algn="l">
              <a:spcBef>
                <a:spcPts val="1200"/>
              </a:spcBef>
              <a:spcAft>
                <a:spcPts val="0"/>
              </a:spcAft>
              <a:buNone/>
            </a:pPr>
            <a:r>
              <a:rPr b="1" lang="en" sz="1500">
                <a:solidFill>
                  <a:schemeClr val="dk1"/>
                </a:solidFill>
              </a:rPr>
              <a:t>Benefits</a:t>
            </a:r>
            <a:r>
              <a:rPr lang="en" sz="1500">
                <a:solidFill>
                  <a:schemeClr val="dk1"/>
                </a:solidFill>
              </a:rPr>
              <a:t>: Health insurance, provident fund (PF), gratuity, etc.</a:t>
            </a:r>
            <a:endParaRPr sz="1500">
              <a:solidFill>
                <a:schemeClr val="dk1"/>
              </a:solidFill>
            </a:endParaRPr>
          </a:p>
          <a:p>
            <a:pPr indent="0" lvl="0" marL="914400" rtl="0" algn="l">
              <a:spcBef>
                <a:spcPts val="1200"/>
              </a:spcBef>
              <a:spcAft>
                <a:spcPts val="0"/>
              </a:spcAft>
              <a:buNone/>
            </a:pPr>
            <a:r>
              <a:rPr b="1" lang="en" sz="1500">
                <a:solidFill>
                  <a:schemeClr val="dk1"/>
                </a:solidFill>
              </a:rPr>
              <a:t>Other Perks</a:t>
            </a:r>
            <a:r>
              <a:rPr lang="en" sz="1500">
                <a:solidFill>
                  <a:schemeClr val="dk1"/>
                </a:solidFill>
              </a:rPr>
              <a:t>: Stock options, company car, phone, etc.</a:t>
            </a:r>
            <a:endParaRPr sz="1500">
              <a:solidFill>
                <a:schemeClr val="dk1"/>
              </a:solidFill>
            </a:endParaRPr>
          </a:p>
          <a:p>
            <a:pPr indent="0" lvl="0" marL="0" rtl="0" algn="l">
              <a:spcBef>
                <a:spcPts val="1200"/>
              </a:spcBef>
              <a:spcAft>
                <a:spcPts val="1200"/>
              </a:spcAft>
              <a:buNone/>
            </a:pPr>
            <a:r>
              <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GROSS SALARY V/S NET SALARY</a:t>
            </a:r>
            <a:endParaRPr/>
          </a:p>
        </p:txBody>
      </p:sp>
      <p:sp>
        <p:nvSpPr>
          <p:cNvPr id="125" name="Google Shape;12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1200"/>
              </a:spcBef>
              <a:spcAft>
                <a:spcPts val="0"/>
              </a:spcAft>
              <a:buClr>
                <a:schemeClr val="dk1"/>
              </a:buClr>
              <a:buSzPts val="1800"/>
              <a:buChar char="●"/>
            </a:pPr>
            <a:r>
              <a:rPr b="1" lang="en">
                <a:solidFill>
                  <a:schemeClr val="dk1"/>
                </a:solidFill>
              </a:rPr>
              <a:t>Gross Salary</a:t>
            </a:r>
            <a:r>
              <a:rPr lang="en">
                <a:solidFill>
                  <a:schemeClr val="dk1"/>
                </a:solidFill>
              </a:rPr>
              <a:t>: The total salary before any deductions like taxes, provident fund (PF), or other deductions.</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b="1" lang="en">
                <a:solidFill>
                  <a:schemeClr val="dk1"/>
                </a:solidFill>
              </a:rPr>
              <a:t>Net Salary</a:t>
            </a:r>
            <a:r>
              <a:rPr lang="en">
                <a:solidFill>
                  <a:schemeClr val="dk1"/>
                </a:solidFill>
              </a:rPr>
              <a:t>: The amount an employee takes home after all deductions. It is the "take-home" pay.</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PROVIDENT FUND</a:t>
            </a:r>
            <a:endParaRPr/>
          </a:p>
        </p:txBody>
      </p:sp>
      <p:sp>
        <p:nvSpPr>
          <p:cNvPr id="131" name="Google Shape;13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The </a:t>
            </a:r>
            <a:r>
              <a:rPr b="1" lang="en">
                <a:solidFill>
                  <a:schemeClr val="dk1"/>
                </a:solidFill>
              </a:rPr>
              <a:t>Provident Fund</a:t>
            </a:r>
            <a:r>
              <a:rPr lang="en">
                <a:solidFill>
                  <a:schemeClr val="dk1"/>
                </a:solidFill>
              </a:rPr>
              <a:t> is a retirement savings scheme where both the employee and employer contribute a portion of the employee's salary. The amount grows over time, earning interest, and is available when the employee retires or exits the company.</a:t>
            </a:r>
            <a:endParaRPr>
              <a:solidFill>
                <a:schemeClr val="dk1"/>
              </a:solidFill>
            </a:endParaRPr>
          </a:p>
          <a:p>
            <a:pPr indent="0" lvl="0" marL="0" rtl="0" algn="l">
              <a:spcBef>
                <a:spcPts val="1200"/>
              </a:spcBef>
              <a:spcAft>
                <a:spcPts val="1200"/>
              </a:spcAft>
              <a:buNone/>
            </a:pPr>
            <a:r>
              <a:t/>
            </a:r>
            <a:endParaRPr/>
          </a:p>
        </p:txBody>
      </p:sp>
      <p:pic>
        <p:nvPicPr>
          <p:cNvPr id="132" name="Google Shape;132;p26"/>
          <p:cNvPicPr preferRelativeResize="0"/>
          <p:nvPr/>
        </p:nvPicPr>
        <p:blipFill>
          <a:blip r:embed="rId3">
            <a:alphaModFix/>
          </a:blip>
          <a:stretch>
            <a:fillRect/>
          </a:stretch>
        </p:blipFill>
        <p:spPr>
          <a:xfrm>
            <a:off x="3062250" y="2968675"/>
            <a:ext cx="2857500" cy="1600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GRATUITY</a:t>
            </a:r>
            <a:endParaRPr/>
          </a:p>
        </p:txBody>
      </p:sp>
      <p:sp>
        <p:nvSpPr>
          <p:cNvPr id="138" name="Google Shape;13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Gratuity is a sum of money given to an employee at the end of their service, provided the employee has worked for a certain number of years in the company. It is a statutory benefit under the </a:t>
            </a:r>
            <a:r>
              <a:rPr b="1" lang="en">
                <a:solidFill>
                  <a:schemeClr val="dk1"/>
                </a:solidFill>
              </a:rPr>
              <a:t>Gratuity Act, 1972</a:t>
            </a:r>
            <a:r>
              <a:rPr lang="en">
                <a:solidFill>
                  <a:schemeClr val="dk1"/>
                </a:solidFill>
              </a:rPr>
              <a:t>.</a:t>
            </a:r>
            <a:endParaRPr>
              <a:solidFill>
                <a:schemeClr val="dk1"/>
              </a:solidFill>
            </a:endParaRPr>
          </a:p>
          <a:p>
            <a:pPr indent="0" lvl="0" marL="0" rtl="0" algn="l">
              <a:spcBef>
                <a:spcPts val="1200"/>
              </a:spcBef>
              <a:spcAft>
                <a:spcPts val="1200"/>
              </a:spcAft>
              <a:buNone/>
            </a:pPr>
            <a:r>
              <a:t/>
            </a:r>
            <a:endParaRPr/>
          </a:p>
        </p:txBody>
      </p:sp>
      <p:pic>
        <p:nvPicPr>
          <p:cNvPr id="139" name="Google Shape;139;p27"/>
          <p:cNvPicPr preferRelativeResize="0"/>
          <p:nvPr/>
        </p:nvPicPr>
        <p:blipFill>
          <a:blip r:embed="rId3">
            <a:alphaModFix/>
          </a:blip>
          <a:stretch>
            <a:fillRect/>
          </a:stretch>
        </p:blipFill>
        <p:spPr>
          <a:xfrm>
            <a:off x="2974050" y="2692476"/>
            <a:ext cx="2917850" cy="1934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GST</a:t>
            </a:r>
            <a:endParaRPr/>
          </a:p>
        </p:txBody>
      </p:sp>
      <p:sp>
        <p:nvSpPr>
          <p:cNvPr id="145" name="Google Shape;14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b="1" lang="en">
                <a:solidFill>
                  <a:schemeClr val="dk1"/>
                </a:solidFill>
              </a:rPr>
              <a:t>GST (Goods and Services Tax)</a:t>
            </a:r>
            <a:r>
              <a:rPr lang="en">
                <a:solidFill>
                  <a:schemeClr val="dk1"/>
                </a:solidFill>
              </a:rPr>
              <a:t> is a single tax on the supply of goods and services that has replaced multiple indirect taxes in India. It is paid by consumers but collected by businesses.</a:t>
            </a:r>
            <a:endParaRPr>
              <a:solidFill>
                <a:schemeClr val="dk1"/>
              </a:solidFill>
            </a:endParaRPr>
          </a:p>
          <a:p>
            <a:pPr indent="-342900" lvl="0" marL="457200" rtl="0" algn="l">
              <a:spcBef>
                <a:spcPts val="1200"/>
              </a:spcBef>
              <a:spcAft>
                <a:spcPts val="0"/>
              </a:spcAft>
              <a:buClr>
                <a:schemeClr val="dk1"/>
              </a:buClr>
              <a:buSzPts val="1800"/>
              <a:buChar char="●"/>
            </a:pPr>
            <a:r>
              <a:rPr b="1" lang="en">
                <a:solidFill>
                  <a:schemeClr val="dk1"/>
                </a:solidFill>
              </a:rPr>
              <a:t>GST Rates</a:t>
            </a:r>
            <a:r>
              <a:rPr lang="en">
                <a:solidFill>
                  <a:schemeClr val="dk1"/>
                </a:solidFill>
              </a:rPr>
              <a:t>: There are different GST rates depending on the category of goods and services (e.g., 5%, 12%, 18%, 28%).</a:t>
            </a:r>
            <a:endParaRPr>
              <a:solidFill>
                <a:schemeClr val="dk1"/>
              </a:solidFill>
            </a:endParaRPr>
          </a:p>
          <a:p>
            <a:pPr indent="-342900" lvl="0" marL="457200" rtl="0" algn="l">
              <a:spcBef>
                <a:spcPts val="0"/>
              </a:spcBef>
              <a:spcAft>
                <a:spcPts val="0"/>
              </a:spcAft>
              <a:buClr>
                <a:schemeClr val="dk1"/>
              </a:buClr>
              <a:buSzPts val="1800"/>
              <a:buChar char="●"/>
            </a:pPr>
            <a:r>
              <a:rPr b="1" lang="en">
                <a:solidFill>
                  <a:schemeClr val="dk1"/>
                </a:solidFill>
              </a:rPr>
              <a:t>For Businesses</a:t>
            </a:r>
            <a:r>
              <a:rPr lang="en">
                <a:solidFill>
                  <a:schemeClr val="dk1"/>
                </a:solidFill>
              </a:rPr>
              <a:t>: Businesses with a turnover above a certain threshold must register for GST and file periodic returns.</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INCOME TAX RETURN</a:t>
            </a:r>
            <a:endParaRPr/>
          </a:p>
        </p:txBody>
      </p:sp>
      <p:sp>
        <p:nvSpPr>
          <p:cNvPr id="151" name="Google Shape;15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solidFill>
                  <a:schemeClr val="dk1"/>
                </a:solidFill>
              </a:rPr>
              <a:t>An </a:t>
            </a:r>
            <a:r>
              <a:rPr b="1" lang="en">
                <a:solidFill>
                  <a:schemeClr val="dk1"/>
                </a:solidFill>
              </a:rPr>
              <a:t>Income Tax Return (ITR)</a:t>
            </a:r>
            <a:r>
              <a:rPr lang="en">
                <a:solidFill>
                  <a:schemeClr val="dk1"/>
                </a:solidFill>
              </a:rPr>
              <a:t> is a document that individuals or businesses must file annually to report their income, deductions, and tax liability to the tax authorities. Filing ITR ensures that taxpayers fulfill their tax obligations and claim any refunds or tax credits they may be entitled to.</a:t>
            </a:r>
            <a:endParaRPr>
              <a:solidFill>
                <a:schemeClr val="dk1"/>
              </a:solidFill>
            </a:endParaRPr>
          </a:p>
          <a:p>
            <a:pPr indent="0" lvl="0" marL="0" rtl="0" algn="l">
              <a:spcBef>
                <a:spcPts val="1200"/>
              </a:spcBef>
              <a:spcAft>
                <a:spcPts val="1200"/>
              </a:spcAft>
              <a:buNone/>
            </a:pPr>
            <a:r>
              <a:t/>
            </a:r>
            <a:endParaRPr/>
          </a:p>
        </p:txBody>
      </p:sp>
      <p:pic>
        <p:nvPicPr>
          <p:cNvPr id="152" name="Google Shape;152;p29"/>
          <p:cNvPicPr preferRelativeResize="0"/>
          <p:nvPr/>
        </p:nvPicPr>
        <p:blipFill>
          <a:blip r:embed="rId3">
            <a:alphaModFix/>
          </a:blip>
          <a:stretch>
            <a:fillRect/>
          </a:stretch>
        </p:blipFill>
        <p:spPr>
          <a:xfrm>
            <a:off x="2950875" y="2865150"/>
            <a:ext cx="2857500" cy="16002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
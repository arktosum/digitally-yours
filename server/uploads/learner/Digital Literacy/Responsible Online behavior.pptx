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7470f6db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7470f6db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7470f6db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7470f6db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7470f6db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7470f6db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7470f6db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7470f6db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7470f6db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7470f6db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7470f6db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7470f6db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7470f6db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7470f6db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7470f6db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7470f6db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77508" y="5191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RESPONSIBLE ONLINE BEHAVIOR</a:t>
            </a:r>
            <a:endParaRPr/>
          </a:p>
        </p:txBody>
      </p:sp>
      <p:pic>
        <p:nvPicPr>
          <p:cNvPr id="55" name="Google Shape;55;p13" title="images (46).jpg"/>
          <p:cNvPicPr preferRelativeResize="0"/>
          <p:nvPr/>
        </p:nvPicPr>
        <p:blipFill>
          <a:blip r:embed="rId3">
            <a:alphaModFix/>
          </a:blip>
          <a:stretch>
            <a:fillRect/>
          </a:stretch>
        </p:blipFill>
        <p:spPr>
          <a:xfrm>
            <a:off x="2874141" y="2763200"/>
            <a:ext cx="3395724" cy="2259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371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Clr>
                <a:schemeClr val="dk1"/>
              </a:buClr>
              <a:buSzPts val="1100"/>
              <a:buFont typeface="Arial"/>
              <a:buNone/>
            </a:pPr>
            <a:r>
              <a:rPr lang="en">
                <a:solidFill>
                  <a:schemeClr val="dk1"/>
                </a:solidFill>
              </a:rPr>
              <a:t>Responsible online behavior refers to the actions and decisions we make when interacting in digital spaces. It is about acting ethically, maintaining privacy, and protecting your digital footprint while being mindful of how your actions can impact others.</a:t>
            </a:r>
            <a:endParaRPr/>
          </a:p>
        </p:txBody>
      </p:sp>
      <p:pic>
        <p:nvPicPr>
          <p:cNvPr id="61" name="Google Shape;61;p14" title="images (48).jpg"/>
          <p:cNvPicPr preferRelativeResize="0"/>
          <p:nvPr/>
        </p:nvPicPr>
        <p:blipFill>
          <a:blip r:embed="rId3">
            <a:alphaModFix/>
          </a:blip>
          <a:stretch>
            <a:fillRect/>
          </a:stretch>
        </p:blipFill>
        <p:spPr>
          <a:xfrm>
            <a:off x="3588150" y="2096825"/>
            <a:ext cx="2869875" cy="286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Maintain Privacy and Security:</a:t>
            </a:r>
            <a:endParaRPr b="1" sz="2500"/>
          </a:p>
          <a:p>
            <a:pPr indent="0" lvl="0" marL="0" rtl="0" algn="l">
              <a:spcBef>
                <a:spcPts val="120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Protect Your Personal Information</a:t>
            </a:r>
            <a:r>
              <a:rPr lang="en" sz="1500">
                <a:solidFill>
                  <a:schemeClr val="dk1"/>
                </a:solidFill>
              </a:rPr>
              <a:t>: Be cautious when sharing sensitive data online, such as passwords, personal identification numbers (PINs), addresses, phone numbers, or financial details. Use strong, unique passwords and consider two-factor authentication (2FA) for added security.</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Limit Personal Disclosure</a:t>
            </a:r>
            <a:r>
              <a:rPr lang="en" sz="1500">
                <a:solidFill>
                  <a:schemeClr val="dk1"/>
                </a:solidFill>
              </a:rPr>
              <a:t>: Avoid sharing intimate or personal details that could be misused. Even in trusted spaces, remember that once shared, information can be difficult to fully retract.</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images (16).png"/>
          <p:cNvPicPr preferRelativeResize="0"/>
          <p:nvPr/>
        </p:nvPicPr>
        <p:blipFill>
          <a:blip r:embed="rId3">
            <a:alphaModFix/>
          </a:blip>
          <a:stretch>
            <a:fillRect/>
          </a:stretch>
        </p:blipFill>
        <p:spPr>
          <a:xfrm>
            <a:off x="3146052" y="3122677"/>
            <a:ext cx="3049725" cy="194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Verify Before Sharing Information:</a:t>
            </a:r>
            <a:endParaRPr sz="2500"/>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Fact-Checking</a:t>
            </a:r>
            <a:r>
              <a:rPr lang="en" sz="1500">
                <a:solidFill>
                  <a:schemeClr val="dk1"/>
                </a:solidFill>
              </a:rPr>
              <a:t>: Always verify the information before sharing it. Avoid spreading misinformation or rumors. Fake news and misinformation can harm reputations, fuel conflict, or even cause real-world consequences.</a:t>
            </a:r>
            <a:endParaRPr sz="1500">
              <a:solidFill>
                <a:schemeClr val="dk1"/>
              </a:solidFill>
            </a:endParaRPr>
          </a:p>
          <a:p>
            <a:pPr indent="0" lvl="0" marL="13716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Cite Your Sources</a:t>
            </a:r>
            <a:r>
              <a:rPr lang="en" sz="1500">
                <a:solidFill>
                  <a:schemeClr val="dk1"/>
                </a:solidFill>
              </a:rPr>
              <a:t>: If you share a piece of information that is not your own, ensure that you credit the original source, whether it's an article, image, or video. Plagiarism is unacceptable online.</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download - 2025-04-01T134146.290.jpg"/>
          <p:cNvPicPr preferRelativeResize="0"/>
          <p:nvPr/>
        </p:nvPicPr>
        <p:blipFill rotWithShape="1">
          <a:blip r:embed="rId3">
            <a:alphaModFix/>
          </a:blip>
          <a:srcRect b="0" l="13088" r="0" t="0"/>
          <a:stretch/>
        </p:blipFill>
        <p:spPr>
          <a:xfrm>
            <a:off x="3431750" y="3147000"/>
            <a:ext cx="2402300" cy="180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Engage in Positive Communication:</a:t>
            </a:r>
            <a:endParaRPr b="1" sz="2500"/>
          </a:p>
          <a:p>
            <a:pPr indent="0" lvl="0" marL="0" rtl="0" algn="l">
              <a:spcBef>
                <a:spcPts val="1200"/>
              </a:spcBef>
              <a:spcAft>
                <a:spcPts val="0"/>
              </a:spcAft>
              <a:buNone/>
            </a:pPr>
            <a:r>
              <a:t/>
            </a:r>
            <a:endParaRPr sz="2500"/>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Support and Encourage</a:t>
            </a:r>
            <a:r>
              <a:rPr lang="en" sz="1500">
                <a:solidFill>
                  <a:schemeClr val="dk1"/>
                </a:solidFill>
              </a:rPr>
              <a:t>: Use online platforms to encourage others, support causes, and share knowledge. Avoid negative, inflammatory comments, or unnecessary arguments.</a:t>
            </a:r>
            <a:endParaRPr sz="1500">
              <a:solidFill>
                <a:schemeClr val="dk1"/>
              </a:solidFill>
            </a:endParaRPr>
          </a:p>
          <a:p>
            <a:pPr indent="0" lvl="0" marL="914400" rtl="0" algn="l">
              <a:spcBef>
                <a:spcPts val="1200"/>
              </a:spcBef>
              <a:spcAft>
                <a:spcPts val="0"/>
              </a:spcAft>
              <a:buNone/>
            </a:pPr>
            <a:r>
              <a:rPr b="1" lang="en" sz="1500">
                <a:solidFill>
                  <a:schemeClr val="dk1"/>
                </a:solidFill>
              </a:rPr>
              <a:t>Constructive Criticism</a:t>
            </a:r>
            <a:r>
              <a:rPr lang="en" sz="1500">
                <a:solidFill>
                  <a:schemeClr val="dk1"/>
                </a:solidFill>
              </a:rPr>
              <a:t>: When offering feedback, especially in a public forum or social media, do so constructively. Provide suggestions for improvement and offer encouragement rather than criticism for the sake of it.</a:t>
            </a:r>
            <a:endParaRPr sz="1500">
              <a:solidFill>
                <a:schemeClr val="dk1"/>
              </a:solidFill>
            </a:endParaRPr>
          </a:p>
          <a:p>
            <a:pPr indent="0" lvl="0" marL="0" rtl="0" algn="l">
              <a:spcBef>
                <a:spcPts val="1200"/>
              </a:spcBef>
              <a:spcAft>
                <a:spcPts val="1200"/>
              </a:spcAft>
              <a:buNone/>
            </a:pPr>
            <a:r>
              <a:t/>
            </a:r>
            <a:endParaRPr sz="1500"/>
          </a:p>
        </p:txBody>
      </p:sp>
      <p:pic>
        <p:nvPicPr>
          <p:cNvPr id="82" name="Google Shape;82;p17" title="download (63).png"/>
          <p:cNvPicPr preferRelativeResize="0"/>
          <p:nvPr/>
        </p:nvPicPr>
        <p:blipFill>
          <a:blip r:embed="rId3">
            <a:alphaModFix/>
          </a:blip>
          <a:stretch>
            <a:fillRect/>
          </a:stretch>
        </p:blipFill>
        <p:spPr>
          <a:xfrm>
            <a:off x="2742313" y="2957953"/>
            <a:ext cx="3659375" cy="2023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Avoid Spam and Unsolicited Messages:</a:t>
            </a:r>
            <a:endParaRPr b="1" sz="2500"/>
          </a:p>
          <a:p>
            <a:pPr indent="0" lvl="0" marL="0" rtl="0" algn="l">
              <a:spcBef>
                <a:spcPts val="1200"/>
              </a:spcBef>
              <a:spcAft>
                <a:spcPts val="0"/>
              </a:spcAft>
              <a:buNone/>
            </a:pPr>
            <a:r>
              <a:t/>
            </a:r>
            <a:endParaRPr sz="2500"/>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Sending unwanted, unsolicited messages to others is a form of spam. Whether it’s emails, social media posts, or text messages, it’s crucial to respect others' inboxes and time.</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If you are involved in marketing or promotional activities, always provide a clear way for people to unsubscribe or opt out.</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download - 2025-04-01T142702.027.jpg"/>
          <p:cNvPicPr preferRelativeResize="0"/>
          <p:nvPr/>
        </p:nvPicPr>
        <p:blipFill>
          <a:blip r:embed="rId3">
            <a:alphaModFix/>
          </a:blip>
          <a:stretch>
            <a:fillRect/>
          </a:stretch>
        </p:blipFill>
        <p:spPr>
          <a:xfrm>
            <a:off x="2658503" y="3008678"/>
            <a:ext cx="3723100" cy="1820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Respect Intellectual Property:</a:t>
            </a:r>
            <a:endParaRPr sz="2500"/>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Never steal content from other creators. Whether it’s text, images, music, or videos, always ask for permission to use someone else’s work and give them appropriate credit.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Understand copyright laws and respect the intellectual property of creators online.</a:t>
            </a:r>
            <a:endParaRPr sz="1500">
              <a:solidFill>
                <a:schemeClr val="dk1"/>
              </a:solidFill>
            </a:endParaRPr>
          </a:p>
          <a:p>
            <a:pPr indent="0" lvl="0" marL="0" rtl="0" algn="l">
              <a:spcBef>
                <a:spcPts val="1200"/>
              </a:spcBef>
              <a:spcAft>
                <a:spcPts val="1200"/>
              </a:spcAft>
              <a:buNone/>
            </a:pPr>
            <a:r>
              <a:t/>
            </a:r>
            <a:endParaRPr sz="1500"/>
          </a:p>
        </p:txBody>
      </p:sp>
      <p:pic>
        <p:nvPicPr>
          <p:cNvPr id="96" name="Google Shape;96;p19" title="download (64).png"/>
          <p:cNvPicPr preferRelativeResize="0"/>
          <p:nvPr/>
        </p:nvPicPr>
        <p:blipFill>
          <a:blip r:embed="rId3">
            <a:alphaModFix/>
          </a:blip>
          <a:stretch>
            <a:fillRect/>
          </a:stretch>
        </p:blipFill>
        <p:spPr>
          <a:xfrm>
            <a:off x="3143250" y="2968675"/>
            <a:ext cx="3178475" cy="1779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Stay Calm and Respectful in Disagreements</a:t>
            </a:r>
            <a:endParaRPr sz="2500"/>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Disagreements are natural</a:t>
            </a:r>
            <a:r>
              <a:rPr lang="en" sz="1500">
                <a:solidFill>
                  <a:schemeClr val="dk1"/>
                </a:solidFill>
              </a:rPr>
              <a:t>, but how you manage them online can impact your reputation and the well-being of others. Avoid hostile or aggressive comments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If you disagree with someone’s opinion, express your viewpoint respectfully, using reason and not aggression. Understand that it's okay to have different opinions and that online discussions should remain civil.</a:t>
            </a:r>
            <a:endParaRPr sz="1500">
              <a:solidFill>
                <a:schemeClr val="dk1"/>
              </a:solidFill>
            </a:endParaRPr>
          </a:p>
          <a:p>
            <a:pPr indent="0" lvl="0" marL="0" rtl="0" algn="l">
              <a:spcBef>
                <a:spcPts val="1200"/>
              </a:spcBef>
              <a:spcAft>
                <a:spcPts val="1200"/>
              </a:spcAft>
              <a:buNone/>
            </a:pPr>
            <a:r>
              <a:t/>
            </a:r>
            <a:endParaRPr sz="1500"/>
          </a:p>
        </p:txBody>
      </p:sp>
      <p:pic>
        <p:nvPicPr>
          <p:cNvPr id="103" name="Google Shape;103;p20" title="download - 2025-04-01T151144.628.jpg"/>
          <p:cNvPicPr preferRelativeResize="0"/>
          <p:nvPr/>
        </p:nvPicPr>
        <p:blipFill>
          <a:blip r:embed="rId3">
            <a:alphaModFix/>
          </a:blip>
          <a:stretch>
            <a:fillRect/>
          </a:stretch>
        </p:blipFill>
        <p:spPr>
          <a:xfrm>
            <a:off x="3320100" y="3263025"/>
            <a:ext cx="2979180" cy="1880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Report Abusive Behavior:</a:t>
            </a:r>
            <a:endParaRPr b="1" sz="2500"/>
          </a:p>
          <a:p>
            <a:pPr indent="0" lvl="0" marL="0" rtl="0" algn="l">
              <a:spcBef>
                <a:spcPts val="1200"/>
              </a:spcBef>
              <a:spcAft>
                <a:spcPts val="0"/>
              </a:spcAft>
              <a:buNone/>
            </a:pPr>
            <a:r>
              <a:t/>
            </a:r>
            <a:endParaRPr sz="2500"/>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lang="en" sz="1500">
                <a:solidFill>
                  <a:schemeClr val="dk1"/>
                </a:solidFill>
              </a:rPr>
              <a:t>If you encounter harmful behavior online, such as cyberbullying, harassment, or offensive content, report it to the relevant platform authorities. Almost all platforms, like </a:t>
            </a:r>
            <a:r>
              <a:rPr b="1" lang="en" sz="1500">
                <a:solidFill>
                  <a:schemeClr val="dk1"/>
                </a:solidFill>
              </a:rPr>
              <a:t>Facebook</a:t>
            </a:r>
            <a:r>
              <a:rPr lang="en" sz="1500">
                <a:solidFill>
                  <a:schemeClr val="dk1"/>
                </a:solidFill>
              </a:rPr>
              <a:t>, </a:t>
            </a:r>
            <a:r>
              <a:rPr b="1" lang="en" sz="1500">
                <a:solidFill>
                  <a:schemeClr val="dk1"/>
                </a:solidFill>
              </a:rPr>
              <a:t>Instagram</a:t>
            </a:r>
            <a:r>
              <a:rPr lang="en" sz="1500">
                <a:solidFill>
                  <a:schemeClr val="dk1"/>
                </a:solidFill>
              </a:rPr>
              <a:t>, </a:t>
            </a:r>
            <a:r>
              <a:rPr b="1" lang="en" sz="1500">
                <a:solidFill>
                  <a:schemeClr val="dk1"/>
                </a:solidFill>
              </a:rPr>
              <a:t>Twitter</a:t>
            </a:r>
            <a:r>
              <a:rPr lang="en" sz="1500">
                <a:solidFill>
                  <a:schemeClr val="dk1"/>
                </a:solidFill>
              </a:rPr>
              <a:t>, and </a:t>
            </a:r>
            <a:r>
              <a:rPr b="1" lang="en" sz="1500">
                <a:solidFill>
                  <a:schemeClr val="dk1"/>
                </a:solidFill>
              </a:rPr>
              <a:t>YouTube</a:t>
            </a:r>
            <a:r>
              <a:rPr lang="en" sz="1500">
                <a:solidFill>
                  <a:schemeClr val="dk1"/>
                </a:solidFill>
              </a:rPr>
              <a:t>, offer reporting tools to flag inappropriate content.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Encourage others to speak up against harmful content or actions by creating a safe online space for all.</a:t>
            </a:r>
            <a:endParaRPr sz="1500">
              <a:solidFill>
                <a:schemeClr val="dk1"/>
              </a:solidFill>
            </a:endParaRPr>
          </a:p>
          <a:p>
            <a:pPr indent="0" lvl="0" marL="0" rtl="0" algn="l">
              <a:spcBef>
                <a:spcPts val="1200"/>
              </a:spcBef>
              <a:spcAft>
                <a:spcPts val="1200"/>
              </a:spcAft>
              <a:buNone/>
            </a:pPr>
            <a:r>
              <a:t/>
            </a:r>
            <a:endParaRPr sz="1500"/>
          </a:p>
        </p:txBody>
      </p:sp>
      <p:pic>
        <p:nvPicPr>
          <p:cNvPr id="110" name="Google Shape;110;p21" title="download - 2025-04-01T151647.116.jpg"/>
          <p:cNvPicPr preferRelativeResize="0"/>
          <p:nvPr/>
        </p:nvPicPr>
        <p:blipFill>
          <a:blip r:embed="rId3">
            <a:alphaModFix/>
          </a:blip>
          <a:stretch>
            <a:fillRect/>
          </a:stretch>
        </p:blipFill>
        <p:spPr>
          <a:xfrm>
            <a:off x="3047325" y="3146302"/>
            <a:ext cx="3204547" cy="199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
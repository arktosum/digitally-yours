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38ed01ce1d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38ed01ce1d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38ed01ce1d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38ed01ce1d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38ed01ce1d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38ed01ce1d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38ed01ce1d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38ed01ce1d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38ed01ce1d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38ed01ce1d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38ed01ce1d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38ed01ce1d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38ed01ce1d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38ed01ce1d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38ed01ce1d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38ed01ce1d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38ed01ce1d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38ed01ce1d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0.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jp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jpg"/><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jp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16.png"/><Relationship Id="rId5"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1.jpg"/><Relationship Id="rId4" Type="http://schemas.openxmlformats.org/officeDocument/2006/relationships/image" Target="../media/image1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8.jpg"/><Relationship Id="rId4" Type="http://schemas.openxmlformats.org/officeDocument/2006/relationships/image" Target="../media/image1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6020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INTRODUCTION TO ARTIFICIAL INTELLIGENCE (AI)</a:t>
            </a:r>
            <a:endParaRPr/>
          </a:p>
        </p:txBody>
      </p:sp>
      <p:pic>
        <p:nvPicPr>
          <p:cNvPr id="55" name="Google Shape;55;p13" title="images (3).jpg"/>
          <p:cNvPicPr preferRelativeResize="0"/>
          <p:nvPr/>
        </p:nvPicPr>
        <p:blipFill>
          <a:blip r:embed="rId3">
            <a:alphaModFix/>
          </a:blip>
          <a:stretch>
            <a:fillRect/>
          </a:stretch>
        </p:blipFill>
        <p:spPr>
          <a:xfrm>
            <a:off x="798200" y="2848325"/>
            <a:ext cx="3576450" cy="2052600"/>
          </a:xfrm>
          <a:prstGeom prst="rect">
            <a:avLst/>
          </a:prstGeom>
          <a:noFill/>
          <a:ln>
            <a:noFill/>
          </a:ln>
        </p:spPr>
      </p:pic>
      <p:pic>
        <p:nvPicPr>
          <p:cNvPr id="56" name="Google Shape;56;p13" title="images (2).jpg"/>
          <p:cNvPicPr preferRelativeResize="0"/>
          <p:nvPr/>
        </p:nvPicPr>
        <p:blipFill>
          <a:blip r:embed="rId4">
            <a:alphaModFix/>
          </a:blip>
          <a:stretch>
            <a:fillRect/>
          </a:stretch>
        </p:blipFill>
        <p:spPr>
          <a:xfrm>
            <a:off x="4784050" y="2882500"/>
            <a:ext cx="3665350" cy="2052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idx="1" type="body"/>
          </p:nvPr>
        </p:nvSpPr>
        <p:spPr>
          <a:xfrm>
            <a:off x="311700" y="350850"/>
            <a:ext cx="8520600" cy="4407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500">
                <a:solidFill>
                  <a:srgbClr val="0F1114"/>
                </a:solidFill>
                <a:highlight>
                  <a:srgbClr val="FFFFFF"/>
                </a:highlight>
              </a:rPr>
              <a:t>Artificial intelligence (AI) refers to computer systems capable of performing complex tasks that historically only a human could do, such as reasoning, making decisions, or solving problems. </a:t>
            </a:r>
            <a:endParaRPr sz="1500">
              <a:solidFill>
                <a:srgbClr val="0F1114"/>
              </a:solidFill>
              <a:highlight>
                <a:srgbClr val="FFFFFF"/>
              </a:highlight>
            </a:endParaRPr>
          </a:p>
          <a:p>
            <a:pPr indent="0" lvl="0" marL="0" rtl="0" algn="l">
              <a:spcBef>
                <a:spcPts val="0"/>
              </a:spcBef>
              <a:spcAft>
                <a:spcPts val="0"/>
              </a:spcAft>
              <a:buNone/>
            </a:pPr>
            <a:r>
              <a:t/>
            </a:r>
            <a:endParaRPr sz="1350">
              <a:solidFill>
                <a:srgbClr val="0F1114"/>
              </a:solidFill>
              <a:highlight>
                <a:srgbClr val="FFFFFF"/>
              </a:highlight>
            </a:endParaRPr>
          </a:p>
          <a:p>
            <a:pPr indent="0" lvl="0" marL="0" rtl="0" algn="l">
              <a:spcBef>
                <a:spcPts val="0"/>
              </a:spcBef>
              <a:spcAft>
                <a:spcPts val="0"/>
              </a:spcAft>
              <a:buNone/>
            </a:pPr>
            <a:r>
              <a:t/>
            </a:r>
            <a:endParaRPr sz="1350">
              <a:solidFill>
                <a:srgbClr val="0F1114"/>
              </a:solidFill>
              <a:highlight>
                <a:srgbClr val="FFFFFF"/>
              </a:highlight>
            </a:endParaRPr>
          </a:p>
          <a:p>
            <a:pPr indent="0" lvl="0" marL="0" rtl="0" algn="l">
              <a:spcBef>
                <a:spcPts val="0"/>
              </a:spcBef>
              <a:spcAft>
                <a:spcPts val="0"/>
              </a:spcAft>
              <a:buNone/>
            </a:pPr>
            <a:r>
              <a:t/>
            </a:r>
            <a:endParaRPr sz="1350">
              <a:solidFill>
                <a:srgbClr val="0F1114"/>
              </a:solidFill>
              <a:highlight>
                <a:srgbClr val="FFFFFF"/>
              </a:highlight>
            </a:endParaRPr>
          </a:p>
          <a:p>
            <a:pPr indent="0" lvl="0" marL="0" rtl="0" algn="l">
              <a:spcBef>
                <a:spcPts val="0"/>
              </a:spcBef>
              <a:spcAft>
                <a:spcPts val="0"/>
              </a:spcAft>
              <a:buNone/>
            </a:pPr>
            <a:r>
              <a:t/>
            </a:r>
            <a:endParaRPr sz="1350">
              <a:solidFill>
                <a:srgbClr val="0F1114"/>
              </a:solidFill>
              <a:highlight>
                <a:srgbClr val="FFFFFF"/>
              </a:highlight>
            </a:endParaRPr>
          </a:p>
          <a:p>
            <a:pPr indent="0" lvl="0" marL="0" rtl="0" algn="l">
              <a:spcBef>
                <a:spcPts val="0"/>
              </a:spcBef>
              <a:spcAft>
                <a:spcPts val="0"/>
              </a:spcAft>
              <a:buNone/>
            </a:pPr>
            <a:r>
              <a:t/>
            </a:r>
            <a:endParaRPr sz="1350">
              <a:solidFill>
                <a:srgbClr val="0F1114"/>
              </a:solidFill>
              <a:highlight>
                <a:srgbClr val="FFFFFF"/>
              </a:highlight>
            </a:endParaRPr>
          </a:p>
          <a:p>
            <a:pPr indent="0" lvl="0" marL="0" rtl="0" algn="l">
              <a:spcBef>
                <a:spcPts val="0"/>
              </a:spcBef>
              <a:spcAft>
                <a:spcPts val="0"/>
              </a:spcAft>
              <a:buNone/>
            </a:pPr>
            <a:r>
              <a:t/>
            </a:r>
            <a:endParaRPr sz="1350">
              <a:solidFill>
                <a:srgbClr val="0F1114"/>
              </a:solidFill>
              <a:highlight>
                <a:srgbClr val="FFFFFF"/>
              </a:highlight>
            </a:endParaRPr>
          </a:p>
          <a:p>
            <a:pPr indent="0" lvl="0" marL="0" rtl="0" algn="l">
              <a:spcBef>
                <a:spcPts val="0"/>
              </a:spcBef>
              <a:spcAft>
                <a:spcPts val="0"/>
              </a:spcAft>
              <a:buNone/>
            </a:pPr>
            <a:r>
              <a:t/>
            </a:r>
            <a:endParaRPr sz="1350">
              <a:solidFill>
                <a:srgbClr val="0F1114"/>
              </a:solidFill>
              <a:highlight>
                <a:srgbClr val="FFFFFF"/>
              </a:highlight>
            </a:endParaRPr>
          </a:p>
          <a:p>
            <a:pPr indent="0" lvl="0" marL="0" rtl="0" algn="l">
              <a:spcBef>
                <a:spcPts val="0"/>
              </a:spcBef>
              <a:spcAft>
                <a:spcPts val="0"/>
              </a:spcAft>
              <a:buNone/>
            </a:pPr>
            <a:r>
              <a:t/>
            </a:r>
            <a:endParaRPr sz="1350">
              <a:solidFill>
                <a:srgbClr val="0F1114"/>
              </a:solidFill>
              <a:highlight>
                <a:srgbClr val="FFFFFF"/>
              </a:highlight>
            </a:endParaRPr>
          </a:p>
          <a:p>
            <a:pPr indent="0" lvl="0" marL="0" rtl="0" algn="l">
              <a:spcBef>
                <a:spcPts val="0"/>
              </a:spcBef>
              <a:spcAft>
                <a:spcPts val="0"/>
              </a:spcAft>
              <a:buNone/>
            </a:pPr>
            <a:r>
              <a:t/>
            </a:r>
            <a:endParaRPr sz="1350">
              <a:solidFill>
                <a:srgbClr val="0F1114"/>
              </a:solidFill>
              <a:highlight>
                <a:srgbClr val="FFFFFF"/>
              </a:highlight>
            </a:endParaRPr>
          </a:p>
          <a:p>
            <a:pPr indent="0" lvl="0" marL="0" rtl="0" algn="l">
              <a:spcBef>
                <a:spcPts val="0"/>
              </a:spcBef>
              <a:spcAft>
                <a:spcPts val="0"/>
              </a:spcAft>
              <a:buNone/>
            </a:pPr>
            <a:r>
              <a:t/>
            </a:r>
            <a:endParaRPr sz="1350">
              <a:solidFill>
                <a:srgbClr val="0F1114"/>
              </a:solidFill>
              <a:highlight>
                <a:srgbClr val="FFFFFF"/>
              </a:highlight>
            </a:endParaRPr>
          </a:p>
          <a:p>
            <a:pPr indent="0" lvl="0" marL="0" rtl="0" algn="l">
              <a:spcBef>
                <a:spcPts val="0"/>
              </a:spcBef>
              <a:spcAft>
                <a:spcPts val="0"/>
              </a:spcAft>
              <a:buNone/>
            </a:pPr>
            <a:r>
              <a:t/>
            </a:r>
            <a:endParaRPr sz="1350">
              <a:solidFill>
                <a:srgbClr val="0F1114"/>
              </a:solidFill>
              <a:highlight>
                <a:srgbClr val="FFFFFF"/>
              </a:highlight>
            </a:endParaRPr>
          </a:p>
          <a:p>
            <a:pPr indent="0" lvl="0" marL="0" rtl="0" algn="l">
              <a:spcBef>
                <a:spcPts val="0"/>
              </a:spcBef>
              <a:spcAft>
                <a:spcPts val="0"/>
              </a:spcAft>
              <a:buClr>
                <a:schemeClr val="dk1"/>
              </a:buClr>
              <a:buSzPts val="1100"/>
              <a:buFont typeface="Arial"/>
              <a:buNone/>
            </a:pPr>
            <a:r>
              <a:rPr lang="en" sz="1500">
                <a:solidFill>
                  <a:srgbClr val="0F1114"/>
                </a:solidFill>
                <a:highlight>
                  <a:srgbClr val="FFFFFF"/>
                </a:highlight>
              </a:rPr>
              <a:t>It is the theory and development of computer systems capable of performing tasks that historically required human intelligence, such as recognizing speech, making decisions, and identifying patterns.</a:t>
            </a:r>
            <a:endParaRPr sz="1500">
              <a:solidFill>
                <a:srgbClr val="0F1114"/>
              </a:solidFill>
              <a:highlight>
                <a:srgbClr val="FFFFFF"/>
              </a:highlight>
            </a:endParaRPr>
          </a:p>
          <a:p>
            <a:pPr indent="0" lvl="0" marL="0" rtl="0" algn="l">
              <a:spcBef>
                <a:spcPts val="0"/>
              </a:spcBef>
              <a:spcAft>
                <a:spcPts val="1200"/>
              </a:spcAft>
              <a:buNone/>
            </a:pPr>
            <a:r>
              <a:t/>
            </a:r>
            <a:endParaRPr/>
          </a:p>
        </p:txBody>
      </p:sp>
      <p:pic>
        <p:nvPicPr>
          <p:cNvPr id="62" name="Google Shape;62;p14" title="images (4).jpg"/>
          <p:cNvPicPr preferRelativeResize="0"/>
          <p:nvPr/>
        </p:nvPicPr>
        <p:blipFill>
          <a:blip r:embed="rId3">
            <a:alphaModFix/>
          </a:blip>
          <a:stretch>
            <a:fillRect/>
          </a:stretch>
        </p:blipFill>
        <p:spPr>
          <a:xfrm>
            <a:off x="2320280" y="1140250"/>
            <a:ext cx="4039850" cy="21043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idx="1" type="body"/>
          </p:nvPr>
        </p:nvSpPr>
        <p:spPr>
          <a:xfrm>
            <a:off x="311700" y="405675"/>
            <a:ext cx="8520600" cy="435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350">
                <a:solidFill>
                  <a:srgbClr val="0F1114"/>
                </a:solidFill>
                <a:highlight>
                  <a:srgbClr val="FFFFFF"/>
                </a:highlight>
              </a:rPr>
              <a:t>AI is an umbrella term that encompasses a wide variety of technologies, including</a:t>
            </a:r>
            <a:r>
              <a:rPr lang="en" sz="1350">
                <a:solidFill>
                  <a:srgbClr val="0F1114"/>
                </a:solidFill>
                <a:highlight>
                  <a:srgbClr val="FFFF00"/>
                </a:highlight>
              </a:rPr>
              <a:t> </a:t>
            </a:r>
            <a:r>
              <a:rPr b="1" lang="en" sz="1350">
                <a:solidFill>
                  <a:srgbClr val="0F1114"/>
                </a:solidFill>
                <a:highlight>
                  <a:srgbClr val="FFFF00"/>
                </a:highlight>
              </a:rPr>
              <a:t>machine learning, deep learning, and natural language processing (NLP). </a:t>
            </a:r>
            <a:endParaRPr b="1" sz="1350">
              <a:solidFill>
                <a:srgbClr val="0F1114"/>
              </a:solidFill>
              <a:highlight>
                <a:srgbClr val="FFFF00"/>
              </a:highlight>
            </a:endParaRPr>
          </a:p>
          <a:p>
            <a:pPr indent="0" lvl="0" marL="0" rtl="0" algn="l">
              <a:spcBef>
                <a:spcPts val="0"/>
              </a:spcBef>
              <a:spcAft>
                <a:spcPts val="0"/>
              </a:spcAft>
              <a:buNone/>
            </a:pPr>
            <a:r>
              <a:rPr b="1" lang="en"/>
              <a:t> </a:t>
            </a:r>
            <a:endParaRPr b="1"/>
          </a:p>
          <a:p>
            <a:pPr indent="0" lvl="0" marL="0" rtl="0" algn="l">
              <a:spcBef>
                <a:spcPts val="1200"/>
              </a:spcBef>
              <a:spcAft>
                <a:spcPts val="1200"/>
              </a:spcAft>
              <a:buNone/>
            </a:pPr>
            <a:r>
              <a:t/>
            </a:r>
            <a:endParaRPr/>
          </a:p>
        </p:txBody>
      </p:sp>
      <p:pic>
        <p:nvPicPr>
          <p:cNvPr id="68" name="Google Shape;68;p15" title="ec2e62f5-d152-481e-9eab-b3283161b691.jpg"/>
          <p:cNvPicPr preferRelativeResize="0"/>
          <p:nvPr/>
        </p:nvPicPr>
        <p:blipFill>
          <a:blip r:embed="rId3">
            <a:alphaModFix/>
          </a:blip>
          <a:stretch>
            <a:fillRect/>
          </a:stretch>
        </p:blipFill>
        <p:spPr>
          <a:xfrm>
            <a:off x="695525" y="1304725"/>
            <a:ext cx="3218624" cy="3218624"/>
          </a:xfrm>
          <a:prstGeom prst="rect">
            <a:avLst/>
          </a:prstGeom>
          <a:noFill/>
          <a:ln>
            <a:noFill/>
          </a:ln>
        </p:spPr>
      </p:pic>
      <p:pic>
        <p:nvPicPr>
          <p:cNvPr id="69" name="Google Shape;69;p15" title="05dfc192-d9f9-4c41-9262-567be435056a.jpg"/>
          <p:cNvPicPr preferRelativeResize="0"/>
          <p:nvPr/>
        </p:nvPicPr>
        <p:blipFill>
          <a:blip r:embed="rId4">
            <a:alphaModFix/>
          </a:blip>
          <a:stretch>
            <a:fillRect/>
          </a:stretch>
        </p:blipFill>
        <p:spPr>
          <a:xfrm>
            <a:off x="4791275" y="1304725"/>
            <a:ext cx="3475599" cy="30918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idx="1" type="body"/>
          </p:nvPr>
        </p:nvSpPr>
        <p:spPr>
          <a:xfrm>
            <a:off x="311700" y="453850"/>
            <a:ext cx="8520600" cy="3416400"/>
          </a:xfrm>
          <a:prstGeom prst="rect">
            <a:avLst/>
          </a:prstGeom>
        </p:spPr>
        <p:txBody>
          <a:bodyPr anchorCtr="0" anchor="t" bIns="91425" lIns="91425" spcFirstLastPara="1" rIns="91425" wrap="square" tIns="91425">
            <a:normAutofit/>
          </a:bodyPr>
          <a:lstStyle/>
          <a:p>
            <a:pPr indent="0" lvl="0" marL="0" rtl="0" algn="l">
              <a:lnSpc>
                <a:spcPct val="179435"/>
              </a:lnSpc>
              <a:spcBef>
                <a:spcPts val="0"/>
              </a:spcBef>
              <a:spcAft>
                <a:spcPts val="0"/>
              </a:spcAft>
              <a:buNone/>
            </a:pPr>
            <a:r>
              <a:rPr lang="en" sz="1500">
                <a:solidFill>
                  <a:srgbClr val="212529"/>
                </a:solidFill>
                <a:highlight>
                  <a:srgbClr val="FFFFFF"/>
                </a:highlight>
              </a:rPr>
              <a:t>AI involves creating computer programs that can solve problems, make decisions, and improve over time. These smart programs can analyze data, recognize patterns, and adapt to new information. Whether it’s a self-driving car or a personalized recommendation on YouTube, AI is all about making our lives easier and more exciting by mimicking human intelligence.</a:t>
            </a:r>
            <a:endParaRPr sz="1500">
              <a:solidFill>
                <a:srgbClr val="212529"/>
              </a:solidFill>
              <a:highlight>
                <a:srgbClr val="FFFFFF"/>
              </a:highlight>
            </a:endParaRPr>
          </a:p>
          <a:p>
            <a:pPr indent="0" lvl="0" marL="0" rtl="0" algn="l">
              <a:lnSpc>
                <a:spcPct val="179435"/>
              </a:lnSpc>
              <a:spcBef>
                <a:spcPts val="0"/>
              </a:spcBef>
              <a:spcAft>
                <a:spcPts val="0"/>
              </a:spcAft>
              <a:buNone/>
            </a:pPr>
            <a:r>
              <a:t/>
            </a:r>
            <a:endParaRPr sz="1500">
              <a:solidFill>
                <a:srgbClr val="212529"/>
              </a:solidFill>
              <a:highlight>
                <a:srgbClr val="FFFFFF"/>
              </a:highlight>
            </a:endParaRPr>
          </a:p>
          <a:p>
            <a:pPr indent="0" lvl="0" marL="0" rtl="0" algn="l">
              <a:lnSpc>
                <a:spcPct val="179435"/>
              </a:lnSpc>
              <a:spcBef>
                <a:spcPts val="0"/>
              </a:spcBef>
              <a:spcAft>
                <a:spcPts val="0"/>
              </a:spcAft>
              <a:buNone/>
            </a:pPr>
            <a:r>
              <a:t/>
            </a:r>
            <a:endParaRPr sz="1500">
              <a:solidFill>
                <a:srgbClr val="212529"/>
              </a:solidFill>
              <a:highlight>
                <a:srgbClr val="FFFFFF"/>
              </a:highlight>
            </a:endParaRPr>
          </a:p>
          <a:p>
            <a:pPr indent="0" lvl="0" marL="0" rtl="0" algn="l">
              <a:lnSpc>
                <a:spcPct val="179435"/>
              </a:lnSpc>
              <a:spcBef>
                <a:spcPts val="0"/>
              </a:spcBef>
              <a:spcAft>
                <a:spcPts val="0"/>
              </a:spcAft>
              <a:buClr>
                <a:schemeClr val="dk1"/>
              </a:buClr>
              <a:buSzPts val="1100"/>
              <a:buFont typeface="Arial"/>
              <a:buNone/>
            </a:pPr>
            <a:r>
              <a:t/>
            </a:r>
            <a:endParaRPr sz="1500">
              <a:solidFill>
                <a:srgbClr val="212529"/>
              </a:solidFill>
              <a:highlight>
                <a:srgbClr val="FFFFFF"/>
              </a:highlight>
            </a:endParaRPr>
          </a:p>
          <a:p>
            <a:pPr indent="0" lvl="0" marL="0" rtl="0" algn="l">
              <a:spcBef>
                <a:spcPts val="0"/>
              </a:spcBef>
              <a:spcAft>
                <a:spcPts val="1200"/>
              </a:spcAft>
              <a:buNone/>
            </a:pPr>
            <a:r>
              <a:t/>
            </a:r>
            <a:endParaRPr sz="1500"/>
          </a:p>
        </p:txBody>
      </p:sp>
      <p:pic>
        <p:nvPicPr>
          <p:cNvPr id="75" name="Google Shape;75;p16" title="bc684b28-5b34-4e13-a73c-0f769f4cf9a9.jpg"/>
          <p:cNvPicPr preferRelativeResize="0"/>
          <p:nvPr/>
        </p:nvPicPr>
        <p:blipFill>
          <a:blip r:embed="rId3">
            <a:alphaModFix/>
          </a:blip>
          <a:stretch>
            <a:fillRect/>
          </a:stretch>
        </p:blipFill>
        <p:spPr>
          <a:xfrm>
            <a:off x="526500" y="2272500"/>
            <a:ext cx="2575800" cy="2415375"/>
          </a:xfrm>
          <a:prstGeom prst="rect">
            <a:avLst/>
          </a:prstGeom>
          <a:noFill/>
          <a:ln>
            <a:noFill/>
          </a:ln>
        </p:spPr>
      </p:pic>
      <p:pic>
        <p:nvPicPr>
          <p:cNvPr id="76" name="Google Shape;76;p16" title="download (17).jpg"/>
          <p:cNvPicPr preferRelativeResize="0"/>
          <p:nvPr/>
        </p:nvPicPr>
        <p:blipFill>
          <a:blip r:embed="rId4">
            <a:alphaModFix/>
          </a:blip>
          <a:stretch>
            <a:fillRect/>
          </a:stretch>
        </p:blipFill>
        <p:spPr>
          <a:xfrm>
            <a:off x="4288500" y="2511000"/>
            <a:ext cx="3616475" cy="20252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AI</a:t>
            </a:r>
            <a:endParaRPr/>
          </a:p>
        </p:txBody>
      </p:sp>
      <p:sp>
        <p:nvSpPr>
          <p:cNvPr id="82" name="Google Shape;82;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 sz="1500">
                <a:solidFill>
                  <a:schemeClr val="dk1"/>
                </a:solidFill>
              </a:rPr>
              <a:t>AI comes in different types:</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Narrow AI</a:t>
            </a:r>
            <a:r>
              <a:rPr lang="en" sz="1500">
                <a:solidFill>
                  <a:schemeClr val="dk1"/>
                </a:solidFill>
              </a:rPr>
              <a:t>: Specialized for specific tasks, like facial recognition or music recommendations.</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General AI</a:t>
            </a:r>
            <a:r>
              <a:rPr lang="en" sz="1500">
                <a:solidFill>
                  <a:schemeClr val="dk1"/>
                </a:solidFill>
              </a:rPr>
              <a:t>: Human-like intelligence that can learn and apply knowledge across various tasks (not yet achieved).</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Super AI</a:t>
            </a:r>
            <a:r>
              <a:rPr lang="en" sz="1500">
                <a:solidFill>
                  <a:schemeClr val="dk1"/>
                </a:solidFill>
              </a:rPr>
              <a:t>: A hypothetical AI surpassing human intelligence, excelling in all intellectual tasks.</a:t>
            </a:r>
            <a:endParaRPr sz="1500">
              <a:solidFill>
                <a:schemeClr val="dk1"/>
              </a:solidFill>
            </a:endParaRPr>
          </a:p>
          <a:p>
            <a:pPr indent="0" lvl="0" marL="0" rtl="0" algn="l">
              <a:spcBef>
                <a:spcPts val="1200"/>
              </a:spcBef>
              <a:spcAft>
                <a:spcPts val="1200"/>
              </a:spcAft>
              <a:buNone/>
            </a:pPr>
            <a:r>
              <a:t/>
            </a:r>
            <a:endParaRPr sz="1500">
              <a:solidFill>
                <a:srgbClr val="212529"/>
              </a:solidFill>
              <a:highlight>
                <a:srgbClr val="FFFFFF"/>
              </a:highlight>
            </a:endParaRPr>
          </a:p>
        </p:txBody>
      </p:sp>
      <p:pic>
        <p:nvPicPr>
          <p:cNvPr id="83" name="Google Shape;83;p17" title="images (8).jpg"/>
          <p:cNvPicPr preferRelativeResize="0"/>
          <p:nvPr/>
        </p:nvPicPr>
        <p:blipFill>
          <a:blip r:embed="rId3">
            <a:alphaModFix/>
          </a:blip>
          <a:stretch>
            <a:fillRect/>
          </a:stretch>
        </p:blipFill>
        <p:spPr>
          <a:xfrm>
            <a:off x="2905650" y="3373763"/>
            <a:ext cx="3028950" cy="15144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DAILY LIFE USES OF AI</a:t>
            </a:r>
            <a:endParaRPr/>
          </a:p>
        </p:txBody>
      </p:sp>
      <p:sp>
        <p:nvSpPr>
          <p:cNvPr id="89" name="Google Shape;89;p1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10000"/>
              </a:lnSpc>
              <a:spcBef>
                <a:spcPts val="700"/>
              </a:spcBef>
              <a:spcAft>
                <a:spcPts val="0"/>
              </a:spcAft>
              <a:buClr>
                <a:schemeClr val="dk1"/>
              </a:buClr>
              <a:buSzPts val="1100"/>
              <a:buFont typeface="Arial"/>
              <a:buNone/>
            </a:pPr>
            <a:r>
              <a:rPr lang="en" sz="1500">
                <a:solidFill>
                  <a:srgbClr val="032D60"/>
                </a:solidFill>
                <a:highlight>
                  <a:srgbClr val="FAFAFA"/>
                </a:highlight>
              </a:rPr>
              <a:t>Digital assistants</a:t>
            </a:r>
            <a:endParaRPr sz="1500">
              <a:solidFill>
                <a:srgbClr val="032D60"/>
              </a:solidFill>
              <a:highlight>
                <a:srgbClr val="FAFAFA"/>
              </a:highlight>
            </a:endParaRPr>
          </a:p>
          <a:p>
            <a:pPr indent="0" lvl="0" marL="0" rtl="0" algn="l">
              <a:spcBef>
                <a:spcPts val="1200"/>
              </a:spcBef>
              <a:spcAft>
                <a:spcPts val="0"/>
              </a:spcAft>
              <a:buClr>
                <a:schemeClr val="dk1"/>
              </a:buClr>
              <a:buSzPts val="1100"/>
              <a:buFont typeface="Arial"/>
              <a:buNone/>
            </a:pPr>
            <a:r>
              <a:rPr lang="en" sz="1500">
                <a:solidFill>
                  <a:srgbClr val="333333"/>
                </a:solidFill>
                <a:highlight>
                  <a:srgbClr val="FAFAFA"/>
                </a:highlight>
              </a:rPr>
              <a:t>If you have a smartphone or laptop, you probably have and use digital assistant software to some degree.</a:t>
            </a:r>
            <a:endParaRPr sz="1500">
              <a:solidFill>
                <a:srgbClr val="333333"/>
              </a:solidFill>
              <a:highlight>
                <a:srgbClr val="FAFAFA"/>
              </a:highlight>
            </a:endParaRPr>
          </a:p>
          <a:p>
            <a:pPr indent="0" lvl="0" marL="0" rtl="0" algn="l">
              <a:spcBef>
                <a:spcPts val="1200"/>
              </a:spcBef>
              <a:spcAft>
                <a:spcPts val="0"/>
              </a:spcAft>
              <a:buClr>
                <a:schemeClr val="dk1"/>
              </a:buClr>
              <a:buSzPts val="1100"/>
              <a:buFont typeface="Arial"/>
              <a:buNone/>
            </a:pPr>
            <a:r>
              <a:rPr lang="en" sz="1500">
                <a:solidFill>
                  <a:srgbClr val="333333"/>
                </a:solidFill>
                <a:highlight>
                  <a:srgbClr val="FAFAFA"/>
                </a:highlight>
              </a:rPr>
              <a:t>Some of the most popular digital assistants include:</a:t>
            </a:r>
            <a:endParaRPr sz="1500">
              <a:solidFill>
                <a:srgbClr val="333333"/>
              </a:solidFill>
              <a:highlight>
                <a:srgbClr val="FAFAFA"/>
              </a:highlight>
            </a:endParaRPr>
          </a:p>
          <a:p>
            <a:pPr indent="-323850" lvl="0" marL="457200" rtl="0" algn="l">
              <a:lnSpc>
                <a:spcPct val="150000"/>
              </a:lnSpc>
              <a:spcBef>
                <a:spcPts val="1200"/>
              </a:spcBef>
              <a:spcAft>
                <a:spcPts val="0"/>
              </a:spcAft>
              <a:buClr>
                <a:srgbClr val="333333"/>
              </a:buClr>
              <a:buSzPts val="1500"/>
              <a:buFont typeface="Arial"/>
              <a:buChar char="●"/>
            </a:pPr>
            <a:r>
              <a:rPr lang="en" sz="1500">
                <a:solidFill>
                  <a:srgbClr val="333333"/>
                </a:solidFill>
                <a:highlight>
                  <a:srgbClr val="FAFAFA"/>
                </a:highlight>
              </a:rPr>
              <a:t>Siri (Apple)</a:t>
            </a:r>
            <a:endParaRPr sz="1500">
              <a:solidFill>
                <a:srgbClr val="333333"/>
              </a:solidFill>
              <a:highlight>
                <a:srgbClr val="FAFAFA"/>
              </a:highlight>
            </a:endParaRPr>
          </a:p>
          <a:p>
            <a:pPr indent="-323850" lvl="0" marL="457200" rtl="0" algn="l">
              <a:lnSpc>
                <a:spcPct val="150000"/>
              </a:lnSpc>
              <a:spcBef>
                <a:spcPts val="0"/>
              </a:spcBef>
              <a:spcAft>
                <a:spcPts val="0"/>
              </a:spcAft>
              <a:buClr>
                <a:srgbClr val="333333"/>
              </a:buClr>
              <a:buSzPts val="1500"/>
              <a:buFont typeface="Arial"/>
              <a:buChar char="●"/>
            </a:pPr>
            <a:r>
              <a:rPr lang="en" sz="1500">
                <a:solidFill>
                  <a:srgbClr val="333333"/>
                </a:solidFill>
                <a:highlight>
                  <a:srgbClr val="FAFAFA"/>
                </a:highlight>
              </a:rPr>
              <a:t>Alexa (Amazon)</a:t>
            </a:r>
            <a:endParaRPr sz="1500">
              <a:solidFill>
                <a:srgbClr val="333333"/>
              </a:solidFill>
              <a:highlight>
                <a:srgbClr val="FAFAFA"/>
              </a:highlight>
            </a:endParaRPr>
          </a:p>
          <a:p>
            <a:pPr indent="-323850" lvl="0" marL="457200" rtl="0" algn="l">
              <a:lnSpc>
                <a:spcPct val="150000"/>
              </a:lnSpc>
              <a:spcBef>
                <a:spcPts val="0"/>
              </a:spcBef>
              <a:spcAft>
                <a:spcPts val="0"/>
              </a:spcAft>
              <a:buClr>
                <a:srgbClr val="333333"/>
              </a:buClr>
              <a:buSzPts val="1500"/>
              <a:buFont typeface="Arial"/>
              <a:buChar char="●"/>
            </a:pPr>
            <a:r>
              <a:rPr lang="en" sz="1500">
                <a:solidFill>
                  <a:srgbClr val="333333"/>
                </a:solidFill>
                <a:highlight>
                  <a:srgbClr val="FAFAFA"/>
                </a:highlight>
              </a:rPr>
              <a:t>Cortana (Microsoft)</a:t>
            </a:r>
            <a:endParaRPr sz="1500">
              <a:solidFill>
                <a:srgbClr val="333333"/>
              </a:solidFill>
              <a:highlight>
                <a:srgbClr val="FAFAFA"/>
              </a:highlight>
            </a:endParaRPr>
          </a:p>
          <a:p>
            <a:pPr indent="-323850" lvl="0" marL="457200" rtl="0" algn="l">
              <a:lnSpc>
                <a:spcPct val="150000"/>
              </a:lnSpc>
              <a:spcBef>
                <a:spcPts val="0"/>
              </a:spcBef>
              <a:spcAft>
                <a:spcPts val="0"/>
              </a:spcAft>
              <a:buClr>
                <a:srgbClr val="333333"/>
              </a:buClr>
              <a:buSzPts val="1500"/>
              <a:buFont typeface="Arial"/>
              <a:buChar char="●"/>
            </a:pPr>
            <a:r>
              <a:rPr lang="en" sz="1500">
                <a:solidFill>
                  <a:srgbClr val="333333"/>
                </a:solidFill>
                <a:highlight>
                  <a:srgbClr val="FAFAFA"/>
                </a:highlight>
              </a:rPr>
              <a:t>Google Assistant (Google)</a:t>
            </a:r>
            <a:endParaRPr sz="1500">
              <a:solidFill>
                <a:srgbClr val="333333"/>
              </a:solidFill>
              <a:highlight>
                <a:srgbClr val="FAFAFA"/>
              </a:highlight>
            </a:endParaRPr>
          </a:p>
          <a:p>
            <a:pPr indent="-323850" lvl="0" marL="457200" rtl="0" algn="l">
              <a:lnSpc>
                <a:spcPct val="150000"/>
              </a:lnSpc>
              <a:spcBef>
                <a:spcPts val="0"/>
              </a:spcBef>
              <a:spcAft>
                <a:spcPts val="0"/>
              </a:spcAft>
              <a:buClr>
                <a:srgbClr val="333333"/>
              </a:buClr>
              <a:buSzPts val="1500"/>
              <a:buFont typeface="Arial"/>
              <a:buChar char="●"/>
            </a:pPr>
            <a:r>
              <a:rPr lang="en" sz="1500">
                <a:solidFill>
                  <a:srgbClr val="333333"/>
                </a:solidFill>
                <a:highlight>
                  <a:srgbClr val="FAFAFA"/>
                </a:highlight>
              </a:rPr>
              <a:t>Bixby (Samsung)</a:t>
            </a:r>
            <a:endParaRPr sz="1500">
              <a:solidFill>
                <a:srgbClr val="333333"/>
              </a:solidFill>
              <a:highlight>
                <a:srgbClr val="FAFAFA"/>
              </a:highlight>
            </a:endParaRPr>
          </a:p>
          <a:p>
            <a:pPr indent="0" lvl="0" marL="0" rtl="0" algn="l">
              <a:spcBef>
                <a:spcPts val="2000"/>
              </a:spcBef>
              <a:spcAft>
                <a:spcPts val="1200"/>
              </a:spcAft>
              <a:buNone/>
            </a:pPr>
            <a:r>
              <a:t/>
            </a:r>
            <a:endParaRPr sz="1500"/>
          </a:p>
        </p:txBody>
      </p:sp>
      <p:pic>
        <p:nvPicPr>
          <p:cNvPr id="90" name="Google Shape;90;p18" title="download (18).jpg"/>
          <p:cNvPicPr preferRelativeResize="0"/>
          <p:nvPr/>
        </p:nvPicPr>
        <p:blipFill>
          <a:blip r:embed="rId3">
            <a:alphaModFix/>
          </a:blip>
          <a:stretch>
            <a:fillRect/>
          </a:stretch>
        </p:blipFill>
        <p:spPr>
          <a:xfrm>
            <a:off x="3480750" y="3181488"/>
            <a:ext cx="2182500" cy="1222200"/>
          </a:xfrm>
          <a:prstGeom prst="rect">
            <a:avLst/>
          </a:prstGeom>
          <a:noFill/>
          <a:ln>
            <a:noFill/>
          </a:ln>
        </p:spPr>
      </p:pic>
      <p:pic>
        <p:nvPicPr>
          <p:cNvPr id="91" name="Google Shape;91;p18" title="download (8).png"/>
          <p:cNvPicPr preferRelativeResize="0"/>
          <p:nvPr/>
        </p:nvPicPr>
        <p:blipFill>
          <a:blip r:embed="rId4">
            <a:alphaModFix/>
          </a:blip>
          <a:stretch>
            <a:fillRect/>
          </a:stretch>
        </p:blipFill>
        <p:spPr>
          <a:xfrm>
            <a:off x="5879550" y="3016288"/>
            <a:ext cx="2952750" cy="15525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idx="1" type="body"/>
          </p:nvPr>
        </p:nvSpPr>
        <p:spPr>
          <a:xfrm>
            <a:off x="129450" y="696850"/>
            <a:ext cx="8520600" cy="4152900"/>
          </a:xfrm>
          <a:prstGeom prst="rect">
            <a:avLst/>
          </a:prstGeom>
        </p:spPr>
        <p:txBody>
          <a:bodyPr anchorCtr="0" anchor="t" bIns="91425" lIns="91425" spcFirstLastPara="1" rIns="91425" wrap="square" tIns="91425">
            <a:noAutofit/>
          </a:bodyPr>
          <a:lstStyle/>
          <a:p>
            <a:pPr indent="0" lvl="0" marL="0" rtl="0" algn="l">
              <a:lnSpc>
                <a:spcPct val="110000"/>
              </a:lnSpc>
              <a:spcBef>
                <a:spcPts val="700"/>
              </a:spcBef>
              <a:spcAft>
                <a:spcPts val="0"/>
              </a:spcAft>
              <a:buClr>
                <a:schemeClr val="dk1"/>
              </a:buClr>
              <a:buSzPts val="1100"/>
              <a:buFont typeface="Arial"/>
              <a:buNone/>
            </a:pPr>
            <a:r>
              <a:rPr lang="en" sz="1500">
                <a:solidFill>
                  <a:srgbClr val="032D60"/>
                </a:solidFill>
                <a:highlight>
                  <a:srgbClr val="FFFFFF"/>
                </a:highlight>
              </a:rPr>
              <a:t>Search engines</a:t>
            </a:r>
            <a:endParaRPr sz="1500">
              <a:solidFill>
                <a:srgbClr val="032D60"/>
              </a:solidFill>
              <a:highlight>
                <a:srgbClr val="FFFFFF"/>
              </a:highlight>
            </a:endParaRPr>
          </a:p>
          <a:p>
            <a:pPr indent="0" lvl="0" marL="0" rtl="0" algn="l">
              <a:spcBef>
                <a:spcPts val="1200"/>
              </a:spcBef>
              <a:spcAft>
                <a:spcPts val="0"/>
              </a:spcAft>
              <a:buClr>
                <a:schemeClr val="dk1"/>
              </a:buClr>
              <a:buSzPts val="1100"/>
              <a:buFont typeface="Arial"/>
              <a:buNone/>
            </a:pPr>
            <a:r>
              <a:rPr lang="en" sz="1500">
                <a:solidFill>
                  <a:srgbClr val="333333"/>
                </a:solidFill>
                <a:highlight>
                  <a:srgbClr val="FFFFFF"/>
                </a:highlight>
              </a:rPr>
              <a:t>AI powers search engines by refining results and predicting queries. Features like "People also ask" and auto-complete rely on AI to enhance user experience. </a:t>
            </a:r>
            <a:endParaRPr sz="1500">
              <a:solidFill>
                <a:srgbClr val="333333"/>
              </a:solidFill>
              <a:highlight>
                <a:srgbClr val="FFFFFF"/>
              </a:highlight>
            </a:endParaRPr>
          </a:p>
          <a:p>
            <a:pPr indent="0" lvl="0" marL="0" rtl="0" algn="l">
              <a:spcBef>
                <a:spcPts val="1200"/>
              </a:spcBef>
              <a:spcAft>
                <a:spcPts val="0"/>
              </a:spcAft>
              <a:buClr>
                <a:schemeClr val="dk1"/>
              </a:buClr>
              <a:buSzPts val="1100"/>
              <a:buFont typeface="Arial"/>
              <a:buNone/>
            </a:pPr>
            <a:r>
              <a:rPr lang="en" sz="1500">
                <a:solidFill>
                  <a:srgbClr val="333333"/>
                </a:solidFill>
                <a:highlight>
                  <a:srgbClr val="FFFFFF"/>
                </a:highlight>
              </a:rPr>
              <a:t>Popular search engines include:</a:t>
            </a:r>
            <a:endParaRPr sz="1500">
              <a:solidFill>
                <a:srgbClr val="333333"/>
              </a:solidFill>
              <a:highlight>
                <a:srgbClr val="FFFFFF"/>
              </a:highlight>
            </a:endParaRPr>
          </a:p>
          <a:p>
            <a:pPr indent="-323850" lvl="0" marL="457200" rtl="0" algn="l">
              <a:lnSpc>
                <a:spcPct val="150000"/>
              </a:lnSpc>
              <a:spcBef>
                <a:spcPts val="1200"/>
              </a:spcBef>
              <a:spcAft>
                <a:spcPts val="0"/>
              </a:spcAft>
              <a:buClr>
                <a:srgbClr val="333333"/>
              </a:buClr>
              <a:buSzPts val="1500"/>
              <a:buFont typeface="Arial"/>
              <a:buChar char="●"/>
            </a:pPr>
            <a:r>
              <a:rPr lang="en" sz="1500">
                <a:solidFill>
                  <a:srgbClr val="333333"/>
                </a:solidFill>
                <a:highlight>
                  <a:srgbClr val="FFFFFF"/>
                </a:highlight>
              </a:rPr>
              <a:t>Google</a:t>
            </a:r>
            <a:endParaRPr sz="1500">
              <a:solidFill>
                <a:srgbClr val="333333"/>
              </a:solidFill>
              <a:highlight>
                <a:srgbClr val="FFFFFF"/>
              </a:highlight>
            </a:endParaRPr>
          </a:p>
          <a:p>
            <a:pPr indent="-323850" lvl="0" marL="457200" rtl="0" algn="l">
              <a:lnSpc>
                <a:spcPct val="150000"/>
              </a:lnSpc>
              <a:spcBef>
                <a:spcPts val="0"/>
              </a:spcBef>
              <a:spcAft>
                <a:spcPts val="0"/>
              </a:spcAft>
              <a:buClr>
                <a:srgbClr val="333333"/>
              </a:buClr>
              <a:buSzPts val="1500"/>
              <a:buFont typeface="Arial"/>
              <a:buChar char="●"/>
            </a:pPr>
            <a:r>
              <a:rPr lang="en" sz="1500">
                <a:solidFill>
                  <a:srgbClr val="333333"/>
                </a:solidFill>
                <a:highlight>
                  <a:srgbClr val="FFFFFF"/>
                </a:highlight>
              </a:rPr>
              <a:t>Yahoo</a:t>
            </a:r>
            <a:endParaRPr sz="1500">
              <a:solidFill>
                <a:srgbClr val="333333"/>
              </a:solidFill>
              <a:highlight>
                <a:srgbClr val="FFFFFF"/>
              </a:highlight>
            </a:endParaRPr>
          </a:p>
          <a:p>
            <a:pPr indent="0" lvl="0" marL="0" rtl="0" algn="l">
              <a:spcBef>
                <a:spcPts val="2000"/>
              </a:spcBef>
              <a:spcAft>
                <a:spcPts val="1200"/>
              </a:spcAft>
              <a:buNone/>
            </a:pPr>
            <a:r>
              <a:t/>
            </a:r>
            <a:endParaRPr sz="1500"/>
          </a:p>
        </p:txBody>
      </p:sp>
      <p:pic>
        <p:nvPicPr>
          <p:cNvPr id="97" name="Google Shape;97;p19" title="download (9).png"/>
          <p:cNvPicPr preferRelativeResize="0"/>
          <p:nvPr/>
        </p:nvPicPr>
        <p:blipFill>
          <a:blip r:embed="rId3">
            <a:alphaModFix/>
          </a:blip>
          <a:stretch>
            <a:fillRect/>
          </a:stretch>
        </p:blipFill>
        <p:spPr>
          <a:xfrm>
            <a:off x="3075675" y="2409750"/>
            <a:ext cx="4852200" cy="20020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idx="1" type="body"/>
          </p:nvPr>
        </p:nvSpPr>
        <p:spPr>
          <a:xfrm>
            <a:off x="311700" y="393100"/>
            <a:ext cx="8520600" cy="3416400"/>
          </a:xfrm>
          <a:prstGeom prst="rect">
            <a:avLst/>
          </a:prstGeom>
        </p:spPr>
        <p:txBody>
          <a:bodyPr anchorCtr="0" anchor="t" bIns="91425" lIns="91425" spcFirstLastPara="1" rIns="91425" wrap="square" tIns="91425">
            <a:noAutofit/>
          </a:bodyPr>
          <a:lstStyle/>
          <a:p>
            <a:pPr indent="0" lvl="0" marL="0" rtl="0" algn="l">
              <a:lnSpc>
                <a:spcPct val="110000"/>
              </a:lnSpc>
              <a:spcBef>
                <a:spcPts val="700"/>
              </a:spcBef>
              <a:spcAft>
                <a:spcPts val="0"/>
              </a:spcAft>
              <a:buClr>
                <a:schemeClr val="dk1"/>
              </a:buClr>
              <a:buSzPts val="1100"/>
              <a:buFont typeface="Arial"/>
              <a:buNone/>
            </a:pPr>
            <a:r>
              <a:rPr lang="en" sz="1500">
                <a:solidFill>
                  <a:srgbClr val="032D60"/>
                </a:solidFill>
                <a:highlight>
                  <a:srgbClr val="FAFAFA"/>
                </a:highlight>
              </a:rPr>
              <a:t>Social media</a:t>
            </a:r>
            <a:endParaRPr sz="1500">
              <a:solidFill>
                <a:srgbClr val="032D60"/>
              </a:solidFill>
              <a:highlight>
                <a:srgbClr val="FAFAFA"/>
              </a:highlight>
            </a:endParaRPr>
          </a:p>
          <a:p>
            <a:pPr indent="0" lvl="0" marL="0" rtl="0" algn="l">
              <a:spcBef>
                <a:spcPts val="1200"/>
              </a:spcBef>
              <a:spcAft>
                <a:spcPts val="0"/>
              </a:spcAft>
              <a:buClr>
                <a:schemeClr val="dk1"/>
              </a:buClr>
              <a:buSzPts val="1100"/>
              <a:buFont typeface="Arial"/>
              <a:buNone/>
            </a:pPr>
            <a:r>
              <a:rPr lang="en" sz="1500">
                <a:solidFill>
                  <a:srgbClr val="333333"/>
                </a:solidFill>
                <a:highlight>
                  <a:srgbClr val="FAFAFA"/>
                </a:highlight>
              </a:rPr>
              <a:t>Social media platforms use AI to personalize content and collect user data for ads, keeping users engaged.</a:t>
            </a:r>
            <a:endParaRPr sz="1500">
              <a:solidFill>
                <a:srgbClr val="333333"/>
              </a:solidFill>
              <a:highlight>
                <a:srgbClr val="FAFAFA"/>
              </a:highlight>
            </a:endParaRPr>
          </a:p>
          <a:p>
            <a:pPr indent="0" lvl="0" marL="0" rtl="0" algn="l">
              <a:spcBef>
                <a:spcPts val="1200"/>
              </a:spcBef>
              <a:spcAft>
                <a:spcPts val="0"/>
              </a:spcAft>
              <a:buClr>
                <a:schemeClr val="dk1"/>
              </a:buClr>
              <a:buSzPts val="1100"/>
              <a:buFont typeface="Arial"/>
              <a:buNone/>
            </a:pPr>
            <a:r>
              <a:rPr lang="en" sz="1500">
                <a:solidFill>
                  <a:srgbClr val="333333"/>
                </a:solidFill>
                <a:highlight>
                  <a:srgbClr val="FAFAFA"/>
                </a:highlight>
              </a:rPr>
              <a:t>You can train your social media algorithms to show the content you like by creating filters, or searching carefully for what you like, and purposefully interacting (liking, commenting, sharing, etc.) with things you enjoy.</a:t>
            </a:r>
            <a:endParaRPr sz="1500">
              <a:solidFill>
                <a:srgbClr val="333333"/>
              </a:solidFill>
              <a:highlight>
                <a:srgbClr val="FAFAFA"/>
              </a:highlight>
            </a:endParaRPr>
          </a:p>
          <a:p>
            <a:pPr indent="0" lvl="0" marL="0" rtl="0" algn="l">
              <a:spcBef>
                <a:spcPts val="1200"/>
              </a:spcBef>
              <a:spcAft>
                <a:spcPts val="0"/>
              </a:spcAft>
              <a:buClr>
                <a:schemeClr val="dk1"/>
              </a:buClr>
              <a:buSzPts val="1100"/>
              <a:buFont typeface="Arial"/>
              <a:buNone/>
            </a:pPr>
            <a:r>
              <a:rPr lang="en" sz="1500">
                <a:solidFill>
                  <a:srgbClr val="333333"/>
                </a:solidFill>
                <a:highlight>
                  <a:srgbClr val="FAFAFA"/>
                </a:highlight>
              </a:rPr>
              <a:t>Popular social media platforms include:</a:t>
            </a:r>
            <a:endParaRPr sz="1500">
              <a:solidFill>
                <a:srgbClr val="333333"/>
              </a:solidFill>
              <a:highlight>
                <a:srgbClr val="FAFAFA"/>
              </a:highlight>
            </a:endParaRPr>
          </a:p>
          <a:p>
            <a:pPr indent="-323850" lvl="0" marL="457200" rtl="0" algn="l">
              <a:lnSpc>
                <a:spcPct val="150000"/>
              </a:lnSpc>
              <a:spcBef>
                <a:spcPts val="1200"/>
              </a:spcBef>
              <a:spcAft>
                <a:spcPts val="0"/>
              </a:spcAft>
              <a:buClr>
                <a:srgbClr val="333333"/>
              </a:buClr>
              <a:buSzPts val="1500"/>
              <a:buFont typeface="Arial"/>
              <a:buChar char="●"/>
            </a:pPr>
            <a:r>
              <a:rPr lang="en" sz="1500">
                <a:solidFill>
                  <a:srgbClr val="333333"/>
                </a:solidFill>
                <a:highlight>
                  <a:srgbClr val="FAFAFA"/>
                </a:highlight>
              </a:rPr>
              <a:t>Facebook (Meta)</a:t>
            </a:r>
            <a:endParaRPr sz="1500">
              <a:solidFill>
                <a:srgbClr val="333333"/>
              </a:solidFill>
              <a:highlight>
                <a:srgbClr val="FAFAFA"/>
              </a:highlight>
            </a:endParaRPr>
          </a:p>
          <a:p>
            <a:pPr indent="-323850" lvl="0" marL="457200" rtl="0" algn="l">
              <a:lnSpc>
                <a:spcPct val="150000"/>
              </a:lnSpc>
              <a:spcBef>
                <a:spcPts val="0"/>
              </a:spcBef>
              <a:spcAft>
                <a:spcPts val="0"/>
              </a:spcAft>
              <a:buClr>
                <a:srgbClr val="333333"/>
              </a:buClr>
              <a:buSzPts val="1500"/>
              <a:buFont typeface="Arial"/>
              <a:buChar char="●"/>
            </a:pPr>
            <a:r>
              <a:rPr lang="en" sz="1500">
                <a:solidFill>
                  <a:srgbClr val="333333"/>
                </a:solidFill>
                <a:highlight>
                  <a:srgbClr val="FAFAFA"/>
                </a:highlight>
              </a:rPr>
              <a:t>Instagram (Meta)</a:t>
            </a:r>
            <a:endParaRPr sz="1500">
              <a:solidFill>
                <a:srgbClr val="333333"/>
              </a:solidFill>
              <a:highlight>
                <a:srgbClr val="FAFAFA"/>
              </a:highlight>
            </a:endParaRPr>
          </a:p>
          <a:p>
            <a:pPr indent="-323850" lvl="0" marL="457200" rtl="0" algn="l">
              <a:lnSpc>
                <a:spcPct val="150000"/>
              </a:lnSpc>
              <a:spcBef>
                <a:spcPts val="0"/>
              </a:spcBef>
              <a:spcAft>
                <a:spcPts val="0"/>
              </a:spcAft>
              <a:buClr>
                <a:srgbClr val="333333"/>
              </a:buClr>
              <a:buSzPts val="1500"/>
              <a:buFont typeface="Arial"/>
              <a:buChar char="●"/>
            </a:pPr>
            <a:r>
              <a:rPr lang="en" sz="1500">
                <a:solidFill>
                  <a:srgbClr val="333333"/>
                </a:solidFill>
                <a:highlight>
                  <a:srgbClr val="FAFAFA"/>
                </a:highlight>
              </a:rPr>
              <a:t>YouTube</a:t>
            </a:r>
            <a:endParaRPr sz="1500">
              <a:solidFill>
                <a:srgbClr val="333333"/>
              </a:solidFill>
              <a:highlight>
                <a:srgbClr val="FAFAFA"/>
              </a:highlight>
            </a:endParaRPr>
          </a:p>
          <a:p>
            <a:pPr indent="-323850" lvl="0" marL="457200" rtl="0" algn="l">
              <a:lnSpc>
                <a:spcPct val="150000"/>
              </a:lnSpc>
              <a:spcBef>
                <a:spcPts val="0"/>
              </a:spcBef>
              <a:spcAft>
                <a:spcPts val="0"/>
              </a:spcAft>
              <a:buClr>
                <a:srgbClr val="333333"/>
              </a:buClr>
              <a:buSzPts val="1500"/>
              <a:buFont typeface="Arial"/>
              <a:buChar char="●"/>
            </a:pPr>
            <a:r>
              <a:rPr lang="en" sz="1500">
                <a:solidFill>
                  <a:srgbClr val="333333"/>
                </a:solidFill>
                <a:highlight>
                  <a:srgbClr val="FAFAFA"/>
                </a:highlight>
              </a:rPr>
              <a:t>TikTok</a:t>
            </a:r>
            <a:endParaRPr sz="1500">
              <a:solidFill>
                <a:srgbClr val="333333"/>
              </a:solidFill>
              <a:highlight>
                <a:srgbClr val="FAFAFA"/>
              </a:highlight>
            </a:endParaRPr>
          </a:p>
          <a:p>
            <a:pPr indent="0" lvl="0" marL="0" rtl="0" algn="l">
              <a:spcBef>
                <a:spcPts val="2000"/>
              </a:spcBef>
              <a:spcAft>
                <a:spcPts val="1200"/>
              </a:spcAft>
              <a:buNone/>
            </a:pPr>
            <a:r>
              <a:t/>
            </a:r>
            <a:endParaRPr sz="1500"/>
          </a:p>
        </p:txBody>
      </p:sp>
      <p:pic>
        <p:nvPicPr>
          <p:cNvPr id="103" name="Google Shape;103;p20" title="download (11).png"/>
          <p:cNvPicPr preferRelativeResize="0"/>
          <p:nvPr/>
        </p:nvPicPr>
        <p:blipFill>
          <a:blip r:embed="rId3">
            <a:alphaModFix/>
          </a:blip>
          <a:stretch>
            <a:fillRect/>
          </a:stretch>
        </p:blipFill>
        <p:spPr>
          <a:xfrm>
            <a:off x="3828975" y="3768559"/>
            <a:ext cx="2209875" cy="1161950"/>
          </a:xfrm>
          <a:prstGeom prst="rect">
            <a:avLst/>
          </a:prstGeom>
          <a:noFill/>
          <a:ln>
            <a:noFill/>
          </a:ln>
        </p:spPr>
      </p:pic>
      <p:pic>
        <p:nvPicPr>
          <p:cNvPr id="104" name="Google Shape;104;p20" title="download (12).png"/>
          <p:cNvPicPr preferRelativeResize="0"/>
          <p:nvPr/>
        </p:nvPicPr>
        <p:blipFill>
          <a:blip r:embed="rId4">
            <a:alphaModFix/>
          </a:blip>
          <a:stretch>
            <a:fillRect/>
          </a:stretch>
        </p:blipFill>
        <p:spPr>
          <a:xfrm>
            <a:off x="6849496" y="3626433"/>
            <a:ext cx="1446175" cy="1446175"/>
          </a:xfrm>
          <a:prstGeom prst="rect">
            <a:avLst/>
          </a:prstGeom>
          <a:noFill/>
          <a:ln>
            <a:noFill/>
          </a:ln>
        </p:spPr>
      </p:pic>
      <p:pic>
        <p:nvPicPr>
          <p:cNvPr id="105" name="Google Shape;105;p20" title="download (10).png"/>
          <p:cNvPicPr preferRelativeResize="0"/>
          <p:nvPr/>
        </p:nvPicPr>
        <p:blipFill>
          <a:blip r:embed="rId5">
            <a:alphaModFix/>
          </a:blip>
          <a:stretch>
            <a:fillRect/>
          </a:stretch>
        </p:blipFill>
        <p:spPr>
          <a:xfrm>
            <a:off x="4340400" y="2206450"/>
            <a:ext cx="3243225" cy="15621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idx="1" type="body"/>
          </p:nvPr>
        </p:nvSpPr>
        <p:spPr>
          <a:xfrm>
            <a:off x="119325" y="605725"/>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 sz="1500">
                <a:solidFill>
                  <a:srgbClr val="032D60"/>
                </a:solidFill>
                <a:highlight>
                  <a:srgbClr val="FAFAFA"/>
                </a:highlight>
              </a:rPr>
              <a:t>AI improves transportation through self-driving cars, traffic-based navigation, and autopilot in aircraft. It enhances safety, efficiency, and reliability.</a:t>
            </a:r>
            <a:endParaRPr sz="1500">
              <a:solidFill>
                <a:srgbClr val="032D60"/>
              </a:solidFill>
              <a:highlight>
                <a:srgbClr val="FAFAFA"/>
              </a:highlight>
            </a:endParaRPr>
          </a:p>
          <a:p>
            <a:pPr indent="0" lvl="0" marL="0" rtl="0" algn="l">
              <a:spcBef>
                <a:spcPts val="1200"/>
              </a:spcBef>
              <a:spcAft>
                <a:spcPts val="1200"/>
              </a:spcAft>
              <a:buNone/>
            </a:pPr>
            <a:r>
              <a:t/>
            </a:r>
            <a:endParaRPr sz="1500">
              <a:solidFill>
                <a:srgbClr val="032D60"/>
              </a:solidFill>
              <a:highlight>
                <a:srgbClr val="FAFAFA"/>
              </a:highlight>
            </a:endParaRPr>
          </a:p>
        </p:txBody>
      </p:sp>
      <p:pic>
        <p:nvPicPr>
          <p:cNvPr id="111" name="Google Shape;111;p21" title="download (21).jpg"/>
          <p:cNvPicPr preferRelativeResize="0"/>
          <p:nvPr/>
        </p:nvPicPr>
        <p:blipFill>
          <a:blip r:embed="rId3">
            <a:alphaModFix/>
          </a:blip>
          <a:stretch>
            <a:fillRect/>
          </a:stretch>
        </p:blipFill>
        <p:spPr>
          <a:xfrm>
            <a:off x="741201" y="2055376"/>
            <a:ext cx="2861625" cy="1904300"/>
          </a:xfrm>
          <a:prstGeom prst="rect">
            <a:avLst/>
          </a:prstGeom>
          <a:noFill/>
          <a:ln>
            <a:noFill/>
          </a:ln>
        </p:spPr>
      </p:pic>
      <p:pic>
        <p:nvPicPr>
          <p:cNvPr id="112" name="Google Shape;112;p21" title="download (25).jpg"/>
          <p:cNvPicPr preferRelativeResize="0"/>
          <p:nvPr/>
        </p:nvPicPr>
        <p:blipFill>
          <a:blip r:embed="rId4">
            <a:alphaModFix/>
          </a:blip>
          <a:stretch>
            <a:fillRect/>
          </a:stretch>
        </p:blipFill>
        <p:spPr>
          <a:xfrm>
            <a:off x="4920640" y="1983600"/>
            <a:ext cx="3170660" cy="19760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idx="1" type="body"/>
          </p:nvPr>
        </p:nvSpPr>
        <p:spPr>
          <a:xfrm>
            <a:off x="311700" y="382975"/>
            <a:ext cx="8520600" cy="3416400"/>
          </a:xfrm>
          <a:prstGeom prst="rect">
            <a:avLst/>
          </a:prstGeom>
        </p:spPr>
        <p:txBody>
          <a:bodyPr anchorCtr="0" anchor="t" bIns="91425" lIns="91425" spcFirstLastPara="1" rIns="91425" wrap="square" tIns="91425">
            <a:normAutofit/>
          </a:bodyPr>
          <a:lstStyle/>
          <a:p>
            <a:pPr indent="0" lvl="0" marL="0" rtl="0" algn="l">
              <a:lnSpc>
                <a:spcPct val="110000"/>
              </a:lnSpc>
              <a:spcBef>
                <a:spcPts val="700"/>
              </a:spcBef>
              <a:spcAft>
                <a:spcPts val="0"/>
              </a:spcAft>
              <a:buClr>
                <a:schemeClr val="dk1"/>
              </a:buClr>
              <a:buSzPts val="1100"/>
              <a:buFont typeface="Arial"/>
              <a:buNone/>
            </a:pPr>
            <a:r>
              <a:rPr lang="en" sz="1500">
                <a:solidFill>
                  <a:srgbClr val="032D60"/>
                </a:solidFill>
                <a:highlight>
                  <a:srgbClr val="FAFAFA"/>
                </a:highlight>
              </a:rPr>
              <a:t>Fraud prevention</a:t>
            </a:r>
            <a:endParaRPr sz="1500">
              <a:solidFill>
                <a:srgbClr val="032D60"/>
              </a:solidFill>
              <a:highlight>
                <a:srgbClr val="FAFAFA"/>
              </a:highlight>
            </a:endParaRPr>
          </a:p>
          <a:p>
            <a:pPr indent="0" lvl="0" marL="0" rtl="0" algn="l">
              <a:lnSpc>
                <a:spcPct val="150000"/>
              </a:lnSpc>
              <a:spcBef>
                <a:spcPts val="1200"/>
              </a:spcBef>
              <a:spcAft>
                <a:spcPts val="0"/>
              </a:spcAft>
              <a:buClr>
                <a:schemeClr val="dk1"/>
              </a:buClr>
              <a:buSzPts val="1100"/>
              <a:buFont typeface="Arial"/>
              <a:buNone/>
            </a:pPr>
            <a:r>
              <a:rPr lang="en" sz="1500">
                <a:solidFill>
                  <a:srgbClr val="333333"/>
                </a:solidFill>
                <a:highlight>
                  <a:srgbClr val="FAFAFA"/>
                </a:highlight>
              </a:rPr>
              <a:t>Banks use AI to detect and prevent fraud by analyzing transactions and spotting unusual activity. If something looks suspicious, AI can block the transaction and alert you for verification.</a:t>
            </a:r>
            <a:endParaRPr sz="1500">
              <a:solidFill>
                <a:srgbClr val="333333"/>
              </a:solidFill>
              <a:highlight>
                <a:srgbClr val="FAFAFA"/>
              </a:highlight>
            </a:endParaRPr>
          </a:p>
          <a:p>
            <a:pPr indent="0" lvl="0" marL="0" rtl="0" algn="l">
              <a:spcBef>
                <a:spcPts val="1200"/>
              </a:spcBef>
              <a:spcAft>
                <a:spcPts val="1200"/>
              </a:spcAft>
              <a:buNone/>
            </a:pPr>
            <a:r>
              <a:t/>
            </a:r>
            <a:endParaRPr sz="1500"/>
          </a:p>
        </p:txBody>
      </p:sp>
      <p:pic>
        <p:nvPicPr>
          <p:cNvPr id="118" name="Google Shape;118;p22" title="images (5).jpg"/>
          <p:cNvPicPr preferRelativeResize="0"/>
          <p:nvPr/>
        </p:nvPicPr>
        <p:blipFill>
          <a:blip r:embed="rId3">
            <a:alphaModFix/>
          </a:blip>
          <a:stretch>
            <a:fillRect/>
          </a:stretch>
        </p:blipFill>
        <p:spPr>
          <a:xfrm>
            <a:off x="619675" y="1984503"/>
            <a:ext cx="3257225" cy="2167550"/>
          </a:xfrm>
          <a:prstGeom prst="rect">
            <a:avLst/>
          </a:prstGeom>
          <a:noFill/>
          <a:ln>
            <a:noFill/>
          </a:ln>
        </p:spPr>
      </p:pic>
      <p:pic>
        <p:nvPicPr>
          <p:cNvPr id="119" name="Google Shape;119;p22" title="download (26).jpg"/>
          <p:cNvPicPr preferRelativeResize="0"/>
          <p:nvPr/>
        </p:nvPicPr>
        <p:blipFill>
          <a:blip r:embed="rId4">
            <a:alphaModFix/>
          </a:blip>
          <a:stretch>
            <a:fillRect/>
          </a:stretch>
        </p:blipFill>
        <p:spPr>
          <a:xfrm>
            <a:off x="4572000" y="2023450"/>
            <a:ext cx="3548250" cy="21675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
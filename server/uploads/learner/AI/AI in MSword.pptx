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b372c429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b372c429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b372c429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b372c429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b372c429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b372c429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3b372c429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3b372c429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3b372c429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3b372c429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3b372c429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3b372c429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3b372c429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3b372c429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3b372c429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3b372c429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b372c429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3b372c429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microsoft.com/en-us/microsoft-365/copilot" TargetMode="Externa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USE OF AI IN MS WORD</a:t>
            </a:r>
            <a:endParaRPr/>
          </a:p>
        </p:txBody>
      </p:sp>
      <p:pic>
        <p:nvPicPr>
          <p:cNvPr id="55" name="Google Shape;55;p13" title="download (66).jpg"/>
          <p:cNvPicPr preferRelativeResize="0"/>
          <p:nvPr/>
        </p:nvPicPr>
        <p:blipFill>
          <a:blip r:embed="rId3">
            <a:alphaModFix/>
          </a:blip>
          <a:stretch>
            <a:fillRect/>
          </a:stretch>
        </p:blipFill>
        <p:spPr>
          <a:xfrm>
            <a:off x="2153100" y="2835625"/>
            <a:ext cx="4837775" cy="1732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rgbClr val="17253D"/>
                </a:solidFill>
                <a:highlight>
                  <a:srgbClr val="FFFDFB"/>
                </a:highlight>
              </a:rPr>
              <a:t>Generative AI in Word refers to Microsoft 365 Copilot or, more specifically, Copilot in Word. It uses AI to help people write, edit, and understand documents more easily by drafting content, adjusting formatting, improving flow, and summarizing information.</a:t>
            </a:r>
            <a:endParaRPr sz="1500"/>
          </a:p>
        </p:txBody>
      </p:sp>
      <p:pic>
        <p:nvPicPr>
          <p:cNvPr id="61" name="Google Shape;61;p14" title="download (68).jpg"/>
          <p:cNvPicPr preferRelativeResize="0"/>
          <p:nvPr/>
        </p:nvPicPr>
        <p:blipFill>
          <a:blip r:embed="rId3">
            <a:alphaModFix/>
          </a:blip>
          <a:stretch>
            <a:fillRect/>
          </a:stretch>
        </p:blipFill>
        <p:spPr>
          <a:xfrm>
            <a:off x="2672225" y="2311775"/>
            <a:ext cx="3943650" cy="2315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STARTED</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914400" rtl="0" algn="l">
              <a:spcBef>
                <a:spcPts val="0"/>
              </a:spcBef>
              <a:spcAft>
                <a:spcPts val="0"/>
              </a:spcAft>
              <a:buClr>
                <a:schemeClr val="dk1"/>
              </a:buClr>
              <a:buSzPts val="1100"/>
              <a:buFont typeface="Arial"/>
              <a:buNone/>
            </a:pPr>
            <a:r>
              <a:rPr b="1" lang="en" sz="1500">
                <a:solidFill>
                  <a:srgbClr val="17253D"/>
                </a:solidFill>
              </a:rPr>
              <a:t>To get started using AI in Word, follow these steps:</a:t>
            </a:r>
            <a:endParaRPr b="1" sz="1500">
              <a:solidFill>
                <a:srgbClr val="17253D"/>
              </a:solidFill>
            </a:endParaRPr>
          </a:p>
          <a:p>
            <a:pPr indent="0" lvl="0" marL="914400" rtl="0" algn="l">
              <a:spcBef>
                <a:spcPts val="0"/>
              </a:spcBef>
              <a:spcAft>
                <a:spcPts val="0"/>
              </a:spcAft>
              <a:buClr>
                <a:schemeClr val="dk1"/>
              </a:buClr>
              <a:buSzPts val="1100"/>
              <a:buFont typeface="Arial"/>
              <a:buNone/>
            </a:pPr>
            <a:r>
              <a:rPr b="1" lang="en" sz="1500">
                <a:solidFill>
                  <a:srgbClr val="17253D"/>
                </a:solidFill>
              </a:rPr>
              <a:t> </a:t>
            </a:r>
            <a:endParaRPr b="1" sz="1500">
              <a:solidFill>
                <a:srgbClr val="17253D"/>
              </a:solidFill>
            </a:endParaRPr>
          </a:p>
          <a:p>
            <a:pPr indent="-323850" lvl="0" marL="457200" rtl="0" algn="l">
              <a:spcBef>
                <a:spcPts val="0"/>
              </a:spcBef>
              <a:spcAft>
                <a:spcPts val="0"/>
              </a:spcAft>
              <a:buClr>
                <a:srgbClr val="17253D"/>
              </a:buClr>
              <a:buSzPts val="1500"/>
              <a:buAutoNum type="arabicPeriod"/>
            </a:pPr>
            <a:r>
              <a:rPr lang="en" sz="1500">
                <a:solidFill>
                  <a:srgbClr val="17253D"/>
                </a:solidFill>
              </a:rPr>
              <a:t>From the Home tab, select Copilot. (If you don’t see </a:t>
            </a:r>
            <a:r>
              <a:rPr lang="en" sz="1500" u="sng">
                <a:solidFill>
                  <a:srgbClr val="0067B8"/>
                </a:solidFill>
                <a:hlinkClick r:id="rId3">
                  <a:extLst>
                    <a:ext uri="{A12FA001-AC4F-418D-AE19-62706E023703}">
                      <ahyp:hlinkClr val="tx"/>
                    </a:ext>
                  </a:extLst>
                </a:hlinkClick>
              </a:rPr>
              <a:t>Copilot</a:t>
            </a:r>
            <a:r>
              <a:rPr lang="en" sz="1500">
                <a:solidFill>
                  <a:srgbClr val="17253D"/>
                </a:solidFill>
              </a:rPr>
              <a:t>, you’ll need to add it to your Microsoft 365 subscription.)</a:t>
            </a:r>
            <a:endParaRPr sz="1500">
              <a:solidFill>
                <a:srgbClr val="17253D"/>
              </a:solidFill>
            </a:endParaRPr>
          </a:p>
          <a:p>
            <a:pPr indent="-323850" lvl="0" marL="457200" rtl="0" algn="l">
              <a:spcBef>
                <a:spcPts val="0"/>
              </a:spcBef>
              <a:spcAft>
                <a:spcPts val="0"/>
              </a:spcAft>
              <a:buClr>
                <a:srgbClr val="17253D"/>
              </a:buClr>
              <a:buSzPts val="1500"/>
              <a:buAutoNum type="arabicPeriod"/>
            </a:pPr>
            <a:r>
              <a:rPr lang="en" sz="1500">
                <a:solidFill>
                  <a:srgbClr val="17253D"/>
                </a:solidFill>
              </a:rPr>
              <a:t>Type instructions for what you’d like Copilot to help you with or select a suggested prompt.</a:t>
            </a:r>
            <a:endParaRPr sz="1500">
              <a:solidFill>
                <a:srgbClr val="17253D"/>
              </a:solidFill>
            </a:endParaRPr>
          </a:p>
          <a:p>
            <a:pPr indent="-323850" lvl="0" marL="457200" rtl="0" algn="l">
              <a:spcBef>
                <a:spcPts val="0"/>
              </a:spcBef>
              <a:spcAft>
                <a:spcPts val="0"/>
              </a:spcAft>
              <a:buClr>
                <a:srgbClr val="17253D"/>
              </a:buClr>
              <a:buSzPts val="1500"/>
              <a:buAutoNum type="arabicPeriod"/>
            </a:pPr>
            <a:r>
              <a:rPr lang="en" sz="1500">
                <a:solidFill>
                  <a:srgbClr val="17253D"/>
                </a:solidFill>
              </a:rPr>
              <a:t>Select Send (the paper airplane icon) or press Enter on your keyboard.</a:t>
            </a:r>
            <a:endParaRPr sz="1500">
              <a:solidFill>
                <a:srgbClr val="17253D"/>
              </a:solidFill>
            </a:endParaRPr>
          </a:p>
          <a:p>
            <a:pPr indent="0" lvl="0" marL="0" rtl="0" algn="l">
              <a:spcBef>
                <a:spcPts val="1200"/>
              </a:spcBef>
              <a:spcAft>
                <a:spcPts val="1200"/>
              </a:spcAft>
              <a:buNone/>
            </a:pPr>
            <a:r>
              <a:t/>
            </a:r>
            <a:endParaRPr sz="1500"/>
          </a:p>
        </p:txBody>
      </p:sp>
      <p:pic>
        <p:nvPicPr>
          <p:cNvPr id="68" name="Google Shape;68;p15" title="download (67).jpg"/>
          <p:cNvPicPr preferRelativeResize="0"/>
          <p:nvPr/>
        </p:nvPicPr>
        <p:blipFill>
          <a:blip r:embed="rId4">
            <a:alphaModFix/>
          </a:blip>
          <a:stretch>
            <a:fillRect/>
          </a:stretch>
        </p:blipFill>
        <p:spPr>
          <a:xfrm>
            <a:off x="2989750" y="3153125"/>
            <a:ext cx="3380350" cy="1692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BENEFITS OF AI IN WORD</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17253D"/>
              </a:buClr>
              <a:buSzPts val="1500"/>
              <a:buChar char="●"/>
            </a:pPr>
            <a:r>
              <a:rPr lang="en" sz="1500">
                <a:solidFill>
                  <a:srgbClr val="17253D"/>
                </a:solidFill>
                <a:highlight>
                  <a:srgbClr val="FFFCF9"/>
                </a:highlight>
              </a:rPr>
              <a:t>Instead of just checking for spelling and grammar mistakes, Word’s AI can help improve the quality of your writing. </a:t>
            </a:r>
            <a:endParaRPr sz="1500">
              <a:solidFill>
                <a:srgbClr val="17253D"/>
              </a:solidFill>
              <a:highlight>
                <a:srgbClr val="FFFCF9"/>
              </a:highlight>
            </a:endParaRPr>
          </a:p>
          <a:p>
            <a:pPr indent="-323850" lvl="0" marL="457200" rtl="0" algn="l">
              <a:spcBef>
                <a:spcPts val="0"/>
              </a:spcBef>
              <a:spcAft>
                <a:spcPts val="0"/>
              </a:spcAft>
              <a:buClr>
                <a:srgbClr val="17253D"/>
              </a:buClr>
              <a:buSzPts val="1500"/>
              <a:buChar char="●"/>
            </a:pPr>
            <a:r>
              <a:rPr lang="en" sz="1500">
                <a:solidFill>
                  <a:srgbClr val="17253D"/>
                </a:solidFill>
                <a:highlight>
                  <a:srgbClr val="FFFCF9"/>
                </a:highlight>
              </a:rPr>
              <a:t>Writing a first draft can be tough, especially if you’re not sure where to start. With AI, you can tell Word what you want to write about, and it will create a draft for you. Then, you can focus on making the content exactly the way you want it, saving you from writer's block.</a:t>
            </a:r>
            <a:endParaRPr sz="1500">
              <a:solidFill>
                <a:srgbClr val="17253D"/>
              </a:solidFill>
              <a:highlight>
                <a:srgbClr val="FFFCF9"/>
              </a:highlight>
            </a:endParaRPr>
          </a:p>
          <a:p>
            <a:pPr indent="0" lvl="0" marL="0" rtl="0" algn="l">
              <a:spcBef>
                <a:spcPts val="1200"/>
              </a:spcBef>
              <a:spcAft>
                <a:spcPts val="1200"/>
              </a:spcAft>
              <a:buNone/>
            </a:pPr>
            <a:r>
              <a:t/>
            </a:r>
            <a:endParaRPr sz="1500"/>
          </a:p>
        </p:txBody>
      </p:sp>
      <p:pic>
        <p:nvPicPr>
          <p:cNvPr id="75" name="Google Shape;75;p16" title="download (69).jpg"/>
          <p:cNvPicPr preferRelativeResize="0"/>
          <p:nvPr/>
        </p:nvPicPr>
        <p:blipFill>
          <a:blip r:embed="rId3">
            <a:alphaModFix/>
          </a:blip>
          <a:stretch>
            <a:fillRect/>
          </a:stretch>
        </p:blipFill>
        <p:spPr>
          <a:xfrm>
            <a:off x="3267275" y="2800075"/>
            <a:ext cx="2188550" cy="2188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idx="1" type="body"/>
          </p:nvPr>
        </p:nvSpPr>
        <p:spPr>
          <a:xfrm>
            <a:off x="402825" y="7932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When you’re stuck with no ideas, staring at a blank screen can be stressful. The AI in Word can help by suggesting ideas or content for you to write. If you're unsure how to continue, it can also suggest different ways to phrase or structure a part of your document, helping you come up with new ideas.</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sz="1500">
              <a:solidFill>
                <a:schemeClr val="dk1"/>
              </a:solidFill>
            </a:endParaRPr>
          </a:p>
        </p:txBody>
      </p:sp>
      <p:pic>
        <p:nvPicPr>
          <p:cNvPr id="81" name="Google Shape;81;p17" title="download (70).jpg"/>
          <p:cNvPicPr preferRelativeResize="0"/>
          <p:nvPr/>
        </p:nvPicPr>
        <p:blipFill>
          <a:blip r:embed="rId3">
            <a:alphaModFix/>
          </a:blip>
          <a:stretch>
            <a:fillRect/>
          </a:stretch>
        </p:blipFill>
        <p:spPr>
          <a:xfrm>
            <a:off x="2820175" y="2259725"/>
            <a:ext cx="2839700" cy="2539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When many people are working on a document, the text can start sounding like it was written by different people, especially if each person has their own style. You can ask the AI to keep the tone and style of the document consistent so that everything flows smoothly, no matter how many people are editing it.</a:t>
            </a:r>
            <a:endParaRPr sz="1500">
              <a:solidFill>
                <a:schemeClr val="dk1"/>
              </a:solidFill>
            </a:endParaRPr>
          </a:p>
          <a:p>
            <a:pPr indent="0" lvl="0" marL="0" rtl="0" algn="l">
              <a:spcBef>
                <a:spcPts val="1200"/>
              </a:spcBef>
              <a:spcAft>
                <a:spcPts val="1200"/>
              </a:spcAft>
              <a:buNone/>
            </a:pPr>
            <a:r>
              <a:t/>
            </a:r>
            <a:endParaRPr/>
          </a:p>
        </p:txBody>
      </p:sp>
      <p:pic>
        <p:nvPicPr>
          <p:cNvPr id="88" name="Google Shape;88;p18" title="download (72).jpg"/>
          <p:cNvPicPr preferRelativeResize="0"/>
          <p:nvPr/>
        </p:nvPicPr>
        <p:blipFill>
          <a:blip r:embed="rId3">
            <a:alphaModFix/>
          </a:blip>
          <a:stretch>
            <a:fillRect/>
          </a:stretch>
        </p:blipFill>
        <p:spPr>
          <a:xfrm>
            <a:off x="3618826" y="2458975"/>
            <a:ext cx="2360525" cy="2360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idx="1" type="body"/>
          </p:nvPr>
        </p:nvSpPr>
        <p:spPr>
          <a:xfrm>
            <a:off x="311713" y="56042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Some documents, like legal papers or technical reports, can be hard to understand. If you’re finding something difficult to read, you can ask the AI to “Summarize this document for me like I’m a 12-year-old.” It will give you a simpler version, so you can understand the main points quickly.</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The AI can help by making changes across the whole document, so everything stays uniform and professional.</a:t>
            </a:r>
            <a:endParaRPr sz="1500">
              <a:solidFill>
                <a:schemeClr val="dk1"/>
              </a:solidFill>
            </a:endParaRPr>
          </a:p>
          <a:p>
            <a:pPr indent="0" lvl="0" marL="457200" rtl="0" algn="l">
              <a:spcBef>
                <a:spcPts val="1200"/>
              </a:spcBef>
              <a:spcAft>
                <a:spcPts val="1200"/>
              </a:spcAft>
              <a:buNone/>
            </a:pPr>
            <a:r>
              <a:t/>
            </a:r>
            <a:endParaRPr sz="1500">
              <a:solidFill>
                <a:schemeClr val="dk1"/>
              </a:solidFill>
            </a:endParaRPr>
          </a:p>
        </p:txBody>
      </p:sp>
      <p:pic>
        <p:nvPicPr>
          <p:cNvPr id="94" name="Google Shape;94;p19" title="download (29).png"/>
          <p:cNvPicPr preferRelativeResize="0"/>
          <p:nvPr/>
        </p:nvPicPr>
        <p:blipFill>
          <a:blip r:embed="rId3">
            <a:alphaModFix/>
          </a:blip>
          <a:stretch>
            <a:fillRect/>
          </a:stretch>
        </p:blipFill>
        <p:spPr>
          <a:xfrm>
            <a:off x="2620225" y="2936250"/>
            <a:ext cx="4052150" cy="1890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FEATURES</a:t>
            </a:r>
            <a:endParaRPr/>
          </a:p>
        </p:txBody>
      </p:sp>
      <p:sp>
        <p:nvSpPr>
          <p:cNvPr id="100" name="Google Shape;100;p20"/>
          <p:cNvSpPr txBox="1"/>
          <p:nvPr>
            <p:ph idx="1" type="body"/>
          </p:nvPr>
        </p:nvSpPr>
        <p:spPr>
          <a:xfrm>
            <a:off x="311700" y="909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t/>
            </a:r>
            <a:endParaRPr sz="1500"/>
          </a:p>
          <a:p>
            <a:pPr indent="-323850" lvl="0" marL="457200" rtl="0" algn="l">
              <a:spcBef>
                <a:spcPts val="1200"/>
              </a:spcBef>
              <a:spcAft>
                <a:spcPts val="0"/>
              </a:spcAft>
              <a:buClr>
                <a:srgbClr val="17253D"/>
              </a:buClr>
              <a:buSzPts val="1500"/>
              <a:buChar char="●"/>
            </a:pPr>
            <a:r>
              <a:rPr b="1" lang="en" sz="1500">
                <a:solidFill>
                  <a:srgbClr val="17253D"/>
                </a:solidFill>
                <a:highlight>
                  <a:srgbClr val="FFFCF9"/>
                </a:highlight>
              </a:rPr>
              <a:t>Content generation and context-aware suggestions</a:t>
            </a:r>
            <a:r>
              <a:rPr lang="en" sz="1500">
                <a:solidFill>
                  <a:srgbClr val="17253D"/>
                </a:solidFill>
                <a:highlight>
                  <a:srgbClr val="FFFCF9"/>
                </a:highlight>
              </a:rPr>
              <a:t>: Copilot can generate text based on your instructions.</a:t>
            </a:r>
            <a:endParaRPr sz="1500">
              <a:solidFill>
                <a:srgbClr val="17253D"/>
              </a:solidFill>
              <a:highlight>
                <a:srgbClr val="FFFCF9"/>
              </a:highlight>
            </a:endParaRPr>
          </a:p>
          <a:p>
            <a:pPr indent="0" lvl="0" marL="457200" rtl="0" algn="l">
              <a:spcBef>
                <a:spcPts val="1200"/>
              </a:spcBef>
              <a:spcAft>
                <a:spcPts val="0"/>
              </a:spcAft>
              <a:buNone/>
            </a:pPr>
            <a:r>
              <a:t/>
            </a:r>
            <a:endParaRPr sz="1500">
              <a:solidFill>
                <a:srgbClr val="17253D"/>
              </a:solidFill>
              <a:highlight>
                <a:srgbClr val="FFFCF9"/>
              </a:highlight>
            </a:endParaRPr>
          </a:p>
          <a:p>
            <a:pPr indent="-323850" lvl="0" marL="457200" rtl="0" algn="l">
              <a:spcBef>
                <a:spcPts val="1200"/>
              </a:spcBef>
              <a:spcAft>
                <a:spcPts val="0"/>
              </a:spcAft>
              <a:buClr>
                <a:srgbClr val="17253D"/>
              </a:buClr>
              <a:buSzPts val="1500"/>
              <a:buChar char="●"/>
            </a:pPr>
            <a:r>
              <a:rPr b="1" lang="en" sz="1500">
                <a:solidFill>
                  <a:srgbClr val="17253D"/>
                </a:solidFill>
                <a:highlight>
                  <a:srgbClr val="FFFCF9"/>
                </a:highlight>
              </a:rPr>
              <a:t>Formatting assistance:</a:t>
            </a:r>
            <a:r>
              <a:rPr lang="en" sz="1500">
                <a:solidFill>
                  <a:srgbClr val="17253D"/>
                </a:solidFill>
                <a:highlight>
                  <a:srgbClr val="FFFCF9"/>
                </a:highlight>
              </a:rPr>
              <a:t> Instead of spending time on manual formatting, ask the AI in Word to apply consistent styles and layouts throughout your entire document.</a:t>
            </a:r>
            <a:endParaRPr sz="1500">
              <a:solidFill>
                <a:srgbClr val="17253D"/>
              </a:solidFill>
              <a:highlight>
                <a:srgbClr val="FFFCF9"/>
              </a:highlight>
            </a:endParaRPr>
          </a:p>
          <a:p>
            <a:pPr indent="0" lvl="0" marL="457200" rtl="0" algn="l">
              <a:spcBef>
                <a:spcPts val="1200"/>
              </a:spcBef>
              <a:spcAft>
                <a:spcPts val="0"/>
              </a:spcAft>
              <a:buNone/>
            </a:pPr>
            <a:r>
              <a:t/>
            </a:r>
            <a:endParaRPr sz="1500">
              <a:solidFill>
                <a:srgbClr val="17253D"/>
              </a:solidFill>
              <a:highlight>
                <a:srgbClr val="FFFCF9"/>
              </a:highlight>
            </a:endParaRPr>
          </a:p>
          <a:p>
            <a:pPr indent="-323850" lvl="0" marL="457200" rtl="0" algn="l">
              <a:spcBef>
                <a:spcPts val="1200"/>
              </a:spcBef>
              <a:spcAft>
                <a:spcPts val="0"/>
              </a:spcAft>
              <a:buClr>
                <a:srgbClr val="17253D"/>
              </a:buClr>
              <a:buSzPts val="1500"/>
              <a:buChar char="●"/>
            </a:pPr>
            <a:r>
              <a:rPr b="1" lang="en" sz="1500">
                <a:solidFill>
                  <a:srgbClr val="17253D"/>
                </a:solidFill>
                <a:highlight>
                  <a:srgbClr val="FFFCF9"/>
                </a:highlight>
              </a:rPr>
              <a:t>Data merging:</a:t>
            </a:r>
            <a:r>
              <a:rPr lang="en" sz="1500">
                <a:solidFill>
                  <a:srgbClr val="17253D"/>
                </a:solidFill>
                <a:highlight>
                  <a:srgbClr val="FFFCF9"/>
                </a:highlight>
              </a:rPr>
              <a:t> Pull in data from other Microsoft 365 apps, like Excel or PowerPoint, to seamlessly create tables, charts, or other visuals in your Word document.</a:t>
            </a:r>
            <a:endParaRPr sz="1500">
              <a:solidFill>
                <a:srgbClr val="17253D"/>
              </a:solidFill>
              <a:highlight>
                <a:srgbClr val="FFFCF9"/>
              </a:highlight>
            </a:endParaRPr>
          </a:p>
          <a:p>
            <a:pPr indent="0" lvl="0" marL="457200" rtl="0" algn="l">
              <a:spcBef>
                <a:spcPts val="1200"/>
              </a:spcBef>
              <a:spcAft>
                <a:spcPts val="1200"/>
              </a:spcAft>
              <a:buNone/>
            </a:pPr>
            <a:r>
              <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idx="1" type="body"/>
          </p:nvPr>
        </p:nvSpPr>
        <p:spPr>
          <a:xfrm>
            <a:off x="210450" y="534850"/>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17253D"/>
              </a:buClr>
              <a:buSzPts val="1500"/>
              <a:buChar char="●"/>
            </a:pPr>
            <a:r>
              <a:rPr b="1" lang="en" sz="1500">
                <a:solidFill>
                  <a:srgbClr val="17253D"/>
                </a:solidFill>
                <a:highlight>
                  <a:srgbClr val="FFFCF9"/>
                </a:highlight>
              </a:rPr>
              <a:t>Enterprise-grade security</a:t>
            </a:r>
            <a:r>
              <a:rPr lang="en" sz="1500">
                <a:solidFill>
                  <a:srgbClr val="17253D"/>
                </a:solidFill>
                <a:highlight>
                  <a:srgbClr val="FFFCF9"/>
                </a:highlight>
              </a:rPr>
              <a:t>. :Data security is a top priority for businesses, especially when it comes to AI tools.</a:t>
            </a:r>
            <a:endParaRPr sz="1500">
              <a:solidFill>
                <a:srgbClr val="17253D"/>
              </a:solidFill>
              <a:highlight>
                <a:srgbClr val="FFFCF9"/>
              </a:highlight>
            </a:endParaRPr>
          </a:p>
          <a:p>
            <a:pPr indent="0" lvl="0" marL="457200" rtl="0" algn="l">
              <a:spcBef>
                <a:spcPts val="1200"/>
              </a:spcBef>
              <a:spcAft>
                <a:spcPts val="0"/>
              </a:spcAft>
              <a:buNone/>
            </a:pPr>
            <a:r>
              <a:t/>
            </a:r>
            <a:endParaRPr sz="1500">
              <a:solidFill>
                <a:srgbClr val="17253D"/>
              </a:solidFill>
              <a:highlight>
                <a:srgbClr val="FFFCF9"/>
              </a:highlight>
            </a:endParaRPr>
          </a:p>
          <a:p>
            <a:pPr indent="-323850" lvl="0" marL="457200" rtl="0" algn="l">
              <a:spcBef>
                <a:spcPts val="1200"/>
              </a:spcBef>
              <a:spcAft>
                <a:spcPts val="0"/>
              </a:spcAft>
              <a:buClr>
                <a:srgbClr val="17253D"/>
              </a:buClr>
              <a:buSzPts val="1500"/>
              <a:buChar char="●"/>
            </a:pPr>
            <a:r>
              <a:rPr b="1" lang="en" sz="1500">
                <a:solidFill>
                  <a:srgbClr val="17253D"/>
                </a:solidFill>
                <a:highlight>
                  <a:srgbClr val="FFFCF9"/>
                </a:highlight>
              </a:rPr>
              <a:t>Research and reference assistance: </a:t>
            </a:r>
            <a:r>
              <a:rPr lang="en" sz="1500">
                <a:solidFill>
                  <a:srgbClr val="17253D"/>
                </a:solidFill>
                <a:highlight>
                  <a:srgbClr val="FFFCF9"/>
                </a:highlight>
              </a:rPr>
              <a:t>If you need to </a:t>
            </a:r>
            <a:r>
              <a:rPr lang="en" sz="1500">
                <a:solidFill>
                  <a:srgbClr val="17253D"/>
                </a:solidFill>
                <a:highlight>
                  <a:srgbClr val="FFFCF9"/>
                </a:highlight>
              </a:rPr>
              <a:t>backup</a:t>
            </a:r>
            <a:r>
              <a:rPr lang="en" sz="1500">
                <a:solidFill>
                  <a:srgbClr val="17253D"/>
                </a:solidFill>
                <a:highlight>
                  <a:srgbClr val="FFFCF9"/>
                </a:highlight>
              </a:rPr>
              <a:t> your writing with facts or figures, have AI in Word help you find relevant information and add it into your document.</a:t>
            </a:r>
            <a:endParaRPr sz="1500">
              <a:solidFill>
                <a:srgbClr val="17253D"/>
              </a:solidFill>
              <a:highlight>
                <a:srgbClr val="FFFCF9"/>
              </a:highlight>
            </a:endParaRPr>
          </a:p>
          <a:p>
            <a:pPr indent="0" lvl="0" marL="457200" rtl="0" algn="l">
              <a:spcBef>
                <a:spcPts val="1200"/>
              </a:spcBef>
              <a:spcAft>
                <a:spcPts val="0"/>
              </a:spcAft>
              <a:buNone/>
            </a:pPr>
            <a:r>
              <a:t/>
            </a:r>
            <a:endParaRPr sz="1500">
              <a:solidFill>
                <a:srgbClr val="17253D"/>
              </a:solidFill>
              <a:highlight>
                <a:srgbClr val="FFFCF9"/>
              </a:highlight>
            </a:endParaRPr>
          </a:p>
          <a:p>
            <a:pPr indent="-323850" lvl="0" marL="457200" rtl="0" algn="l">
              <a:spcBef>
                <a:spcPts val="1200"/>
              </a:spcBef>
              <a:spcAft>
                <a:spcPts val="0"/>
              </a:spcAft>
              <a:buClr>
                <a:srgbClr val="17253D"/>
              </a:buClr>
              <a:buSzPts val="1500"/>
              <a:buChar char="●"/>
            </a:pPr>
            <a:r>
              <a:rPr b="1" lang="en" sz="1500">
                <a:solidFill>
                  <a:srgbClr val="17253D"/>
                </a:solidFill>
                <a:highlight>
                  <a:srgbClr val="FFFCF9"/>
                </a:highlight>
              </a:rPr>
              <a:t>Document summarization:</a:t>
            </a:r>
            <a:r>
              <a:rPr lang="en" sz="1500">
                <a:solidFill>
                  <a:srgbClr val="17253D"/>
                </a:solidFill>
                <a:highlight>
                  <a:srgbClr val="FFFCF9"/>
                </a:highlight>
              </a:rPr>
              <a:t>Quickly create summaries of long documents to get the main points without reading through the entire text. </a:t>
            </a:r>
            <a:endParaRPr sz="1500">
              <a:solidFill>
                <a:srgbClr val="17253D"/>
              </a:solidFill>
              <a:highlight>
                <a:srgbClr val="FFFCF9"/>
              </a:highlight>
            </a:endParaRPr>
          </a:p>
          <a:p>
            <a:pPr indent="0" lvl="0" marL="457200" rtl="0" algn="l">
              <a:spcBef>
                <a:spcPts val="1200"/>
              </a:spcBef>
              <a:spcAft>
                <a:spcPts val="1200"/>
              </a:spcAft>
              <a:buNone/>
            </a:pPr>
            <a:r>
              <a:t/>
            </a:r>
            <a:endParaRPr sz="1500">
              <a:solidFill>
                <a:srgbClr val="17253D"/>
              </a:solidFill>
              <a:highlight>
                <a:srgbClr val="FFFCF9"/>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idx="1" type="body"/>
          </p:nvPr>
        </p:nvSpPr>
        <p:spPr>
          <a:xfrm>
            <a:off x="362325" y="595600"/>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17253D"/>
              </a:buClr>
              <a:buSzPts val="1500"/>
              <a:buChar char="●"/>
            </a:pPr>
            <a:r>
              <a:rPr lang="en" sz="1500">
                <a:solidFill>
                  <a:srgbClr val="17253D"/>
                </a:solidFill>
                <a:highlight>
                  <a:srgbClr val="FFFCF9"/>
                </a:highlight>
              </a:rPr>
              <a:t>Smart search. Instead of manually looking for specific information in a lengthy document, ask Copilot in Word to locate specific sections, keywords, or data points. </a:t>
            </a:r>
            <a:endParaRPr sz="1500">
              <a:solidFill>
                <a:srgbClr val="17253D"/>
              </a:solidFill>
              <a:highlight>
                <a:srgbClr val="FFFCF9"/>
              </a:highlight>
            </a:endParaRPr>
          </a:p>
          <a:p>
            <a:pPr indent="0" lvl="0" marL="457200" rtl="0" algn="l">
              <a:spcBef>
                <a:spcPts val="1200"/>
              </a:spcBef>
              <a:spcAft>
                <a:spcPts val="0"/>
              </a:spcAft>
              <a:buNone/>
            </a:pPr>
            <a:r>
              <a:t/>
            </a:r>
            <a:endParaRPr sz="1500">
              <a:solidFill>
                <a:srgbClr val="17253D"/>
              </a:solidFill>
              <a:highlight>
                <a:srgbClr val="FFFCF9"/>
              </a:highlight>
            </a:endParaRPr>
          </a:p>
          <a:p>
            <a:pPr indent="-323850" lvl="0" marL="457200" rtl="0" algn="l">
              <a:spcBef>
                <a:spcPts val="1200"/>
              </a:spcBef>
              <a:spcAft>
                <a:spcPts val="0"/>
              </a:spcAft>
              <a:buClr>
                <a:srgbClr val="17253D"/>
              </a:buClr>
              <a:buSzPts val="1500"/>
              <a:buChar char="●"/>
            </a:pPr>
            <a:r>
              <a:rPr lang="en" sz="1500">
                <a:solidFill>
                  <a:srgbClr val="17253D"/>
                </a:solidFill>
                <a:highlight>
                  <a:srgbClr val="FFFCF9"/>
                </a:highlight>
              </a:rPr>
              <a:t>Create images. AI in Word can generate images for documents based on a description of what you’re looking for.</a:t>
            </a:r>
            <a:endParaRPr sz="1500">
              <a:solidFill>
                <a:srgbClr val="17253D"/>
              </a:solidFill>
              <a:highlight>
                <a:srgbClr val="FFFCF9"/>
              </a:highlight>
            </a:endParaRPr>
          </a:p>
          <a:p>
            <a:pPr indent="0" lvl="0" marL="0" rtl="0" algn="l">
              <a:spcBef>
                <a:spcPts val="1200"/>
              </a:spcBef>
              <a:spcAft>
                <a:spcPts val="1200"/>
              </a:spcAft>
              <a:buNone/>
            </a:pPr>
            <a:r>
              <a:t/>
            </a:r>
            <a:endParaRPr sz="1500"/>
          </a:p>
        </p:txBody>
      </p:sp>
      <p:pic>
        <p:nvPicPr>
          <p:cNvPr id="111" name="Google Shape;111;p22" title="download (74).jpg"/>
          <p:cNvPicPr preferRelativeResize="0"/>
          <p:nvPr/>
        </p:nvPicPr>
        <p:blipFill>
          <a:blip r:embed="rId3">
            <a:alphaModFix/>
          </a:blip>
          <a:stretch>
            <a:fillRect/>
          </a:stretch>
        </p:blipFill>
        <p:spPr>
          <a:xfrm>
            <a:off x="3295125" y="2826925"/>
            <a:ext cx="3702825" cy="20735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
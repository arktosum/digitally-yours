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b35139845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b35139845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3b35139845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3b35139845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3b35139845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3b35139845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3b35139845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3b35139845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3b35139845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3b35139845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3b35139845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3b35139845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3b35139845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3b35139845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3b35139845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3b35139845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3b35139845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3b35139845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3b35139845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3b35139845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3b35139845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3b35139845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NATURAL LANGUAGE PROCESSING</a:t>
            </a:r>
            <a:endParaRPr/>
          </a:p>
        </p:txBody>
      </p:sp>
      <p:pic>
        <p:nvPicPr>
          <p:cNvPr id="55" name="Google Shape;55;p13" title="images (27).jpg"/>
          <p:cNvPicPr preferRelativeResize="0"/>
          <p:nvPr/>
        </p:nvPicPr>
        <p:blipFill>
          <a:blip r:embed="rId3">
            <a:alphaModFix/>
          </a:blip>
          <a:stretch>
            <a:fillRect/>
          </a:stretch>
        </p:blipFill>
        <p:spPr>
          <a:xfrm>
            <a:off x="2567250" y="2858450"/>
            <a:ext cx="4127325" cy="2112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idx="1" type="body"/>
          </p:nvPr>
        </p:nvSpPr>
        <p:spPr>
          <a:xfrm>
            <a:off x="311700" y="6867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rPr>
              <a:t>NLP (Natural Language Processing) is a field of artificial intelligence that helps computers understand, interpret, and respond to human language, like how we speak or write.</a:t>
            </a:r>
            <a:endParaRPr sz="1500">
              <a:solidFill>
                <a:schemeClr val="dk1"/>
              </a:solidFill>
            </a:endParaRPr>
          </a:p>
          <a:p>
            <a:pPr indent="0" lvl="0" marL="0" rtl="0" algn="l">
              <a:spcBef>
                <a:spcPts val="1200"/>
              </a:spcBef>
              <a:spcAft>
                <a:spcPts val="1200"/>
              </a:spcAft>
              <a:buNone/>
            </a:pPr>
            <a:r>
              <a:rPr lang="en" sz="1500">
                <a:solidFill>
                  <a:schemeClr val="dk1"/>
                </a:solidFill>
              </a:rPr>
              <a:t>Basically, The software can figure out what people are saying (like if they’re happy, frustrated, or asking for help) and give a response quickly, without needing a person to read each message.</a:t>
            </a:r>
            <a:endParaRPr sz="1500">
              <a:solidFill>
                <a:schemeClr val="dk1"/>
              </a:solidFill>
            </a:endParaRPr>
          </a:p>
        </p:txBody>
      </p:sp>
      <p:pic>
        <p:nvPicPr>
          <p:cNvPr id="61" name="Google Shape;61;p14" title="images (5).png"/>
          <p:cNvPicPr preferRelativeResize="0"/>
          <p:nvPr/>
        </p:nvPicPr>
        <p:blipFill>
          <a:blip r:embed="rId3">
            <a:alphaModFix/>
          </a:blip>
          <a:stretch>
            <a:fillRect/>
          </a:stretch>
        </p:blipFill>
        <p:spPr>
          <a:xfrm>
            <a:off x="2470500" y="2278125"/>
            <a:ext cx="3954375" cy="23996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IMPORTANCE</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rPr>
              <a:t>Natural Language Processing (NLP) is important because it helps computers understand and work with human language, which can be tricky because we use slang, different dialects, and sometimes don't follow strict grammar rules. NLP helps computers make sense of all this and respond in a meaningful way.</a:t>
            </a:r>
            <a:endParaRPr sz="1500">
              <a:solidFill>
                <a:schemeClr val="dk1"/>
              </a:solidFill>
            </a:endParaRPr>
          </a:p>
          <a:p>
            <a:pPr indent="0" lvl="0" marL="0" rtl="0" algn="l">
              <a:spcBef>
                <a:spcPts val="1200"/>
              </a:spcBef>
              <a:spcAft>
                <a:spcPts val="1200"/>
              </a:spcAft>
              <a:buNone/>
            </a:pPr>
            <a:r>
              <a:t/>
            </a:r>
            <a:endParaRPr sz="1500"/>
          </a:p>
        </p:txBody>
      </p:sp>
      <p:pic>
        <p:nvPicPr>
          <p:cNvPr id="68" name="Google Shape;68;p15" title="images (28).jpg"/>
          <p:cNvPicPr preferRelativeResize="0"/>
          <p:nvPr/>
        </p:nvPicPr>
        <p:blipFill>
          <a:blip r:embed="rId3">
            <a:alphaModFix/>
          </a:blip>
          <a:stretch>
            <a:fillRect/>
          </a:stretch>
        </p:blipFill>
        <p:spPr>
          <a:xfrm>
            <a:off x="2773400" y="2571750"/>
            <a:ext cx="4108575" cy="2308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USES</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chemeClr val="dk1"/>
                </a:solidFill>
              </a:rPr>
              <a:t>1.</a:t>
            </a:r>
            <a:r>
              <a:rPr b="1" lang="en" sz="1500">
                <a:solidFill>
                  <a:schemeClr val="dk1"/>
                </a:solidFill>
              </a:rPr>
              <a:t>Processing and analyzing large documents</a:t>
            </a:r>
            <a:r>
              <a:rPr lang="en" sz="1500">
                <a:solidFill>
                  <a:schemeClr val="dk1"/>
                </a:solidFill>
              </a:rPr>
              <a:t>: Instead of reading long reports or contracts manually, NLP can automatically go through them and find important information.</a:t>
            </a:r>
            <a:endParaRPr sz="1500">
              <a:solidFill>
                <a:schemeClr val="dk1"/>
              </a:solidFill>
            </a:endParaRPr>
          </a:p>
          <a:p>
            <a:pPr indent="0" lvl="0" marL="0" rtl="0" algn="l">
              <a:spcBef>
                <a:spcPts val="1200"/>
              </a:spcBef>
              <a:spcAft>
                <a:spcPts val="0"/>
              </a:spcAft>
              <a:buNone/>
            </a:pPr>
            <a:r>
              <a:rPr b="1" lang="en" sz="1500">
                <a:solidFill>
                  <a:schemeClr val="dk1"/>
                </a:solidFill>
              </a:rPr>
              <a:t>2.</a:t>
            </a:r>
            <a:r>
              <a:rPr b="1" lang="en" sz="1500">
                <a:solidFill>
                  <a:schemeClr val="dk1"/>
                </a:solidFill>
              </a:rPr>
              <a:t>Analyzing customer feedback</a:t>
            </a:r>
            <a:r>
              <a:rPr lang="en" sz="1500">
                <a:solidFill>
                  <a:schemeClr val="dk1"/>
                </a:solidFill>
              </a:rPr>
              <a:t>: NLP can look at reviews, surveys, or customer calls to figure out if customers are happy or upset.</a:t>
            </a:r>
            <a:endParaRPr sz="1500">
              <a:solidFill>
                <a:schemeClr val="dk1"/>
              </a:solidFill>
            </a:endParaRPr>
          </a:p>
          <a:p>
            <a:pPr indent="0" lvl="0" marL="0" rtl="0" algn="l">
              <a:spcBef>
                <a:spcPts val="1200"/>
              </a:spcBef>
              <a:spcAft>
                <a:spcPts val="1200"/>
              </a:spcAft>
              <a:buNone/>
            </a:pPr>
            <a:r>
              <a:rPr b="1" lang="en" sz="1500">
                <a:solidFill>
                  <a:schemeClr val="dk1"/>
                </a:solidFill>
              </a:rPr>
              <a:t>3.Running chatbots</a:t>
            </a:r>
            <a:r>
              <a:rPr lang="en" sz="1500">
                <a:solidFill>
                  <a:schemeClr val="dk1"/>
                </a:solidFill>
              </a:rPr>
              <a:t>: Chatbots use NLP to automatically answer common customer questions without needing a human to respond.</a:t>
            </a:r>
            <a:endParaRPr sz="1500">
              <a:solidFill>
                <a:schemeClr val="dk1"/>
              </a:solidFill>
            </a:endParaRPr>
          </a:p>
        </p:txBody>
      </p:sp>
      <p:pic>
        <p:nvPicPr>
          <p:cNvPr id="75" name="Google Shape;75;p16" title="download (19).png"/>
          <p:cNvPicPr preferRelativeResize="0"/>
          <p:nvPr/>
        </p:nvPicPr>
        <p:blipFill>
          <a:blip r:embed="rId3">
            <a:alphaModFix/>
          </a:blip>
          <a:stretch>
            <a:fillRect/>
          </a:stretch>
        </p:blipFill>
        <p:spPr>
          <a:xfrm>
            <a:off x="1302450" y="3498188"/>
            <a:ext cx="3562350" cy="1285875"/>
          </a:xfrm>
          <a:prstGeom prst="rect">
            <a:avLst/>
          </a:prstGeom>
          <a:noFill/>
          <a:ln>
            <a:noFill/>
          </a:ln>
        </p:spPr>
      </p:pic>
      <p:pic>
        <p:nvPicPr>
          <p:cNvPr id="76" name="Google Shape;76;p16" title="images (6).png"/>
          <p:cNvPicPr preferRelativeResize="0"/>
          <p:nvPr/>
        </p:nvPicPr>
        <p:blipFill>
          <a:blip r:embed="rId4">
            <a:alphaModFix/>
          </a:blip>
          <a:stretch>
            <a:fillRect/>
          </a:stretch>
        </p:blipFill>
        <p:spPr>
          <a:xfrm>
            <a:off x="5730938" y="2945063"/>
            <a:ext cx="2238375" cy="2047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idx="1" type="body"/>
          </p:nvPr>
        </p:nvSpPr>
        <p:spPr>
          <a:xfrm>
            <a:off x="311700" y="585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500">
                <a:solidFill>
                  <a:schemeClr val="dk1"/>
                </a:solidFill>
              </a:rPr>
              <a:t>Answering questions</a:t>
            </a:r>
            <a:r>
              <a:rPr lang="en" sz="1500">
                <a:solidFill>
                  <a:schemeClr val="dk1"/>
                </a:solidFill>
              </a:rPr>
              <a:t>: NLP can help systems quickly answer questions like "Who is in charge?" or "When is the meeting?"</a:t>
            </a:r>
            <a:br>
              <a:rPr lang="en" sz="1500">
                <a:solidFill>
                  <a:schemeClr val="dk1"/>
                </a:solidFill>
              </a:rPr>
            </a:b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Classifying and extracting text</a:t>
            </a:r>
            <a:r>
              <a:rPr lang="en" sz="1500">
                <a:solidFill>
                  <a:schemeClr val="dk1"/>
                </a:solidFill>
              </a:rPr>
              <a:t>: It helps organize and pull useful information from large amounts of text.</a:t>
            </a:r>
            <a:endParaRPr sz="1500">
              <a:solidFill>
                <a:schemeClr val="dk1"/>
              </a:solidFill>
            </a:endParaRPr>
          </a:p>
          <a:p>
            <a:pPr indent="0" lvl="0" marL="0" rtl="0" algn="l">
              <a:spcBef>
                <a:spcPts val="1200"/>
              </a:spcBef>
              <a:spcAft>
                <a:spcPts val="1200"/>
              </a:spcAft>
              <a:buNone/>
            </a:pPr>
            <a:r>
              <a:t/>
            </a:r>
            <a:endParaRPr sz="1500"/>
          </a:p>
        </p:txBody>
      </p:sp>
      <p:pic>
        <p:nvPicPr>
          <p:cNvPr id="82" name="Google Shape;82;p17" title="download (20).png"/>
          <p:cNvPicPr preferRelativeResize="0"/>
          <p:nvPr/>
        </p:nvPicPr>
        <p:blipFill>
          <a:blip r:embed="rId3">
            <a:alphaModFix/>
          </a:blip>
          <a:stretch>
            <a:fillRect/>
          </a:stretch>
        </p:blipFill>
        <p:spPr>
          <a:xfrm>
            <a:off x="1155725" y="2571750"/>
            <a:ext cx="2970175" cy="2012750"/>
          </a:xfrm>
          <a:prstGeom prst="rect">
            <a:avLst/>
          </a:prstGeom>
          <a:noFill/>
          <a:ln>
            <a:noFill/>
          </a:ln>
        </p:spPr>
      </p:pic>
      <p:pic>
        <p:nvPicPr>
          <p:cNvPr id="83" name="Google Shape;83;p17" title="download (58).jpg"/>
          <p:cNvPicPr preferRelativeResize="0"/>
          <p:nvPr/>
        </p:nvPicPr>
        <p:blipFill>
          <a:blip r:embed="rId4">
            <a:alphaModFix/>
          </a:blip>
          <a:stretch>
            <a:fillRect/>
          </a:stretch>
        </p:blipFill>
        <p:spPr>
          <a:xfrm>
            <a:off x="5058000" y="2571750"/>
            <a:ext cx="3102375" cy="2012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USES OF NLP IN BUSINESS</a:t>
            </a:r>
            <a:endParaRPr/>
          </a:p>
        </p:txBody>
      </p:sp>
      <p:sp>
        <p:nvSpPr>
          <p:cNvPr id="89" name="Google Shape;8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500">
                <a:solidFill>
                  <a:schemeClr val="dk1"/>
                </a:solidFill>
              </a:rPr>
              <a:t>Sensitive data redaction</a:t>
            </a:r>
            <a:r>
              <a:rPr lang="en" sz="1500">
                <a:solidFill>
                  <a:schemeClr val="dk1"/>
                </a:solidFill>
              </a:rPr>
              <a:t>: In industries like insurance, healthcare, or law, there are many private documents with sensitive information. NLP helps automatically hide or remove this sensitive data (like names or addresses) to keep it safe. For example, insurance companies can use NLP to extract important details from documents without revealing personal information.</a:t>
            </a:r>
            <a:endParaRPr sz="1500"/>
          </a:p>
        </p:txBody>
      </p:sp>
      <p:pic>
        <p:nvPicPr>
          <p:cNvPr id="90" name="Google Shape;90;p18" title="download (59).jpg"/>
          <p:cNvPicPr preferRelativeResize="0"/>
          <p:nvPr/>
        </p:nvPicPr>
        <p:blipFill>
          <a:blip r:embed="rId3">
            <a:alphaModFix/>
          </a:blip>
          <a:stretch>
            <a:fillRect/>
          </a:stretch>
        </p:blipFill>
        <p:spPr>
          <a:xfrm>
            <a:off x="2308500" y="2571750"/>
            <a:ext cx="3850075" cy="2278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idx="1" type="body"/>
          </p:nvPr>
        </p:nvSpPr>
        <p:spPr>
          <a:xfrm>
            <a:off x="261075" y="51460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300">
                <a:solidFill>
                  <a:schemeClr val="dk1"/>
                </a:solidFill>
              </a:rPr>
              <a:t>Customer engagement</a:t>
            </a:r>
            <a:r>
              <a:rPr lang="en" sz="2300">
                <a:solidFill>
                  <a:schemeClr val="dk1"/>
                </a:solidFill>
              </a:rPr>
              <a:t>:</a:t>
            </a:r>
            <a:endParaRPr sz="2300">
              <a:solidFill>
                <a:schemeClr val="dk1"/>
              </a:solidFill>
            </a:endParaRPr>
          </a:p>
          <a:p>
            <a:pPr indent="0" lvl="0" marL="0" rtl="0" algn="l">
              <a:spcBef>
                <a:spcPts val="1200"/>
              </a:spcBef>
              <a:spcAft>
                <a:spcPts val="1200"/>
              </a:spcAft>
              <a:buNone/>
            </a:pPr>
            <a:r>
              <a:rPr lang="en" sz="1500">
                <a:solidFill>
                  <a:schemeClr val="dk1"/>
                </a:solidFill>
              </a:rPr>
              <a:t> NLP helps businesses use </a:t>
            </a:r>
            <a:r>
              <a:rPr b="1" lang="en" sz="1500">
                <a:solidFill>
                  <a:schemeClr val="dk1"/>
                </a:solidFill>
              </a:rPr>
              <a:t>chatbots</a:t>
            </a:r>
            <a:r>
              <a:rPr lang="en" sz="1500">
                <a:solidFill>
                  <a:schemeClr val="dk1"/>
                </a:solidFill>
              </a:rPr>
              <a:t> and </a:t>
            </a:r>
            <a:r>
              <a:rPr b="1" lang="en" sz="1500">
                <a:solidFill>
                  <a:schemeClr val="dk1"/>
                </a:solidFill>
              </a:rPr>
              <a:t>voice bots</a:t>
            </a:r>
            <a:r>
              <a:rPr lang="en" sz="1500">
                <a:solidFill>
                  <a:schemeClr val="dk1"/>
                </a:solidFill>
              </a:rPr>
              <a:t> to talk to customers more naturally. For instance, T-Mobile uses NLP to understand what customers are saying in text messages and give them tailored recommendations. This helps businesses handle more customer inquiries without needing more human agents.</a:t>
            </a:r>
            <a:endParaRPr sz="1500"/>
          </a:p>
        </p:txBody>
      </p:sp>
      <p:pic>
        <p:nvPicPr>
          <p:cNvPr id="96" name="Google Shape;96;p19" title="images (29).jpg"/>
          <p:cNvPicPr preferRelativeResize="0"/>
          <p:nvPr/>
        </p:nvPicPr>
        <p:blipFill>
          <a:blip r:embed="rId3">
            <a:alphaModFix/>
          </a:blip>
          <a:stretch>
            <a:fillRect/>
          </a:stretch>
        </p:blipFill>
        <p:spPr>
          <a:xfrm>
            <a:off x="2564400" y="2495905"/>
            <a:ext cx="3913950" cy="2212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idx="1" type="body"/>
          </p:nvPr>
        </p:nvSpPr>
        <p:spPr>
          <a:xfrm>
            <a:off x="240825" y="4538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500">
                <a:solidFill>
                  <a:schemeClr val="dk1"/>
                </a:solidFill>
              </a:rPr>
              <a:t>Business analytics</a:t>
            </a:r>
            <a:r>
              <a:rPr lang="en" sz="1500">
                <a:solidFill>
                  <a:schemeClr val="dk1"/>
                </a:solidFill>
              </a:rPr>
              <a:t>: </a:t>
            </a:r>
            <a:endParaRPr sz="1500">
              <a:solidFill>
                <a:schemeClr val="dk1"/>
              </a:solidFill>
            </a:endParaRPr>
          </a:p>
          <a:p>
            <a:pPr indent="0" lvl="0" marL="0" rtl="0" algn="l">
              <a:spcBef>
                <a:spcPts val="1200"/>
              </a:spcBef>
              <a:spcAft>
                <a:spcPts val="1200"/>
              </a:spcAft>
              <a:buNone/>
            </a:pPr>
            <a:r>
              <a:rPr lang="en" sz="1500">
                <a:solidFill>
                  <a:schemeClr val="dk1"/>
                </a:solidFill>
              </a:rPr>
              <a:t>Companies use NLP to understand how customers feel about their products or services by analyzing reviews or feedback. For example, marketers can use NLP to find out if people are saying positive or negative things about a company, helping them improve their products. Some businesses use NLP to analyze phone calls and learn what customers are talking about so they can improve their services.</a:t>
            </a:r>
            <a:endParaRPr sz="1500"/>
          </a:p>
        </p:txBody>
      </p:sp>
      <p:pic>
        <p:nvPicPr>
          <p:cNvPr id="102" name="Google Shape;102;p20" title="download (60).jpg"/>
          <p:cNvPicPr preferRelativeResize="0"/>
          <p:nvPr/>
        </p:nvPicPr>
        <p:blipFill>
          <a:blip r:embed="rId3">
            <a:alphaModFix/>
          </a:blip>
          <a:stretch>
            <a:fillRect/>
          </a:stretch>
        </p:blipFill>
        <p:spPr>
          <a:xfrm>
            <a:off x="2443800" y="2460375"/>
            <a:ext cx="3834000" cy="2389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COMMON APPROACHES TO NLP</a:t>
            </a:r>
            <a:endParaRPr/>
          </a:p>
        </p:txBody>
      </p:sp>
      <p:sp>
        <p:nvSpPr>
          <p:cNvPr id="108" name="Google Shape;108;p21"/>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sz="1500">
                <a:solidFill>
                  <a:schemeClr val="dk1"/>
                </a:solidFill>
              </a:rPr>
              <a:t>Supervised NLP</a:t>
            </a:r>
            <a:endParaRPr b="1" sz="1500">
              <a:solidFill>
                <a:schemeClr val="dk1"/>
              </a:solidFill>
            </a:endParaRPr>
          </a:p>
          <a:p>
            <a:pPr indent="0" lvl="0" marL="0" rtl="0" algn="l">
              <a:spcBef>
                <a:spcPts val="1200"/>
              </a:spcBef>
              <a:spcAft>
                <a:spcPts val="0"/>
              </a:spcAft>
              <a:buClr>
                <a:schemeClr val="dk1"/>
              </a:buClr>
              <a:buSzPts val="1100"/>
              <a:buFont typeface="Arial"/>
              <a:buNone/>
            </a:pPr>
            <a:r>
              <a:rPr lang="en" sz="1500">
                <a:solidFill>
                  <a:schemeClr val="dk1"/>
                </a:solidFill>
              </a:rPr>
              <a:t>In </a:t>
            </a:r>
            <a:r>
              <a:rPr b="1" lang="en" sz="1500">
                <a:solidFill>
                  <a:schemeClr val="dk1"/>
                </a:solidFill>
              </a:rPr>
              <a:t>supervised NLP</a:t>
            </a:r>
            <a:r>
              <a:rPr lang="en" sz="1500">
                <a:solidFill>
                  <a:schemeClr val="dk1"/>
                </a:solidFill>
              </a:rPr>
              <a:t>, the software is trained with a set of data where we already know the right answers. It learns from this data so it can give the correct answer when faced with new, unknown information.</a:t>
            </a: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Example</a:t>
            </a:r>
            <a:r>
              <a:rPr lang="en" sz="1500">
                <a:solidFill>
                  <a:schemeClr val="dk1"/>
                </a:solidFill>
              </a:rPr>
              <a:t>: Imagine you have a bunch of documents, and you want to categorize them into different groups (like "reports" or "emails"). The software is trained with documents that are already labeled. It learns how to categorize them correctly and can then label new documents by itself.</a:t>
            </a:r>
            <a:endParaRPr sz="1500">
              <a:solidFill>
                <a:schemeClr val="dk1"/>
              </a:solidFill>
            </a:endParaRPr>
          </a:p>
          <a:p>
            <a:pPr indent="0" lvl="0" marL="0" rtl="0" algn="l">
              <a:spcBef>
                <a:spcPts val="1200"/>
              </a:spcBef>
              <a:spcAft>
                <a:spcPts val="1200"/>
              </a:spcAft>
              <a:buNone/>
            </a:pPr>
            <a:r>
              <a:t/>
            </a:r>
            <a:endParaRPr sz="1500"/>
          </a:p>
        </p:txBody>
      </p:sp>
      <p:pic>
        <p:nvPicPr>
          <p:cNvPr id="109" name="Google Shape;109;p21" title="download (21).png"/>
          <p:cNvPicPr preferRelativeResize="0"/>
          <p:nvPr/>
        </p:nvPicPr>
        <p:blipFill>
          <a:blip r:embed="rId3">
            <a:alphaModFix/>
          </a:blip>
          <a:stretch>
            <a:fillRect/>
          </a:stretch>
        </p:blipFill>
        <p:spPr>
          <a:xfrm>
            <a:off x="2966625" y="3350476"/>
            <a:ext cx="2876925" cy="1793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idx="1" type="body"/>
          </p:nvPr>
        </p:nvSpPr>
        <p:spPr>
          <a:xfrm>
            <a:off x="311700" y="636100"/>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sz="1500">
                <a:solidFill>
                  <a:schemeClr val="dk1"/>
                </a:solidFill>
              </a:rPr>
              <a:t>Unsupervised NLP</a:t>
            </a:r>
            <a:endParaRPr b="1" sz="1500">
              <a:solidFill>
                <a:schemeClr val="dk1"/>
              </a:solidFill>
            </a:endParaRPr>
          </a:p>
          <a:p>
            <a:pPr indent="0" lvl="0" marL="0" rtl="0" algn="l">
              <a:spcBef>
                <a:spcPts val="1200"/>
              </a:spcBef>
              <a:spcAft>
                <a:spcPts val="0"/>
              </a:spcAft>
              <a:buClr>
                <a:schemeClr val="dk1"/>
              </a:buClr>
              <a:buSzPts val="1100"/>
              <a:buFont typeface="Arial"/>
              <a:buNone/>
            </a:pPr>
            <a:r>
              <a:rPr lang="en" sz="1500">
                <a:solidFill>
                  <a:schemeClr val="dk1"/>
                </a:solidFill>
              </a:rPr>
              <a:t>In </a:t>
            </a:r>
            <a:r>
              <a:rPr b="1" lang="en" sz="1500">
                <a:solidFill>
                  <a:schemeClr val="dk1"/>
                </a:solidFill>
              </a:rPr>
              <a:t>unsupervised NLP</a:t>
            </a:r>
            <a:r>
              <a:rPr lang="en" sz="1500">
                <a:solidFill>
                  <a:schemeClr val="dk1"/>
                </a:solidFill>
              </a:rPr>
              <a:t>, the software is given data without labels and has to figure out the patterns on its own. It doesn't know what the correct output is, but it looks for trends in the data.</a:t>
            </a: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Example</a:t>
            </a:r>
            <a:r>
              <a:rPr lang="en" sz="1500">
                <a:solidFill>
                  <a:schemeClr val="dk1"/>
                </a:solidFill>
              </a:rPr>
              <a:t>: Think of the </a:t>
            </a:r>
            <a:r>
              <a:rPr b="1" lang="en" sz="1500">
                <a:solidFill>
                  <a:schemeClr val="dk1"/>
                </a:solidFill>
              </a:rPr>
              <a:t>autocomplete</a:t>
            </a:r>
            <a:r>
              <a:rPr lang="en" sz="1500">
                <a:solidFill>
                  <a:schemeClr val="dk1"/>
                </a:solidFill>
              </a:rPr>
              <a:t> feature on your phone. It suggests the next word while you type based on the patterns it has learned from your past messages, without needing labels to tell it what comes next.</a:t>
            </a:r>
            <a:endParaRPr sz="1500">
              <a:solidFill>
                <a:schemeClr val="dk1"/>
              </a:solidFill>
            </a:endParaRPr>
          </a:p>
          <a:p>
            <a:pPr indent="0" lvl="0" marL="0" rtl="0" algn="l">
              <a:spcBef>
                <a:spcPts val="1200"/>
              </a:spcBef>
              <a:spcAft>
                <a:spcPts val="1200"/>
              </a:spcAft>
              <a:buNone/>
            </a:pPr>
            <a:r>
              <a:t/>
            </a:r>
            <a:endParaRPr sz="1500"/>
          </a:p>
        </p:txBody>
      </p:sp>
      <p:pic>
        <p:nvPicPr>
          <p:cNvPr id="115" name="Google Shape;115;p22" title="download (22).png"/>
          <p:cNvPicPr preferRelativeResize="0"/>
          <p:nvPr/>
        </p:nvPicPr>
        <p:blipFill>
          <a:blip r:embed="rId3">
            <a:alphaModFix/>
          </a:blip>
          <a:stretch>
            <a:fillRect/>
          </a:stretch>
        </p:blipFill>
        <p:spPr>
          <a:xfrm>
            <a:off x="2466750" y="2747775"/>
            <a:ext cx="4526750" cy="2122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idx="1" type="body"/>
          </p:nvPr>
        </p:nvSpPr>
        <p:spPr>
          <a:xfrm>
            <a:off x="311700" y="555100"/>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sz="1500">
                <a:solidFill>
                  <a:schemeClr val="dk1"/>
                </a:solidFill>
              </a:rPr>
              <a:t>Natural Language Understanding (NLU)</a:t>
            </a:r>
            <a:endParaRPr b="1"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Natural Language Understanding (NLU)</a:t>
            </a:r>
            <a:r>
              <a:rPr lang="en" sz="1500">
                <a:solidFill>
                  <a:schemeClr val="dk1"/>
                </a:solidFill>
              </a:rPr>
              <a:t> is about teaching the software to understand the </a:t>
            </a:r>
            <a:r>
              <a:rPr b="1" lang="en" sz="1500">
                <a:solidFill>
                  <a:schemeClr val="dk1"/>
                </a:solidFill>
              </a:rPr>
              <a:t>meaning</a:t>
            </a:r>
            <a:r>
              <a:rPr lang="en" sz="1500">
                <a:solidFill>
                  <a:schemeClr val="dk1"/>
                </a:solidFill>
              </a:rPr>
              <a:t> behind what people say. It focuses on figuring out things like what words really mean, even if the sentence structure is different.</a:t>
            </a: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Example</a:t>
            </a:r>
            <a:r>
              <a:rPr lang="en" sz="1500">
                <a:solidFill>
                  <a:schemeClr val="dk1"/>
                </a:solidFill>
              </a:rPr>
              <a:t>: If someone says "I’m feeling blue," the software should understand that this means the person is feeling sad, even though "blue" usually refers to a color. NLU helps the software understand these meanings and handle sentences with different wording but the same meaning.</a:t>
            </a:r>
            <a:endParaRPr sz="1500">
              <a:solidFill>
                <a:schemeClr val="dk1"/>
              </a:solidFill>
            </a:endParaRPr>
          </a:p>
          <a:p>
            <a:pPr indent="0" lvl="0" marL="0" rtl="0" algn="l">
              <a:spcBef>
                <a:spcPts val="1200"/>
              </a:spcBef>
              <a:spcAft>
                <a:spcPts val="1200"/>
              </a:spcAft>
              <a:buNone/>
            </a:pPr>
            <a:r>
              <a:t/>
            </a:r>
            <a:endParaRPr sz="1500"/>
          </a:p>
        </p:txBody>
      </p:sp>
      <p:pic>
        <p:nvPicPr>
          <p:cNvPr id="121" name="Google Shape;121;p23" title="download (61).jpg"/>
          <p:cNvPicPr preferRelativeResize="0"/>
          <p:nvPr/>
        </p:nvPicPr>
        <p:blipFill>
          <a:blip r:embed="rId3">
            <a:alphaModFix/>
          </a:blip>
          <a:stretch>
            <a:fillRect/>
          </a:stretch>
        </p:blipFill>
        <p:spPr>
          <a:xfrm>
            <a:off x="3004250" y="2970000"/>
            <a:ext cx="3135500" cy="2022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idx="1" type="body"/>
          </p:nvPr>
        </p:nvSpPr>
        <p:spPr>
          <a:xfrm>
            <a:off x="372450" y="595600"/>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en" sz="1500">
                <a:solidFill>
                  <a:schemeClr val="dk1"/>
                </a:solidFill>
              </a:rPr>
              <a:t>Natural Language Generation (NLG)</a:t>
            </a:r>
            <a:endParaRPr b="1"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Natural Language Generation (NLG)</a:t>
            </a:r>
            <a:r>
              <a:rPr lang="en" sz="1500">
                <a:solidFill>
                  <a:schemeClr val="dk1"/>
                </a:solidFill>
              </a:rPr>
              <a:t> is about making the software </a:t>
            </a:r>
            <a:r>
              <a:rPr b="1" lang="en" sz="1500">
                <a:solidFill>
                  <a:schemeClr val="dk1"/>
                </a:solidFill>
              </a:rPr>
              <a:t>create</a:t>
            </a:r>
            <a:r>
              <a:rPr lang="en" sz="1500">
                <a:solidFill>
                  <a:schemeClr val="dk1"/>
                </a:solidFill>
              </a:rPr>
              <a:t> text that sounds like it was written or spoken by a person. The software takes certain information, like keywords or topics, and generates sentences or replies.</a:t>
            </a: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Example</a:t>
            </a:r>
            <a:r>
              <a:rPr lang="en" sz="1500">
                <a:solidFill>
                  <a:schemeClr val="dk1"/>
                </a:solidFill>
              </a:rPr>
              <a:t>: An intelligent </a:t>
            </a:r>
            <a:r>
              <a:rPr b="1" lang="en" sz="1500">
                <a:solidFill>
                  <a:schemeClr val="dk1"/>
                </a:solidFill>
              </a:rPr>
              <a:t>chatbot</a:t>
            </a:r>
            <a:r>
              <a:rPr lang="en" sz="1500">
                <a:solidFill>
                  <a:schemeClr val="dk1"/>
                </a:solidFill>
              </a:rPr>
              <a:t> that can talk to customers like a real person uses NLG. It creates responses based on the conversation, so it feels natural, just like talking to a customer support agent.</a:t>
            </a:r>
            <a:endParaRPr sz="1500">
              <a:solidFill>
                <a:schemeClr val="dk1"/>
              </a:solidFill>
            </a:endParaRPr>
          </a:p>
          <a:p>
            <a:pPr indent="0" lvl="0" marL="0" rtl="0" algn="l">
              <a:spcBef>
                <a:spcPts val="1200"/>
              </a:spcBef>
              <a:spcAft>
                <a:spcPts val="1200"/>
              </a:spcAft>
              <a:buNone/>
            </a:pPr>
            <a:r>
              <a:t/>
            </a:r>
            <a:endParaRPr sz="1500"/>
          </a:p>
        </p:txBody>
      </p:sp>
      <p:pic>
        <p:nvPicPr>
          <p:cNvPr id="127" name="Google Shape;127;p24" title="images (30).jpg"/>
          <p:cNvPicPr preferRelativeResize="0"/>
          <p:nvPr/>
        </p:nvPicPr>
        <p:blipFill>
          <a:blip r:embed="rId3">
            <a:alphaModFix/>
          </a:blip>
          <a:stretch>
            <a:fillRect/>
          </a:stretch>
        </p:blipFill>
        <p:spPr>
          <a:xfrm>
            <a:off x="2679925" y="2804625"/>
            <a:ext cx="3152075" cy="22173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
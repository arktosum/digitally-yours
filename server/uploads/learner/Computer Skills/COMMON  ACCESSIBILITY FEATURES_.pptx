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963456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963456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506bbca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506bbca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506bbca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506bbca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506bbca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506bbca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b506bbca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3b506bbca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b506bbca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b506bbca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3b506bbca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3b506bbca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b506bbca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b506bbca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b506bbca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b506bbca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b506bbca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b506bbca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b506bbca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3b506bbca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3b506bbca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3b506bbca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b506bbca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b506bbca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3b506bbca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3b506bbca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b506bbca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b506bbca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b506bbca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3b506bbca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COMMON </a:t>
            </a:r>
            <a:endParaRPr/>
          </a:p>
          <a:p>
            <a:pPr indent="0" lvl="0" marL="0" rtl="0" algn="ctr">
              <a:spcBef>
                <a:spcPts val="0"/>
              </a:spcBef>
              <a:spcAft>
                <a:spcPts val="0"/>
              </a:spcAft>
              <a:buNone/>
            </a:pPr>
            <a:r>
              <a:rPr lang="en"/>
              <a:t>ACCESSIBILITY FEATURES</a:t>
            </a:r>
            <a:endParaRPr/>
          </a:p>
        </p:txBody>
      </p:sp>
      <p:pic>
        <p:nvPicPr>
          <p:cNvPr id="55" name="Google Shape;55;p13" title="download (75).jpg"/>
          <p:cNvPicPr preferRelativeResize="0"/>
          <p:nvPr/>
        </p:nvPicPr>
        <p:blipFill>
          <a:blip r:embed="rId3">
            <a:alphaModFix/>
          </a:blip>
          <a:stretch>
            <a:fillRect/>
          </a:stretch>
        </p:blipFill>
        <p:spPr>
          <a:xfrm>
            <a:off x="2632725" y="2687550"/>
            <a:ext cx="4030750" cy="2257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47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rgbClr val="161616"/>
                </a:solidFill>
                <a:highlight>
                  <a:srgbClr val="FFFFFF"/>
                </a:highlight>
              </a:rPr>
              <a:t>Accessibility is the practice of making information, environments, and technology meaningful and usable for as many people as possible.</a:t>
            </a:r>
            <a:endParaRPr sz="1500">
              <a:solidFill>
                <a:srgbClr val="161616"/>
              </a:solidFill>
              <a:highlight>
                <a:srgbClr val="FFFFFF"/>
              </a:highlight>
            </a:endParaRPr>
          </a:p>
          <a:p>
            <a:pPr indent="0" lvl="0" marL="0" rtl="0" algn="l">
              <a:spcBef>
                <a:spcPts val="0"/>
              </a:spcBef>
              <a:spcAft>
                <a:spcPts val="0"/>
              </a:spcAft>
              <a:buNone/>
            </a:pPr>
            <a:r>
              <a:t/>
            </a:r>
            <a:endParaRPr sz="1500">
              <a:solidFill>
                <a:srgbClr val="161616"/>
              </a:solidFill>
              <a:highlight>
                <a:srgbClr val="FFFFFF"/>
              </a:highlight>
            </a:endParaRPr>
          </a:p>
          <a:p>
            <a:pPr indent="0" lvl="0" marL="0" rtl="0" algn="l">
              <a:spcBef>
                <a:spcPts val="0"/>
              </a:spcBef>
              <a:spcAft>
                <a:spcPts val="0"/>
              </a:spcAft>
              <a:buClr>
                <a:schemeClr val="dk1"/>
              </a:buClr>
              <a:buSzPts val="1100"/>
              <a:buFont typeface="Arial"/>
              <a:buNone/>
            </a:pPr>
            <a:r>
              <a:rPr lang="en" sz="1500">
                <a:solidFill>
                  <a:srgbClr val="161616"/>
                </a:solidFill>
                <a:highlight>
                  <a:srgbClr val="FFFFFF"/>
                </a:highlight>
              </a:rPr>
              <a:t>It is about providing people with opportunities to use technology in the way that works for them.</a:t>
            </a:r>
            <a:endParaRPr sz="1500">
              <a:solidFill>
                <a:srgbClr val="161616"/>
              </a:solidFill>
              <a:highlight>
                <a:srgbClr val="FFFFFF"/>
              </a:highlight>
            </a:endParaRPr>
          </a:p>
          <a:p>
            <a:pPr indent="0" lvl="0" marL="0" rtl="0" algn="l">
              <a:spcBef>
                <a:spcPts val="0"/>
              </a:spcBef>
              <a:spcAft>
                <a:spcPts val="1200"/>
              </a:spcAft>
              <a:buNone/>
            </a:pPr>
            <a:r>
              <a:t/>
            </a:r>
            <a:endParaRPr sz="1500"/>
          </a:p>
        </p:txBody>
      </p:sp>
      <p:pic>
        <p:nvPicPr>
          <p:cNvPr id="61" name="Google Shape;61;p14" title="download (30).png"/>
          <p:cNvPicPr preferRelativeResize="0"/>
          <p:nvPr/>
        </p:nvPicPr>
        <p:blipFill>
          <a:blip r:embed="rId3">
            <a:alphaModFix/>
          </a:blip>
          <a:stretch>
            <a:fillRect/>
          </a:stretch>
        </p:blipFill>
        <p:spPr>
          <a:xfrm>
            <a:off x="2279025" y="2227499"/>
            <a:ext cx="4215675" cy="2561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MAGNIFICATION</a:t>
            </a:r>
            <a:endParaRPr sz="3500"/>
          </a:p>
        </p:txBody>
      </p:sp>
      <p:sp>
        <p:nvSpPr>
          <p:cNvPr id="67" name="Google Shape;67;p15"/>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If you need larger text, use the </a:t>
            </a:r>
            <a:r>
              <a:rPr b="1" lang="en" sz="1500">
                <a:solidFill>
                  <a:schemeClr val="dk1"/>
                </a:solidFill>
              </a:rPr>
              <a:t>Magnifier</a:t>
            </a:r>
            <a:r>
              <a:rPr lang="en" sz="1500">
                <a:solidFill>
                  <a:schemeClr val="dk1"/>
                </a:solidFill>
              </a:rPr>
              <a:t> tool on Windows or the </a:t>
            </a:r>
            <a:r>
              <a:rPr b="1" lang="en" sz="1500">
                <a:solidFill>
                  <a:schemeClr val="dk1"/>
                </a:solidFill>
              </a:rPr>
              <a:t>Zoom</a:t>
            </a:r>
            <a:r>
              <a:rPr lang="en" sz="1500">
                <a:solidFill>
                  <a:schemeClr val="dk1"/>
                </a:solidFill>
              </a:rPr>
              <a:t> feature on Mac to enlarge the text and interface.</a:t>
            </a:r>
            <a:endParaRPr sz="1500">
              <a:solidFill>
                <a:schemeClr val="dk1"/>
              </a:solidFill>
            </a:endParaRPr>
          </a:p>
          <a:p>
            <a:pPr indent="0" lvl="0" marL="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0" lvl="0" marL="0" rtl="0" algn="l">
              <a:spcBef>
                <a:spcPts val="1200"/>
              </a:spcBef>
              <a:spcAft>
                <a:spcPts val="0"/>
              </a:spcAft>
              <a:buNone/>
            </a:pPr>
            <a:r>
              <a:rPr lang="en" sz="1100">
                <a:solidFill>
                  <a:srgbClr val="FF0000"/>
                </a:solidFill>
              </a:rPr>
              <a:t>Windows: Magnifier tool.</a:t>
            </a:r>
            <a:endParaRPr sz="1100">
              <a:solidFill>
                <a:srgbClr val="FF0000"/>
              </a:solidFill>
            </a:endParaRPr>
          </a:p>
          <a:p>
            <a:pPr indent="0" lvl="0" marL="0" rtl="0" algn="l">
              <a:spcBef>
                <a:spcPts val="1200"/>
              </a:spcBef>
              <a:spcAft>
                <a:spcPts val="0"/>
              </a:spcAft>
              <a:buNone/>
            </a:pPr>
            <a:r>
              <a:rPr lang="en" sz="1100">
                <a:solidFill>
                  <a:srgbClr val="FF0000"/>
                </a:solidFill>
              </a:rPr>
              <a:t>Mac: Zoom feature.</a:t>
            </a:r>
            <a:endParaRPr sz="1100">
              <a:solidFill>
                <a:srgbClr val="FF0000"/>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descr="Screenshot of the adjustment pointer on the Display and Vision screen." id="68" name="Google Shape;68;p15"/>
          <p:cNvPicPr preferRelativeResize="0"/>
          <p:nvPr/>
        </p:nvPicPr>
        <p:blipFill>
          <a:blip r:embed="rId3">
            <a:alphaModFix/>
          </a:blip>
          <a:stretch>
            <a:fillRect/>
          </a:stretch>
        </p:blipFill>
        <p:spPr>
          <a:xfrm>
            <a:off x="3149400" y="1812375"/>
            <a:ext cx="3684450" cy="30542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READERS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 These tools read out the text displayed on the screen. They are essential for people with vision impairme</a:t>
            </a:r>
            <a:r>
              <a:rPr lang="en" sz="1500">
                <a:solidFill>
                  <a:schemeClr val="dk1"/>
                </a:solidFill>
              </a:rPr>
              <a:t>n</a:t>
            </a:r>
            <a:r>
              <a:rPr lang="en" sz="1500">
                <a:solidFill>
                  <a:schemeClr val="dk1"/>
                </a:solidFill>
              </a:rPr>
              <a:t>ts.</a:t>
            </a:r>
            <a:endParaRPr sz="1500">
              <a:solidFill>
                <a:schemeClr val="dk1"/>
              </a:solidFill>
            </a:endParaRPr>
          </a:p>
          <a:p>
            <a:pPr indent="0" lvl="0" marL="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0" lvl="0" marL="0" rtl="0" algn="l">
              <a:spcBef>
                <a:spcPts val="1200"/>
              </a:spcBef>
              <a:spcAft>
                <a:spcPts val="0"/>
              </a:spcAft>
              <a:buNone/>
            </a:pPr>
            <a:r>
              <a:rPr lang="en" sz="1100">
                <a:solidFill>
                  <a:srgbClr val="FF0000"/>
                </a:solidFill>
              </a:rPr>
              <a:t>Windows: Narrator.</a:t>
            </a:r>
            <a:endParaRPr sz="1100">
              <a:solidFill>
                <a:srgbClr val="FF0000"/>
              </a:solidFill>
            </a:endParaRPr>
          </a:p>
          <a:p>
            <a:pPr indent="0" lvl="0" marL="0" rtl="0" algn="l">
              <a:spcBef>
                <a:spcPts val="1200"/>
              </a:spcBef>
              <a:spcAft>
                <a:spcPts val="0"/>
              </a:spcAft>
              <a:buNone/>
            </a:pPr>
            <a:r>
              <a:rPr lang="en" sz="1100">
                <a:solidFill>
                  <a:srgbClr val="FF0000"/>
                </a:solidFill>
              </a:rPr>
              <a:t>Mac: VoiceOver.</a:t>
            </a:r>
            <a:endParaRPr sz="1100">
              <a:solidFill>
                <a:srgbClr val="FF0000"/>
              </a:solidFill>
            </a:endParaRPr>
          </a:p>
          <a:p>
            <a:pPr indent="0" lvl="0" marL="0" rtl="0" algn="l">
              <a:spcBef>
                <a:spcPts val="1200"/>
              </a:spcBef>
              <a:spcAft>
                <a:spcPts val="0"/>
              </a:spcAft>
              <a:buNone/>
            </a:pPr>
            <a:r>
              <a:rPr lang="en" sz="1100">
                <a:solidFill>
                  <a:srgbClr val="FF0000"/>
                </a:solidFill>
              </a:rPr>
              <a:t>Chrome/Firefox: Extensions like ChromeVox or NVDA </a:t>
            </a:r>
            <a:endParaRPr sz="1100">
              <a:solidFill>
                <a:srgbClr val="FF0000"/>
              </a:solidFill>
            </a:endParaRPr>
          </a:p>
          <a:p>
            <a:pPr indent="0" lvl="0" marL="0" rtl="0" algn="l">
              <a:spcBef>
                <a:spcPts val="1200"/>
              </a:spcBef>
              <a:spcAft>
                <a:spcPts val="0"/>
              </a:spcAft>
              <a:buNone/>
            </a:pPr>
            <a:r>
              <a:rPr lang="en" sz="1100">
                <a:solidFill>
                  <a:srgbClr val="FF0000"/>
                </a:solidFill>
              </a:rPr>
              <a:t>(NonVisual Desktop Access)</a:t>
            </a:r>
            <a:endParaRPr sz="1100">
              <a:solidFill>
                <a:srgbClr val="FF0000"/>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descr="Screenshot of the natural voice options on the Accessibility Narrator screen." id="75" name="Google Shape;75;p16"/>
          <p:cNvPicPr preferRelativeResize="0"/>
          <p:nvPr/>
        </p:nvPicPr>
        <p:blipFill>
          <a:blip r:embed="rId3">
            <a:alphaModFix/>
          </a:blip>
          <a:stretch>
            <a:fillRect/>
          </a:stretch>
        </p:blipFill>
        <p:spPr>
          <a:xfrm>
            <a:off x="5285250" y="1822500"/>
            <a:ext cx="3179250" cy="317925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SPEECH RECOGNITION</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Speech-to-text technology converts spoken words into text. It is useful for people with motor impairments or difficulty typing.</a:t>
            </a:r>
            <a:endParaRPr sz="1500">
              <a:solidFill>
                <a:schemeClr val="dk1"/>
              </a:solidFill>
            </a:endParaRPr>
          </a:p>
          <a:p>
            <a:pPr indent="0" lvl="0" marL="914400" rtl="0" algn="l">
              <a:spcBef>
                <a:spcPts val="1200"/>
              </a:spcBef>
              <a:spcAft>
                <a:spcPts val="0"/>
              </a:spcAft>
              <a:buClr>
                <a:schemeClr val="dk1"/>
              </a:buClr>
              <a:buSzPts val="1100"/>
              <a:buFont typeface="Arial"/>
              <a:buNone/>
            </a:pPr>
            <a:r>
              <a:rPr i="1" lang="en" sz="1100">
                <a:solidFill>
                  <a:srgbClr val="FF0000"/>
                </a:solidFill>
              </a:rPr>
              <a:t>Examples</a:t>
            </a:r>
            <a:r>
              <a:rPr lang="en" sz="1100">
                <a:solidFill>
                  <a:srgbClr val="FF0000"/>
                </a:solidFill>
              </a:rPr>
              <a:t>:</a:t>
            </a:r>
            <a:endParaRPr sz="1100">
              <a:solidFill>
                <a:srgbClr val="FF0000"/>
              </a:solidFill>
            </a:endParaRPr>
          </a:p>
          <a:p>
            <a:pPr indent="-298450" lvl="0" marL="1371600" rtl="0" algn="l">
              <a:spcBef>
                <a:spcPts val="1200"/>
              </a:spcBef>
              <a:spcAft>
                <a:spcPts val="0"/>
              </a:spcAft>
              <a:buClr>
                <a:srgbClr val="FF0000"/>
              </a:buClr>
              <a:buSzPts val="1100"/>
              <a:buChar char="●"/>
            </a:pPr>
            <a:r>
              <a:rPr lang="en" sz="1100">
                <a:solidFill>
                  <a:srgbClr val="FF0000"/>
                </a:solidFill>
              </a:rPr>
              <a:t>Windows: Windows Speech Recognition.</a:t>
            </a:r>
            <a:endParaRPr sz="1100">
              <a:solidFill>
                <a:srgbClr val="FF0000"/>
              </a:solidFill>
            </a:endParaRPr>
          </a:p>
          <a:p>
            <a:pPr indent="-298450" lvl="0" marL="1371600" rtl="0" algn="l">
              <a:spcBef>
                <a:spcPts val="0"/>
              </a:spcBef>
              <a:spcAft>
                <a:spcPts val="0"/>
              </a:spcAft>
              <a:buClr>
                <a:srgbClr val="FF0000"/>
              </a:buClr>
              <a:buSzPts val="1100"/>
              <a:buChar char="●"/>
            </a:pPr>
            <a:r>
              <a:rPr lang="en" sz="1100">
                <a:solidFill>
                  <a:srgbClr val="FF0000"/>
                </a:solidFill>
              </a:rPr>
              <a:t>Mac: Voice Control.</a:t>
            </a:r>
            <a:endParaRPr sz="1100">
              <a:solidFill>
                <a:srgbClr val="FF0000"/>
              </a:solidFill>
            </a:endParaRPr>
          </a:p>
          <a:p>
            <a:pPr indent="-298450" lvl="0" marL="1371600" rtl="0" algn="l">
              <a:spcBef>
                <a:spcPts val="0"/>
              </a:spcBef>
              <a:spcAft>
                <a:spcPts val="0"/>
              </a:spcAft>
              <a:buClr>
                <a:srgbClr val="FF0000"/>
              </a:buClr>
              <a:buSzPts val="1100"/>
              <a:buChar char="●"/>
            </a:pPr>
            <a:r>
              <a:rPr lang="en" sz="1100">
                <a:solidFill>
                  <a:srgbClr val="FF0000"/>
                </a:solidFill>
              </a:rPr>
              <a:t>Google: Google Voice Typing.</a:t>
            </a:r>
            <a:endParaRPr sz="1100">
              <a:solidFill>
                <a:srgbClr val="FF0000"/>
              </a:solidFill>
            </a:endParaRPr>
          </a:p>
          <a:p>
            <a:pPr indent="0" lvl="0" marL="0" rtl="0" algn="l">
              <a:spcBef>
                <a:spcPts val="1200"/>
              </a:spcBef>
              <a:spcAft>
                <a:spcPts val="1200"/>
              </a:spcAft>
              <a:buNone/>
            </a:pPr>
            <a:r>
              <a:t/>
            </a:r>
            <a:endParaRPr sz="1500"/>
          </a:p>
        </p:txBody>
      </p:sp>
      <p:pic>
        <p:nvPicPr>
          <p:cNvPr id="82" name="Google Shape;82;p17" title="download (76).jpg"/>
          <p:cNvPicPr preferRelativeResize="0"/>
          <p:nvPr/>
        </p:nvPicPr>
        <p:blipFill>
          <a:blip r:embed="rId3">
            <a:alphaModFix/>
          </a:blip>
          <a:stretch>
            <a:fillRect/>
          </a:stretch>
        </p:blipFill>
        <p:spPr>
          <a:xfrm>
            <a:off x="4096767" y="2905875"/>
            <a:ext cx="4016233" cy="2095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CLOSED CAPTIONS / SUBTITLES</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lang="en" sz="1500">
                <a:solidFill>
                  <a:schemeClr val="dk1"/>
                </a:solidFill>
              </a:rPr>
              <a:t>Subtitles or captions help individuals with hearing impairments understand audio content.</a:t>
            </a:r>
            <a:endParaRPr sz="1500">
              <a:solidFill>
                <a:schemeClr val="dk1"/>
              </a:solidFill>
            </a:endParaRPr>
          </a:p>
          <a:p>
            <a:pPr indent="0" lvl="0" marL="914400" rtl="0" algn="l">
              <a:spcBef>
                <a:spcPts val="1200"/>
              </a:spcBef>
              <a:spcAft>
                <a:spcPts val="0"/>
              </a:spcAft>
              <a:buClr>
                <a:schemeClr val="dk1"/>
              </a:buClr>
              <a:buSzPts val="1100"/>
              <a:buFont typeface="Arial"/>
              <a:buNone/>
            </a:pPr>
            <a:r>
              <a:rPr lang="en" sz="1100">
                <a:solidFill>
                  <a:srgbClr val="FF0000"/>
                </a:solidFill>
              </a:rPr>
              <a:t> Enable captions on videos and online courses to follow along with the audio.</a:t>
            </a:r>
            <a:endParaRPr sz="1100">
              <a:solidFill>
                <a:srgbClr val="FF0000"/>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download (77).jpg"/>
          <p:cNvPicPr preferRelativeResize="0"/>
          <p:nvPr/>
        </p:nvPicPr>
        <p:blipFill>
          <a:blip r:embed="rId3">
            <a:alphaModFix/>
          </a:blip>
          <a:stretch>
            <a:fillRect/>
          </a:stretch>
        </p:blipFill>
        <p:spPr>
          <a:xfrm>
            <a:off x="2207250" y="2227500"/>
            <a:ext cx="4239975" cy="2547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idx="1" type="body"/>
          </p:nvPr>
        </p:nvSpPr>
        <p:spPr>
          <a:xfrm>
            <a:off x="544575" y="565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4100"/>
              <a:t>Creating Accessible Content in Word, PowerPoint, and Outlook</a:t>
            </a:r>
            <a:endParaRPr b="1" sz="4100"/>
          </a:p>
        </p:txBody>
      </p:sp>
      <p:pic>
        <p:nvPicPr>
          <p:cNvPr id="95" name="Google Shape;95;p19" title="download (78).jpg"/>
          <p:cNvPicPr preferRelativeResize="0"/>
          <p:nvPr/>
        </p:nvPicPr>
        <p:blipFill>
          <a:blip r:embed="rId3">
            <a:alphaModFix/>
          </a:blip>
          <a:stretch>
            <a:fillRect/>
          </a:stretch>
        </p:blipFill>
        <p:spPr>
          <a:xfrm>
            <a:off x="2414775" y="2389500"/>
            <a:ext cx="3884552" cy="2460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TITLE</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rgbClr val="161616"/>
                </a:solidFill>
                <a:highlight>
                  <a:srgbClr val="FFFFFF"/>
                </a:highlight>
              </a:rPr>
              <a:t>A title is usually the first thing a screen reader will read as the highest-level heading, followed by subheadings for other sections or topics.</a:t>
            </a:r>
            <a:endParaRPr sz="1500">
              <a:solidFill>
                <a:srgbClr val="161616"/>
              </a:solidFill>
              <a:highlight>
                <a:srgbClr val="FFFFFF"/>
              </a:highlight>
            </a:endParaRPr>
          </a:p>
          <a:p>
            <a:pPr indent="0" lvl="0" marL="0" rtl="0" algn="l">
              <a:spcBef>
                <a:spcPts val="1200"/>
              </a:spcBef>
              <a:spcAft>
                <a:spcPts val="0"/>
              </a:spcAft>
              <a:buNone/>
            </a:pPr>
            <a:r>
              <a:rPr b="1" lang="en" sz="1500">
                <a:solidFill>
                  <a:srgbClr val="161616"/>
                </a:solidFill>
                <a:highlight>
                  <a:srgbClr val="FFFFFF"/>
                </a:highlight>
              </a:rPr>
              <a:t>WORD</a:t>
            </a:r>
            <a:r>
              <a:rPr lang="en" sz="1500">
                <a:solidFill>
                  <a:srgbClr val="161616"/>
                </a:solidFill>
                <a:highlight>
                  <a:srgbClr val="FFFFFF"/>
                </a:highlight>
              </a:rPr>
              <a:t>:</a:t>
            </a:r>
            <a:endParaRPr sz="1500">
              <a:solidFill>
                <a:srgbClr val="161616"/>
              </a:solidFill>
              <a:highlight>
                <a:srgbClr val="FFFFFF"/>
              </a:highlight>
            </a:endParaRPr>
          </a:p>
          <a:p>
            <a:pPr indent="0" lvl="0" marL="0" rtl="0" algn="l">
              <a:spcBef>
                <a:spcPts val="1200"/>
              </a:spcBef>
              <a:spcAft>
                <a:spcPts val="0"/>
              </a:spcAft>
              <a:buNone/>
            </a:pPr>
            <a:r>
              <a:rPr lang="en" sz="1500">
                <a:solidFill>
                  <a:srgbClr val="161616"/>
                </a:solidFill>
                <a:highlight>
                  <a:srgbClr val="FFFFFF"/>
                </a:highlight>
              </a:rPr>
              <a:t>To apply headings in Word, use the built-in Styles available in the Home tab of the ribbon. Depending on the hierarchy of your content, choose Heading 1, Heading 2, or Heading 3. Properly nesting the order of headings in your document is critical to informing screen reader users how to navigate. You can also modify the appearance of any heading by changing the font, size, color, or alignment.</a:t>
            </a:r>
            <a:endParaRPr sz="1500">
              <a:solidFill>
                <a:srgbClr val="161616"/>
              </a:solidFill>
              <a:highlight>
                <a:srgbClr val="FFFFFF"/>
              </a:highlight>
            </a:endParaRPr>
          </a:p>
          <a:p>
            <a:pPr indent="0" lvl="0" marL="0" rtl="0" algn="l">
              <a:spcBef>
                <a:spcPts val="1200"/>
              </a:spcBef>
              <a:spcAft>
                <a:spcPts val="0"/>
              </a:spcAft>
              <a:buNone/>
            </a:pPr>
            <a:r>
              <a:t/>
            </a:r>
            <a:endParaRPr sz="1500">
              <a:solidFill>
                <a:srgbClr val="161616"/>
              </a:solidFill>
              <a:highlight>
                <a:srgbClr val="FFFFFF"/>
              </a:highlight>
            </a:endParaRPr>
          </a:p>
          <a:p>
            <a:pPr indent="0" lvl="0" marL="0" rtl="0" algn="l">
              <a:spcBef>
                <a:spcPts val="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Screenshot of the Styles drop-down menu in Word." id="106" name="Google Shape;106;p21"/>
          <p:cNvPicPr preferRelativeResize="0"/>
          <p:nvPr/>
        </p:nvPicPr>
        <p:blipFill>
          <a:blip r:embed="rId3">
            <a:alphaModFix/>
          </a:blip>
          <a:stretch>
            <a:fillRect/>
          </a:stretch>
        </p:blipFill>
        <p:spPr>
          <a:xfrm>
            <a:off x="601913" y="80850"/>
            <a:ext cx="7940175" cy="498177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30000"/>
              </a:lnSpc>
              <a:spcBef>
                <a:spcPts val="2400"/>
              </a:spcBef>
              <a:spcAft>
                <a:spcPts val="0"/>
              </a:spcAft>
              <a:buClr>
                <a:schemeClr val="dk1"/>
              </a:buClr>
              <a:buSzPct val="64705"/>
              <a:buFont typeface="Arial"/>
              <a:buNone/>
            </a:pPr>
            <a:r>
              <a:rPr b="1" lang="en" sz="1700">
                <a:solidFill>
                  <a:srgbClr val="161616"/>
                </a:solidFill>
                <a:highlight>
                  <a:srgbClr val="FFFFFF"/>
                </a:highlight>
              </a:rPr>
              <a:t> Add alt text to an image in Word</a:t>
            </a:r>
            <a:endParaRPr b="1" sz="1700">
              <a:solidFill>
                <a:srgbClr val="161616"/>
              </a:solidFill>
              <a:highlight>
                <a:srgbClr val="FFFFFF"/>
              </a:highlight>
            </a:endParaRPr>
          </a:p>
          <a:p>
            <a:pPr indent="0" lvl="0" marL="0" rtl="0" algn="l">
              <a:spcBef>
                <a:spcPts val="900"/>
              </a:spcBef>
              <a:spcAft>
                <a:spcPts val="0"/>
              </a:spcAft>
              <a:buNone/>
            </a:pPr>
            <a:r>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rgbClr val="161616"/>
                </a:solidFill>
                <a:highlight>
                  <a:srgbClr val="FFFFFF"/>
                </a:highlight>
              </a:rPr>
              <a:t>When you want to add alt text to an image in Word:</a:t>
            </a:r>
            <a:endParaRPr sz="1500">
              <a:solidFill>
                <a:srgbClr val="161616"/>
              </a:solidFill>
              <a:highlight>
                <a:srgbClr val="FFFFFF"/>
              </a:highlight>
            </a:endParaRPr>
          </a:p>
          <a:p>
            <a:pPr indent="-323850" lvl="0" marL="457200" rtl="0" algn="l">
              <a:spcBef>
                <a:spcPts val="1200"/>
              </a:spcBef>
              <a:spcAft>
                <a:spcPts val="0"/>
              </a:spcAft>
              <a:buClr>
                <a:srgbClr val="161616"/>
              </a:buClr>
              <a:buSzPts val="1500"/>
              <a:buChar char="●"/>
            </a:pPr>
            <a:r>
              <a:rPr lang="en" sz="1500">
                <a:solidFill>
                  <a:srgbClr val="161616"/>
                </a:solidFill>
                <a:highlight>
                  <a:srgbClr val="FFFFFF"/>
                </a:highlight>
              </a:rPr>
              <a:t>Right-click on an image or press the applications key and select View Alt Text. A pane will open with options.</a:t>
            </a:r>
            <a:endParaRPr sz="1500">
              <a:solidFill>
                <a:srgbClr val="161616"/>
              </a:solidFill>
              <a:highlight>
                <a:srgbClr val="FFFFFF"/>
              </a:highlight>
            </a:endParaRPr>
          </a:p>
          <a:p>
            <a:pPr indent="-323850" lvl="0" marL="457200" rtl="0" algn="l">
              <a:spcBef>
                <a:spcPts val="0"/>
              </a:spcBef>
              <a:spcAft>
                <a:spcPts val="0"/>
              </a:spcAft>
              <a:buClr>
                <a:srgbClr val="161616"/>
              </a:buClr>
              <a:buSzPts val="1500"/>
              <a:buChar char="●"/>
            </a:pPr>
            <a:r>
              <a:rPr lang="en" sz="1500">
                <a:solidFill>
                  <a:srgbClr val="161616"/>
                </a:solidFill>
                <a:highlight>
                  <a:srgbClr val="FFFFFF"/>
                </a:highlight>
              </a:rPr>
              <a:t>Enter a description of the image in the Alt Text field or select Generate a description for me, and approve the AI-created alternative text.</a:t>
            </a:r>
            <a:br>
              <a:rPr lang="en" sz="1500">
                <a:solidFill>
                  <a:srgbClr val="161616"/>
                </a:solidFill>
                <a:highlight>
                  <a:srgbClr val="FFFFFF"/>
                </a:highlight>
              </a:rPr>
            </a:b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Screenshot of the Alt Text pane in Word." id="117" name="Google Shape;117;p23"/>
          <p:cNvPicPr preferRelativeResize="0"/>
          <p:nvPr/>
        </p:nvPicPr>
        <p:blipFill>
          <a:blip r:embed="rId3">
            <a:alphaModFix/>
          </a:blip>
          <a:stretch>
            <a:fillRect/>
          </a:stretch>
        </p:blipFill>
        <p:spPr>
          <a:xfrm>
            <a:off x="828825" y="339188"/>
            <a:ext cx="7280100" cy="44651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6766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500">
                <a:solidFill>
                  <a:srgbClr val="161616"/>
                </a:solidFill>
                <a:highlight>
                  <a:srgbClr val="FFFFFF"/>
                </a:highlight>
              </a:rPr>
              <a:t>Alternatively, you can select an image and then in the ribbon, under Picture Format, select the Alt Text Then enter your alt text.</a:t>
            </a:r>
            <a:br>
              <a:rPr lang="en" sz="1500">
                <a:solidFill>
                  <a:srgbClr val="161616"/>
                </a:solidFill>
                <a:highlight>
                  <a:srgbClr val="FFFFFF"/>
                </a:highlight>
              </a:rPr>
            </a:br>
            <a:endParaRPr sz="1500"/>
          </a:p>
        </p:txBody>
      </p:sp>
      <p:pic>
        <p:nvPicPr>
          <p:cNvPr descr="Screenshot of the Picture Format ribbon in Word." id="123" name="Google Shape;123;p24"/>
          <p:cNvPicPr preferRelativeResize="0"/>
          <p:nvPr/>
        </p:nvPicPr>
        <p:blipFill>
          <a:blip r:embed="rId3">
            <a:alphaModFix/>
          </a:blip>
          <a:stretch>
            <a:fillRect/>
          </a:stretch>
        </p:blipFill>
        <p:spPr>
          <a:xfrm>
            <a:off x="1822500" y="1903500"/>
            <a:ext cx="5346000" cy="247300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en" sz="1500">
                <a:solidFill>
                  <a:srgbClr val="161616"/>
                </a:solidFill>
                <a:highlight>
                  <a:srgbClr val="FFFFFF"/>
                </a:highlight>
              </a:rPr>
              <a:t>If an image doesn't convey any essential information and is simply part of the page design, select the box to mark the image as decorative.</a:t>
            </a:r>
            <a:br>
              <a:rPr lang="en" sz="1500">
                <a:solidFill>
                  <a:srgbClr val="161616"/>
                </a:solidFill>
                <a:highlight>
                  <a:srgbClr val="FFFFFF"/>
                </a:highlight>
              </a:rPr>
            </a:br>
            <a:endParaRPr sz="1500"/>
          </a:p>
        </p:txBody>
      </p:sp>
      <p:pic>
        <p:nvPicPr>
          <p:cNvPr descr="Screenshot of the Alt Text pane in Word. The Mark as decorative box is checked." id="129" name="Google Shape;129;p25"/>
          <p:cNvPicPr preferRelativeResize="0"/>
          <p:nvPr/>
        </p:nvPicPr>
        <p:blipFill>
          <a:blip r:embed="rId3">
            <a:alphaModFix/>
          </a:blip>
          <a:stretch>
            <a:fillRect/>
          </a:stretch>
        </p:blipFill>
        <p:spPr>
          <a:xfrm>
            <a:off x="3027900" y="1407375"/>
            <a:ext cx="2355925" cy="347287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30000"/>
              </a:lnSpc>
              <a:spcBef>
                <a:spcPts val="2400"/>
              </a:spcBef>
              <a:spcAft>
                <a:spcPts val="0"/>
              </a:spcAft>
              <a:buClr>
                <a:schemeClr val="dk1"/>
              </a:buClr>
              <a:buSzPts val="1100"/>
              <a:buFont typeface="Arial"/>
              <a:buNone/>
            </a:pPr>
            <a:r>
              <a:rPr b="1" lang="en" sz="1800">
                <a:solidFill>
                  <a:srgbClr val="161616"/>
                </a:solidFill>
                <a:highlight>
                  <a:srgbClr val="FFFFFF"/>
                </a:highlight>
              </a:rPr>
              <a:t> Check and edit documents with Accessibility Checker</a:t>
            </a:r>
            <a:endParaRPr b="1" sz="1800">
              <a:solidFill>
                <a:srgbClr val="161616"/>
              </a:solidFill>
              <a:highlight>
                <a:srgbClr val="FFFFFF"/>
              </a:highlight>
            </a:endParaRPr>
          </a:p>
          <a:p>
            <a:pPr indent="0" lvl="0" marL="0" rtl="0" algn="l">
              <a:spcBef>
                <a:spcPts val="900"/>
              </a:spcBef>
              <a:spcAft>
                <a:spcPts val="0"/>
              </a:spcAft>
              <a:buNone/>
            </a:pPr>
            <a:r>
              <a:t/>
            </a:r>
            <a:endParaRPr sz="1800"/>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rgbClr val="161616"/>
                </a:solidFill>
                <a:highlight>
                  <a:srgbClr val="FFFFFF"/>
                </a:highlight>
              </a:rPr>
              <a:t>Accessibility Checker can automatically identify any issues that might make your content difficult or impossible to access. Issues could include missing alt text for images, missing slide titles, or poor color contrast.</a:t>
            </a:r>
            <a:endParaRPr sz="1500">
              <a:solidFill>
                <a:srgbClr val="161616"/>
              </a:solidFill>
              <a:highlight>
                <a:srgbClr val="FFFFFF"/>
              </a:highlight>
            </a:endParaRPr>
          </a:p>
          <a:p>
            <a:pPr indent="0" lvl="0" marL="0" rtl="0" algn="l">
              <a:spcBef>
                <a:spcPts val="1200"/>
              </a:spcBef>
              <a:spcAft>
                <a:spcPts val="0"/>
              </a:spcAft>
              <a:buNone/>
            </a:pPr>
            <a:r>
              <a:rPr lang="en" sz="1200">
                <a:solidFill>
                  <a:srgbClr val="161616"/>
                </a:solidFill>
                <a:highlight>
                  <a:srgbClr val="FFFFFF"/>
                </a:highlight>
              </a:rPr>
              <a:t>F</a:t>
            </a:r>
            <a:r>
              <a:rPr lang="en" sz="1500">
                <a:solidFill>
                  <a:srgbClr val="161616"/>
                </a:solidFill>
                <a:highlight>
                  <a:srgbClr val="FFFFFF"/>
                </a:highlight>
              </a:rPr>
              <a:t>ollow these steps to use the Accessibility Checker in Word, PowerPoint, and Outlook:</a:t>
            </a:r>
            <a:endParaRPr sz="1500">
              <a:solidFill>
                <a:srgbClr val="161616"/>
              </a:solidFill>
              <a:highlight>
                <a:srgbClr val="FFFFFF"/>
              </a:highlight>
            </a:endParaRPr>
          </a:p>
          <a:p>
            <a:pPr indent="-323850" lvl="0" marL="825500" rtl="0" algn="l">
              <a:spcBef>
                <a:spcPts val="1200"/>
              </a:spcBef>
              <a:spcAft>
                <a:spcPts val="0"/>
              </a:spcAft>
              <a:buClr>
                <a:srgbClr val="161616"/>
              </a:buClr>
              <a:buSzPts val="1500"/>
              <a:buAutoNum type="arabicPeriod"/>
            </a:pPr>
            <a:r>
              <a:rPr lang="en" sz="1500">
                <a:solidFill>
                  <a:srgbClr val="161616"/>
                </a:solidFill>
                <a:highlight>
                  <a:srgbClr val="FFFFFF"/>
                </a:highlight>
              </a:rPr>
              <a:t>Open the document, presentation, or email that you want to check for accessibility issues. In the Review tab, select Check Accessibility.</a:t>
            </a:r>
            <a:endParaRPr sz="1500">
              <a:solidFill>
                <a:srgbClr val="161616"/>
              </a:solidFill>
              <a:highlight>
                <a:srgbClr val="FFFFFF"/>
              </a:highlight>
            </a:endParaRPr>
          </a:p>
          <a:p>
            <a:pPr indent="0" lvl="0" marL="457200" rtl="0" algn="l">
              <a:spcBef>
                <a:spcPts val="1200"/>
              </a:spcBef>
              <a:spcAft>
                <a:spcPts val="0"/>
              </a:spcAft>
              <a:buNone/>
            </a:pPr>
            <a:r>
              <a:t/>
            </a:r>
            <a:endParaRPr sz="1500">
              <a:solidFill>
                <a:srgbClr val="161616"/>
              </a:solidFill>
              <a:highlight>
                <a:srgbClr val="FFFFFF"/>
              </a:highlight>
            </a:endParaRPr>
          </a:p>
          <a:p>
            <a:pPr indent="-323850" lvl="0" marL="825500" rtl="0" algn="l">
              <a:spcBef>
                <a:spcPts val="1200"/>
              </a:spcBef>
              <a:spcAft>
                <a:spcPts val="0"/>
              </a:spcAft>
              <a:buClr>
                <a:srgbClr val="161616"/>
              </a:buClr>
              <a:buSzPts val="1500"/>
              <a:buAutoNum type="arabicPeriod"/>
            </a:pPr>
            <a:r>
              <a:rPr lang="en" sz="1500">
                <a:solidFill>
                  <a:srgbClr val="161616"/>
                </a:solidFill>
                <a:highlight>
                  <a:srgbClr val="FFFFFF"/>
                </a:highlight>
              </a:rPr>
              <a:t>The Accessibility Checker pane will open</a:t>
            </a:r>
            <a:r>
              <a:rPr lang="en" sz="1200">
                <a:solidFill>
                  <a:srgbClr val="161616"/>
                </a:solidFill>
                <a:highlight>
                  <a:srgbClr val="FFFFFF"/>
                </a:highlight>
              </a:rPr>
              <a:t>.</a:t>
            </a:r>
            <a:br>
              <a:rPr lang="en" sz="1200">
                <a:solidFill>
                  <a:srgbClr val="161616"/>
                </a:solidFill>
                <a:highlight>
                  <a:srgbClr val="FFFFFF"/>
                </a:highlight>
              </a:rPr>
            </a:br>
            <a:br>
              <a:rPr lang="en" sz="1200">
                <a:solidFill>
                  <a:srgbClr val="161616"/>
                </a:solidFill>
                <a:highlight>
                  <a:srgbClr val="FFFFFF"/>
                </a:highlight>
              </a:rPr>
            </a:br>
            <a:endParaRPr sz="1500">
              <a:solidFill>
                <a:srgbClr val="161616"/>
              </a:solidFill>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Screenshot of the Insert Captions button on the Video Options ribbon in PowerPoint." id="140" name="Google Shape;140;p27"/>
          <p:cNvPicPr preferRelativeResize="0"/>
          <p:nvPr/>
        </p:nvPicPr>
        <p:blipFill>
          <a:blip r:embed="rId3">
            <a:alphaModFix/>
          </a:blip>
          <a:stretch>
            <a:fillRect/>
          </a:stretch>
        </p:blipFill>
        <p:spPr>
          <a:xfrm>
            <a:off x="1863525" y="1103888"/>
            <a:ext cx="5093300" cy="29357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idx="1" type="body"/>
          </p:nvPr>
        </p:nvSpPr>
        <p:spPr>
          <a:xfrm>
            <a:off x="-245175" y="86355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lang="en" sz="1500">
                <a:solidFill>
                  <a:srgbClr val="161616"/>
                </a:solidFill>
                <a:highlight>
                  <a:srgbClr val="FFFFFF"/>
                </a:highlight>
              </a:rPr>
              <a:t>Review the list of issues and warnings that the Accessibility Checker has found.</a:t>
            </a:r>
            <a:endParaRPr sz="1500">
              <a:solidFill>
                <a:srgbClr val="161616"/>
              </a:solidFill>
              <a:highlight>
                <a:srgbClr val="FFFFFF"/>
              </a:highlight>
            </a:endParaRPr>
          </a:p>
          <a:p>
            <a:pPr indent="0" lvl="0" marL="457200" rtl="0" algn="l">
              <a:spcBef>
                <a:spcPts val="1200"/>
              </a:spcBef>
              <a:spcAft>
                <a:spcPts val="0"/>
              </a:spcAft>
              <a:buNone/>
            </a:pPr>
            <a:br>
              <a:rPr lang="en" sz="1500">
                <a:solidFill>
                  <a:srgbClr val="161616"/>
                </a:solidFill>
                <a:highlight>
                  <a:srgbClr val="FFFFFF"/>
                </a:highlight>
              </a:rPr>
            </a:br>
            <a:r>
              <a:rPr lang="en" sz="1500">
                <a:solidFill>
                  <a:srgbClr val="161616"/>
                </a:solidFill>
                <a:highlight>
                  <a:srgbClr val="FFFFFF"/>
                </a:highlight>
              </a:rPr>
              <a:t>- Errors are more severe and should be fixed as soon as possible.</a:t>
            </a:r>
            <a:endParaRPr sz="1500">
              <a:solidFill>
                <a:srgbClr val="161616"/>
              </a:solidFill>
              <a:highlight>
                <a:srgbClr val="FFFFFF"/>
              </a:highlight>
            </a:endParaRPr>
          </a:p>
          <a:p>
            <a:pPr indent="0" lvl="0" marL="457200" rtl="0" algn="l">
              <a:spcBef>
                <a:spcPts val="1200"/>
              </a:spcBef>
              <a:spcAft>
                <a:spcPts val="1200"/>
              </a:spcAft>
              <a:buNone/>
            </a:pPr>
            <a:br>
              <a:rPr lang="en" sz="1500">
                <a:solidFill>
                  <a:srgbClr val="161616"/>
                </a:solidFill>
                <a:highlight>
                  <a:srgbClr val="FFFFFF"/>
                </a:highlight>
              </a:rPr>
            </a:br>
            <a:r>
              <a:rPr lang="en" sz="1500">
                <a:solidFill>
                  <a:srgbClr val="161616"/>
                </a:solidFill>
                <a:highlight>
                  <a:srgbClr val="FFFFFF"/>
                </a:highlight>
              </a:rPr>
              <a:t>- Warnings are less critical but will still affect some users.</a:t>
            </a:r>
            <a:br>
              <a:rPr lang="en" sz="1500">
                <a:solidFill>
                  <a:srgbClr val="161616"/>
                </a:solidFill>
                <a:highlight>
                  <a:srgbClr val="FFFFFF"/>
                </a:highlight>
              </a:rPr>
            </a:br>
            <a:endParaRPr sz="1500"/>
          </a:p>
        </p:txBody>
      </p:sp>
      <p:pic>
        <p:nvPicPr>
          <p:cNvPr descr="Screenshot of the Accessibility Checker showing issues and warnings." id="146" name="Google Shape;146;p28"/>
          <p:cNvPicPr preferRelativeResize="0"/>
          <p:nvPr/>
        </p:nvPicPr>
        <p:blipFill>
          <a:blip r:embed="rId3">
            <a:alphaModFix/>
          </a:blip>
          <a:stretch>
            <a:fillRect/>
          </a:stretch>
        </p:blipFill>
        <p:spPr>
          <a:xfrm>
            <a:off x="6301575" y="1174500"/>
            <a:ext cx="2672475" cy="396900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idx="1" type="body"/>
          </p:nvPr>
        </p:nvSpPr>
        <p:spPr>
          <a:xfrm>
            <a:off x="311700" y="423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lang="en" sz="1500">
                <a:solidFill>
                  <a:srgbClr val="161616"/>
                </a:solidFill>
                <a:highlight>
                  <a:srgbClr val="FFFFFF"/>
                </a:highlight>
              </a:rPr>
              <a:t>Select an issue or warning to see more details and suggestions on how to fix it.</a:t>
            </a:r>
            <a:br>
              <a:rPr lang="en" sz="1500">
                <a:solidFill>
                  <a:srgbClr val="161616"/>
                </a:solidFill>
                <a:highlight>
                  <a:srgbClr val="FFFFFF"/>
                </a:highlight>
              </a:rPr>
            </a:br>
            <a:endParaRPr sz="1500"/>
          </a:p>
        </p:txBody>
      </p:sp>
      <p:pic>
        <p:nvPicPr>
          <p:cNvPr descr="Screenshot showing how to select an issue in the Accessibility Checker list and review suggestions." id="152" name="Google Shape;152;p29"/>
          <p:cNvPicPr preferRelativeResize="0"/>
          <p:nvPr/>
        </p:nvPicPr>
        <p:blipFill>
          <a:blip r:embed="rId3">
            <a:alphaModFix/>
          </a:blip>
          <a:stretch>
            <a:fillRect/>
          </a:stretch>
        </p:blipFill>
        <p:spPr>
          <a:xfrm>
            <a:off x="1580025" y="1010725"/>
            <a:ext cx="5715000" cy="38195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
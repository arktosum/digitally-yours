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543bedf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543bedf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543bed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543bed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b543bedf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b543bedf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b543bedf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b543bedf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3b543bedf2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3b543bedf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3b543bedf2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3b543bedf2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b543bedf2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3b543bedf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3b543bedf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3b543bedf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3b543bedf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3b543bedf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3b543bedf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3b543bedf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3b543bedf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3b543bedf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3b543bedf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3b543bedf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e09bcd7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e09bcd7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72458" y="3267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FILE MANAGEMENT</a:t>
            </a:r>
            <a:endParaRPr/>
          </a:p>
        </p:txBody>
      </p:sp>
      <p:pic>
        <p:nvPicPr>
          <p:cNvPr id="55" name="Google Shape;55;p13" title="download (80).jpg"/>
          <p:cNvPicPr preferRelativeResize="0"/>
          <p:nvPr/>
        </p:nvPicPr>
        <p:blipFill>
          <a:blip r:embed="rId3">
            <a:alphaModFix/>
          </a:blip>
          <a:stretch>
            <a:fillRect/>
          </a:stretch>
        </p:blipFill>
        <p:spPr>
          <a:xfrm>
            <a:off x="5356650" y="2723188"/>
            <a:ext cx="2143125" cy="2143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230700" y="605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File management is an essential skill in digital literacy, ensuring that individuals can effectively organize, store, retrieve, and protect their files in digital environments. Understanding the principles of file management can improve productivity, reduce frustration, and make the digital workflow more efficient. </a:t>
            </a:r>
            <a:endParaRPr sz="1500">
              <a:solidFill>
                <a:schemeClr val="dk1"/>
              </a:solidFill>
            </a:endParaRPr>
          </a:p>
        </p:txBody>
      </p:sp>
      <p:pic>
        <p:nvPicPr>
          <p:cNvPr id="61" name="Google Shape;61;p14" title="download (81).jpg"/>
          <p:cNvPicPr preferRelativeResize="0"/>
          <p:nvPr/>
        </p:nvPicPr>
        <p:blipFill>
          <a:blip r:embed="rId3">
            <a:alphaModFix/>
          </a:blip>
          <a:stretch>
            <a:fillRect/>
          </a:stretch>
        </p:blipFill>
        <p:spPr>
          <a:xfrm>
            <a:off x="2457037" y="2146500"/>
            <a:ext cx="4067925" cy="226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FILE SYSTEMS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A file system is the way files are organized, stored, and accessed on a computer or digital device.</a:t>
            </a:r>
            <a:endParaRPr sz="1500">
              <a:solidFill>
                <a:schemeClr val="dk1"/>
              </a:solidFill>
            </a:endParaRPr>
          </a:p>
          <a:p>
            <a:pPr indent="0" lvl="0" marL="0" rtl="0" algn="l">
              <a:spcBef>
                <a:spcPts val="1200"/>
              </a:spcBef>
              <a:spcAft>
                <a:spcPts val="0"/>
              </a:spcAft>
              <a:buNone/>
            </a:pPr>
            <a:r>
              <a:rPr b="1" lang="en" sz="1500">
                <a:solidFill>
                  <a:schemeClr val="dk1"/>
                </a:solidFill>
              </a:rPr>
              <a:t>File Types:</a:t>
            </a:r>
            <a:r>
              <a:rPr lang="en" sz="1500">
                <a:solidFill>
                  <a:schemeClr val="dk1"/>
                </a:solidFill>
              </a:rPr>
              <a:t> Files come in different formats (e.g., .docx, .pdf, .jpeg). Knowing the types of files you are working with helps in managing them properly.</a:t>
            </a:r>
            <a:endParaRPr sz="1500">
              <a:solidFill>
                <a:schemeClr val="dk1"/>
              </a:solidFill>
            </a:endParaRPr>
          </a:p>
          <a:p>
            <a:pPr indent="0" lvl="0" marL="0" rtl="0" algn="l">
              <a:spcBef>
                <a:spcPts val="1200"/>
              </a:spcBef>
              <a:spcAft>
                <a:spcPts val="1200"/>
              </a:spcAft>
              <a:buNone/>
            </a:pPr>
            <a:r>
              <a:rPr b="1" lang="en" sz="1500">
                <a:solidFill>
                  <a:schemeClr val="dk1"/>
                </a:solidFill>
              </a:rPr>
              <a:t>File Extensions:</a:t>
            </a:r>
            <a:r>
              <a:rPr lang="en" sz="1500">
                <a:solidFill>
                  <a:schemeClr val="dk1"/>
                </a:solidFill>
              </a:rPr>
              <a:t> The part of the file name that comes after the dot (e.g., .txt, .jpg, .mp4) determines what type of file it is. Recognizing file extensions helps in choosing the right software to open and manage files.</a:t>
            </a:r>
            <a:endParaRPr sz="1500">
              <a:solidFill>
                <a:schemeClr val="dk1"/>
              </a:solidFill>
            </a:endParaRPr>
          </a:p>
        </p:txBody>
      </p:sp>
      <p:pic>
        <p:nvPicPr>
          <p:cNvPr id="68" name="Google Shape;68;p15" title="download (32).png"/>
          <p:cNvPicPr preferRelativeResize="0"/>
          <p:nvPr/>
        </p:nvPicPr>
        <p:blipFill>
          <a:blip r:embed="rId3">
            <a:alphaModFix/>
          </a:blip>
          <a:stretch>
            <a:fillRect/>
          </a:stretch>
        </p:blipFill>
        <p:spPr>
          <a:xfrm>
            <a:off x="3037252" y="3128400"/>
            <a:ext cx="3283850" cy="1832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FILES</a:t>
            </a:r>
            <a:endParaRPr/>
          </a:p>
        </p:txBody>
      </p:sp>
      <p:sp>
        <p:nvSpPr>
          <p:cNvPr id="74" name="Google Shape;74;p16"/>
          <p:cNvSpPr txBox="1"/>
          <p:nvPr>
            <p:ph idx="1" type="body"/>
          </p:nvPr>
        </p:nvSpPr>
        <p:spPr>
          <a:xfrm>
            <a:off x="311700" y="12233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Before managing files, it's important to understand how to create them. Digital files can be created using various software applications based on their intended use.</a:t>
            </a:r>
            <a:endParaRPr sz="1500">
              <a:solidFill>
                <a:schemeClr val="dk1"/>
              </a:solidFill>
            </a:endParaRPr>
          </a:p>
          <a:p>
            <a:pPr indent="0" lvl="0" marL="0" rtl="0" algn="l">
              <a:spcBef>
                <a:spcPts val="1200"/>
              </a:spcBef>
              <a:spcAft>
                <a:spcPts val="0"/>
              </a:spcAft>
              <a:buClr>
                <a:schemeClr val="dk1"/>
              </a:buClr>
              <a:buSzPts val="1100"/>
              <a:buFont typeface="Arial"/>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Word Documents:</a:t>
            </a:r>
            <a:r>
              <a:rPr lang="en" sz="1500">
                <a:solidFill>
                  <a:schemeClr val="dk1"/>
                </a:solidFill>
              </a:rPr>
              <a:t> For text-based files, applications like Microsoft Word, Google Docs, or OpenOffice Writer are used. These files may contain formatted text, images, tables, etc.</a:t>
            </a:r>
            <a:endParaRPr sz="1500">
              <a:solidFill>
                <a:schemeClr val="dk1"/>
              </a:solidFill>
            </a:endParaRPr>
          </a:p>
          <a:p>
            <a:pPr indent="0" lvl="0" marL="0" rtl="0" algn="l">
              <a:spcBef>
                <a:spcPts val="1200"/>
              </a:spcBef>
              <a:spcAft>
                <a:spcPts val="1200"/>
              </a:spcAft>
              <a:buNone/>
            </a:pPr>
            <a:r>
              <a:t/>
            </a:r>
            <a:endParaRPr sz="1500"/>
          </a:p>
        </p:txBody>
      </p:sp>
      <p:pic>
        <p:nvPicPr>
          <p:cNvPr id="75" name="Google Shape;75;p16" title="images (31).jpg"/>
          <p:cNvPicPr preferRelativeResize="0"/>
          <p:nvPr/>
        </p:nvPicPr>
        <p:blipFill>
          <a:blip r:embed="rId3">
            <a:alphaModFix/>
          </a:blip>
          <a:stretch>
            <a:fillRect/>
          </a:stretch>
        </p:blipFill>
        <p:spPr>
          <a:xfrm>
            <a:off x="2803338" y="3242152"/>
            <a:ext cx="3537325" cy="1779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idx="1" type="body"/>
          </p:nvPr>
        </p:nvSpPr>
        <p:spPr>
          <a:xfrm>
            <a:off x="261075" y="6158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chemeClr val="dk1"/>
                </a:solidFill>
              </a:rPr>
              <a:t>Spreadsheets:</a:t>
            </a:r>
            <a:r>
              <a:rPr lang="en" sz="1500">
                <a:solidFill>
                  <a:schemeClr val="dk1"/>
                </a:solidFill>
              </a:rPr>
              <a:t> For organizing data, Excel, Google Sheets, or similar programs are used to create .xls or .csv files.</a:t>
            </a:r>
            <a:br>
              <a:rPr lang="en" sz="1500">
                <a:solidFill>
                  <a:schemeClr val="dk1"/>
                </a:solidFill>
              </a:rPr>
            </a:br>
            <a:endParaRPr sz="1500">
              <a:solidFill>
                <a:schemeClr val="dk1"/>
              </a:solidFill>
            </a:endParaRPr>
          </a:p>
          <a:p>
            <a:pPr indent="0" lvl="0" marL="0" rtl="0" algn="l">
              <a:spcBef>
                <a:spcPts val="1200"/>
              </a:spcBef>
              <a:spcAft>
                <a:spcPts val="0"/>
              </a:spcAft>
              <a:buNone/>
            </a:pPr>
            <a:r>
              <a:rPr b="1" lang="en" sz="1500">
                <a:solidFill>
                  <a:schemeClr val="dk1"/>
                </a:solidFill>
              </a:rPr>
              <a:t>Presentations:</a:t>
            </a:r>
            <a:r>
              <a:rPr lang="en" sz="1500">
                <a:solidFill>
                  <a:schemeClr val="dk1"/>
                </a:solidFill>
              </a:rPr>
              <a:t> For creating slide shows, tools like Microsoft PowerPoint or Google Slides allow users to create .pptx or .gsheets files.</a:t>
            </a:r>
            <a:endParaRPr sz="1500">
              <a:solidFill>
                <a:schemeClr val="dk1"/>
              </a:solidFill>
            </a:endParaRPr>
          </a:p>
          <a:p>
            <a:pPr indent="0" lvl="0" marL="0" rtl="0" algn="l">
              <a:spcBef>
                <a:spcPts val="1200"/>
              </a:spcBef>
              <a:spcAft>
                <a:spcPts val="1200"/>
              </a:spcAft>
              <a:buNone/>
            </a:pPr>
            <a:r>
              <a:t/>
            </a:r>
            <a:endParaRPr sz="1500"/>
          </a:p>
        </p:txBody>
      </p:sp>
      <p:pic>
        <p:nvPicPr>
          <p:cNvPr id="81" name="Google Shape;81;p17" title="images (32).jpg"/>
          <p:cNvPicPr preferRelativeResize="0"/>
          <p:nvPr/>
        </p:nvPicPr>
        <p:blipFill>
          <a:blip r:embed="rId3">
            <a:alphaModFix/>
          </a:blip>
          <a:stretch>
            <a:fillRect/>
          </a:stretch>
        </p:blipFill>
        <p:spPr>
          <a:xfrm>
            <a:off x="2857300" y="2479850"/>
            <a:ext cx="3683250" cy="2451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idx="1" type="body"/>
          </p:nvPr>
        </p:nvSpPr>
        <p:spPr>
          <a:xfrm>
            <a:off x="311700" y="5956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Images and Graphics:</a:t>
            </a:r>
            <a:r>
              <a:rPr lang="en" sz="1500">
                <a:solidFill>
                  <a:schemeClr val="dk1"/>
                </a:solidFill>
              </a:rPr>
              <a:t> Programs like Adobe Photoshop, Microsoft Paint, or Canva allow users to create .png, .jpg, .svg, or .psd files for images and graphics.</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Text Files:</a:t>
            </a:r>
            <a:r>
              <a:rPr lang="en" sz="1500">
                <a:solidFill>
                  <a:schemeClr val="dk1"/>
                </a:solidFill>
              </a:rPr>
              <a:t> Basic text editors like Notepad (Windows) or TextEdit (Mac) create simple .txt files for storing plain text.</a:t>
            </a:r>
            <a:endParaRPr sz="1500">
              <a:solidFill>
                <a:schemeClr val="dk1"/>
              </a:solidFill>
            </a:endParaRPr>
          </a:p>
          <a:p>
            <a:pPr indent="0" lvl="0" marL="0" rtl="0" algn="l">
              <a:spcBef>
                <a:spcPts val="1200"/>
              </a:spcBef>
              <a:spcAft>
                <a:spcPts val="1200"/>
              </a:spcAft>
              <a:buNone/>
            </a:pPr>
            <a:r>
              <a:t/>
            </a:r>
            <a:endParaRPr sz="1500"/>
          </a:p>
        </p:txBody>
      </p:sp>
      <p:pic>
        <p:nvPicPr>
          <p:cNvPr id="87" name="Google Shape;87;p18" title="download (33).png"/>
          <p:cNvPicPr preferRelativeResize="0"/>
          <p:nvPr/>
        </p:nvPicPr>
        <p:blipFill>
          <a:blip r:embed="rId3">
            <a:alphaModFix/>
          </a:blip>
          <a:stretch>
            <a:fillRect/>
          </a:stretch>
        </p:blipFill>
        <p:spPr>
          <a:xfrm>
            <a:off x="2530950" y="2336304"/>
            <a:ext cx="3626950" cy="2260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TO CREATE A FILE</a:t>
            </a:r>
            <a:endParaRPr/>
          </a:p>
        </p:txBody>
      </p:sp>
      <p:sp>
        <p:nvSpPr>
          <p:cNvPr id="93" name="Google Shape;93;p19"/>
          <p:cNvSpPr txBox="1"/>
          <p:nvPr>
            <p:ph idx="1" type="body"/>
          </p:nvPr>
        </p:nvSpPr>
        <p:spPr>
          <a:xfrm>
            <a:off x="311700" y="1071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t/>
            </a:r>
            <a:endParaRPr b="1" sz="1500">
              <a:solidFill>
                <a:schemeClr val="dk1"/>
              </a:solidFill>
            </a:endParaRPr>
          </a:p>
          <a:p>
            <a:pPr indent="-323850" lvl="0" marL="457200" rtl="0" algn="l">
              <a:spcBef>
                <a:spcPts val="1200"/>
              </a:spcBef>
              <a:spcAft>
                <a:spcPts val="0"/>
              </a:spcAft>
              <a:buClr>
                <a:schemeClr val="dk1"/>
              </a:buClr>
              <a:buSzPts val="1500"/>
              <a:buAutoNum type="arabicPeriod"/>
            </a:pPr>
            <a:r>
              <a:rPr b="1" lang="en" sz="1500">
                <a:solidFill>
                  <a:schemeClr val="dk1"/>
                </a:solidFill>
              </a:rPr>
              <a:t>Open the Relevant Application</a:t>
            </a:r>
            <a:r>
              <a:rPr lang="en" sz="1500">
                <a:solidFill>
                  <a:schemeClr val="dk1"/>
                </a:solidFill>
              </a:rPr>
              <a:t>: Open the program you want to use to create your file (e.g., Word, Excel, PowerPoint).</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AutoNum type="arabicPeriod"/>
            </a:pPr>
            <a:r>
              <a:rPr b="1" lang="en" sz="1500">
                <a:solidFill>
                  <a:schemeClr val="dk1"/>
                </a:solidFill>
              </a:rPr>
              <a:t>Select 'New' or 'Create New'</a:t>
            </a:r>
            <a:r>
              <a:rPr lang="en" sz="1500">
                <a:solidFill>
                  <a:schemeClr val="dk1"/>
                </a:solidFill>
              </a:rPr>
              <a:t>: Most applications have a “New” or “Create New” option available in the File menu.</a:t>
            </a:r>
            <a:endParaRPr sz="1500">
              <a:solidFill>
                <a:schemeClr val="dk1"/>
              </a:solidFill>
            </a:endParaRPr>
          </a:p>
          <a:p>
            <a:pPr indent="0" lvl="0" marL="0" rtl="0" algn="l">
              <a:spcBef>
                <a:spcPts val="1200"/>
              </a:spcBef>
              <a:spcAft>
                <a:spcPts val="1200"/>
              </a:spcAft>
              <a:buNone/>
            </a:pPr>
            <a:r>
              <a:t/>
            </a:r>
            <a:endParaRPr sz="1500"/>
          </a:p>
        </p:txBody>
      </p:sp>
      <p:pic>
        <p:nvPicPr>
          <p:cNvPr id="94" name="Google Shape;94;p19" title="word-2019--create-new-documents--02.png"/>
          <p:cNvPicPr preferRelativeResize="0"/>
          <p:nvPr/>
        </p:nvPicPr>
        <p:blipFill>
          <a:blip r:embed="rId3">
            <a:alphaModFix/>
          </a:blip>
          <a:stretch>
            <a:fillRect/>
          </a:stretch>
        </p:blipFill>
        <p:spPr>
          <a:xfrm>
            <a:off x="3675375" y="2794500"/>
            <a:ext cx="3550650" cy="2199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1" type="body"/>
          </p:nvPr>
        </p:nvSpPr>
        <p:spPr>
          <a:xfrm>
            <a:off x="311700" y="686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Create Your Content</a:t>
            </a:r>
            <a:r>
              <a:rPr lang="en" sz="1500">
                <a:solidFill>
                  <a:schemeClr val="dk1"/>
                </a:solidFill>
              </a:rPr>
              <a:t>: Start adding your content, whether it’s typing in a Word document, adding data to a spreadsheet, or designing a presentation.</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Save the File</a:t>
            </a:r>
            <a:r>
              <a:rPr lang="en" sz="1500">
                <a:solidFill>
                  <a:schemeClr val="dk1"/>
                </a:solidFill>
              </a:rPr>
              <a:t>: After creating your content, save the file to a location on your computer or cloud storage. Give it a meaningful name that will help you easily identify it later.</a:t>
            </a:r>
            <a:endParaRPr sz="1500">
              <a:solidFill>
                <a:schemeClr val="dk1"/>
              </a:solidFill>
            </a:endParaRPr>
          </a:p>
          <a:p>
            <a:pPr indent="0" lvl="0" marL="0" rtl="0" algn="l">
              <a:spcBef>
                <a:spcPts val="1200"/>
              </a:spcBef>
              <a:spcAft>
                <a:spcPts val="1200"/>
              </a:spcAft>
              <a:buNone/>
            </a:pPr>
            <a:r>
              <a:t/>
            </a:r>
            <a:endParaRPr sz="1500"/>
          </a:p>
        </p:txBody>
      </p:sp>
      <p:pic>
        <p:nvPicPr>
          <p:cNvPr id="100" name="Google Shape;100;p20" title="download (83).jpg"/>
          <p:cNvPicPr preferRelativeResize="0"/>
          <p:nvPr/>
        </p:nvPicPr>
        <p:blipFill>
          <a:blip r:embed="rId3">
            <a:alphaModFix/>
          </a:blip>
          <a:stretch>
            <a:fillRect/>
          </a:stretch>
        </p:blipFill>
        <p:spPr>
          <a:xfrm>
            <a:off x="2996200" y="2450250"/>
            <a:ext cx="3151600" cy="2360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PC</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23850" lvl="0" marL="457200" rtl="0" algn="l">
              <a:spcBef>
                <a:spcPts val="1200"/>
              </a:spcBef>
              <a:spcAft>
                <a:spcPts val="0"/>
              </a:spcAft>
              <a:buClr>
                <a:schemeClr val="dk1"/>
              </a:buClr>
              <a:buSzPts val="1500"/>
              <a:buAutoNum type="arabicParenR"/>
            </a:pPr>
            <a:r>
              <a:rPr b="1" lang="en" sz="1500">
                <a:solidFill>
                  <a:schemeClr val="dk1"/>
                </a:solidFill>
              </a:rPr>
              <a:t>Windows</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In </a:t>
            </a:r>
            <a:r>
              <a:rPr b="1" lang="en" sz="1500">
                <a:solidFill>
                  <a:schemeClr val="dk1"/>
                </a:solidFill>
              </a:rPr>
              <a:t>File Explorer</a:t>
            </a:r>
            <a:r>
              <a:rPr lang="en" sz="1500">
                <a:solidFill>
                  <a:schemeClr val="dk1"/>
                </a:solidFill>
              </a:rPr>
              <a:t>, navigate to where you want to create the folder (e.g., in </a:t>
            </a:r>
            <a:r>
              <a:rPr b="1" lang="en" sz="1500">
                <a:solidFill>
                  <a:schemeClr val="dk1"/>
                </a:solidFill>
              </a:rPr>
              <a:t>Documents</a:t>
            </a:r>
            <a:r>
              <a:rPr lang="en" sz="1500">
                <a:solidFill>
                  <a:schemeClr val="dk1"/>
                </a:solidFill>
              </a:rPr>
              <a:t> or </a:t>
            </a:r>
            <a:r>
              <a:rPr b="1" lang="en" sz="1500">
                <a:solidFill>
                  <a:schemeClr val="dk1"/>
                </a:solidFill>
              </a:rPr>
              <a:t>Desktop</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Right-click in an empty area, then select </a:t>
            </a:r>
            <a:r>
              <a:rPr b="1" lang="en" sz="1500">
                <a:solidFill>
                  <a:schemeClr val="dk1"/>
                </a:solidFill>
              </a:rPr>
              <a:t>New &gt; Folder</a:t>
            </a:r>
            <a:r>
              <a:rPr lang="en" sz="1500">
                <a:solidFill>
                  <a:schemeClr val="dk1"/>
                </a:solidFill>
              </a:rPr>
              <a:t> from the context menu.</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Name the folder by typing a name and pressing </a:t>
            </a:r>
            <a:r>
              <a:rPr b="1" lang="en" sz="1500">
                <a:solidFill>
                  <a:schemeClr val="dk1"/>
                </a:solidFill>
              </a:rPr>
              <a:t>Enter</a:t>
            </a:r>
            <a:r>
              <a:rPr lang="en" sz="1500">
                <a:solidFill>
                  <a:schemeClr val="dk1"/>
                </a:solidFill>
              </a:rPr>
              <a:t>.</a:t>
            </a:r>
            <a:endParaRPr sz="1500">
              <a:solidFill>
                <a:schemeClr val="dk1"/>
              </a:solidFill>
            </a:endParaRPr>
          </a:p>
          <a:p>
            <a:pPr indent="0" lvl="0" marL="9144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AutoNum type="arabicParenR"/>
            </a:pPr>
            <a:r>
              <a:rPr b="1" lang="en" sz="1500">
                <a:solidFill>
                  <a:schemeClr val="dk1"/>
                </a:solidFill>
              </a:rPr>
              <a:t>Mac</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In </a:t>
            </a:r>
            <a:r>
              <a:rPr b="1" lang="en" sz="1500">
                <a:solidFill>
                  <a:schemeClr val="dk1"/>
                </a:solidFill>
              </a:rPr>
              <a:t>Finder</a:t>
            </a:r>
            <a:r>
              <a:rPr lang="en" sz="1500">
                <a:solidFill>
                  <a:schemeClr val="dk1"/>
                </a:solidFill>
              </a:rPr>
              <a:t>, navigate to the location where you want to create a folder (e.g., </a:t>
            </a:r>
            <a:r>
              <a:rPr b="1" lang="en" sz="1500">
                <a:solidFill>
                  <a:schemeClr val="dk1"/>
                </a:solidFill>
              </a:rPr>
              <a:t>Documents</a:t>
            </a:r>
            <a:r>
              <a:rPr lang="en" sz="1500">
                <a:solidFill>
                  <a:schemeClr val="dk1"/>
                </a:solidFill>
              </a:rPr>
              <a:t> or </a:t>
            </a:r>
            <a:r>
              <a:rPr b="1" lang="en" sz="1500">
                <a:solidFill>
                  <a:schemeClr val="dk1"/>
                </a:solidFill>
              </a:rPr>
              <a:t>Desktop</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Right-click and select </a:t>
            </a:r>
            <a:r>
              <a:rPr b="1" lang="en" sz="1500">
                <a:solidFill>
                  <a:schemeClr val="dk1"/>
                </a:solidFill>
              </a:rPr>
              <a:t>New Folder</a:t>
            </a:r>
            <a:r>
              <a:rPr lang="en" sz="1500">
                <a:solidFill>
                  <a:schemeClr val="dk1"/>
                </a:solidFill>
              </a:rPr>
              <a:t> or press </a:t>
            </a:r>
            <a:r>
              <a:rPr b="1" lang="en" sz="1500">
                <a:solidFill>
                  <a:schemeClr val="dk1"/>
                </a:solidFill>
              </a:rPr>
              <a:t>Command + Shift + N</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Name the folder and press </a:t>
            </a:r>
            <a:r>
              <a:rPr b="1" lang="en" sz="1500">
                <a:solidFill>
                  <a:schemeClr val="dk1"/>
                </a:solidFill>
              </a:rPr>
              <a:t>Enter</a:t>
            </a:r>
            <a:r>
              <a:rPr lang="en" sz="1500">
                <a:solidFill>
                  <a:schemeClr val="dk1"/>
                </a:solidFill>
              </a:rPr>
              <a:t>.</a:t>
            </a:r>
            <a:endParaRPr sz="1500">
              <a:solidFill>
                <a:schemeClr val="dk1"/>
              </a:solidFill>
            </a:endParaRPr>
          </a:p>
          <a:p>
            <a:pPr indent="0" lvl="0" marL="91440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ORGANIZING FILES AND FOLDERS</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Organizing files and folders is about creating a system that makes it easy to locate, edit, and share files. Effective file organization minimizes confusion and saves time.</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Folder Hierarchy:</a:t>
            </a:r>
            <a:r>
              <a:rPr lang="en" sz="1500">
                <a:solidFill>
                  <a:schemeClr val="dk1"/>
                </a:solidFill>
              </a:rPr>
              <a:t> Create a clear folder structure. Use main folders for broad categories (e.g., Work, Personal, School) and subfolders for more specific areas within those categories (e.g., Work → Reports, Work → Presentations).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Naming Conventions:</a:t>
            </a:r>
            <a:r>
              <a:rPr lang="en" sz="1500">
                <a:solidFill>
                  <a:schemeClr val="dk1"/>
                </a:solidFill>
              </a:rPr>
              <a:t> Use clear, consistent naming conventions. Include dates, project names, or other relevant identifiers. For example, "2025_Sales_Report_April" is more efficient than just "Report1."</a:t>
            </a:r>
            <a:endParaRPr sz="1500">
              <a:solidFill>
                <a:schemeClr val="dk1"/>
              </a:solidFill>
            </a:endParaRPr>
          </a:p>
          <a:p>
            <a:pPr indent="0" lvl="0" marL="0" rtl="0" algn="l">
              <a:spcBef>
                <a:spcPts val="1200"/>
              </a:spcBef>
              <a:spcAft>
                <a:spcPts val="1200"/>
              </a:spcAft>
              <a:buNone/>
            </a:pPr>
            <a:r>
              <a:t/>
            </a:r>
            <a:endParaRPr sz="1500"/>
          </a:p>
        </p:txBody>
      </p:sp>
      <p:pic>
        <p:nvPicPr>
          <p:cNvPr id="113" name="Google Shape;113;p22" title="download (84).jpg"/>
          <p:cNvPicPr preferRelativeResize="0"/>
          <p:nvPr/>
        </p:nvPicPr>
        <p:blipFill>
          <a:blip r:embed="rId3">
            <a:alphaModFix/>
          </a:blip>
          <a:stretch>
            <a:fillRect/>
          </a:stretch>
        </p:blipFill>
        <p:spPr>
          <a:xfrm>
            <a:off x="4062338" y="3613163"/>
            <a:ext cx="3267075" cy="1400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 OF ORGANIZING DIGITAL FOLDERS</a:t>
            </a:r>
            <a:endParaRPr/>
          </a:p>
        </p:txBody>
      </p:sp>
      <p:sp>
        <p:nvSpPr>
          <p:cNvPr id="119" name="Google Shape;119;p23"/>
          <p:cNvSpPr txBox="1"/>
          <p:nvPr>
            <p:ph idx="1" type="body"/>
          </p:nvPr>
        </p:nvSpPr>
        <p:spPr>
          <a:xfrm>
            <a:off x="311700" y="7272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t/>
            </a:r>
            <a:endParaRPr b="1" sz="1500">
              <a:solidFill>
                <a:schemeClr val="dk1"/>
              </a:solidFill>
            </a:endParaRPr>
          </a:p>
          <a:p>
            <a:pPr indent="-323850" lvl="0" marL="457200" rtl="0" algn="l">
              <a:spcBef>
                <a:spcPts val="1200"/>
              </a:spcBef>
              <a:spcAft>
                <a:spcPts val="0"/>
              </a:spcAft>
              <a:buClr>
                <a:schemeClr val="dk1"/>
              </a:buClr>
              <a:buSzPts val="1500"/>
              <a:buAutoNum type="arabicPeriod"/>
            </a:pPr>
            <a:r>
              <a:rPr b="1" lang="en" sz="1500">
                <a:solidFill>
                  <a:schemeClr val="dk1"/>
                </a:solidFill>
              </a:rPr>
              <a:t>Easy Access:</a:t>
            </a:r>
            <a:r>
              <a:rPr lang="en" sz="1500">
                <a:solidFill>
                  <a:schemeClr val="dk1"/>
                </a:solidFill>
              </a:rPr>
              <a:t> Organized folders help you quickly find work files, personal documents (like PAN, Aadhar, Passport), and financial records without wasting time searching.</a:t>
            </a:r>
            <a:endParaRPr sz="1500">
              <a:solidFill>
                <a:schemeClr val="dk1"/>
              </a:solidFill>
            </a:endParaRPr>
          </a:p>
          <a:p>
            <a:pPr indent="-323850" lvl="0" marL="457200" rtl="0" algn="l">
              <a:spcBef>
                <a:spcPts val="0"/>
              </a:spcBef>
              <a:spcAft>
                <a:spcPts val="0"/>
              </a:spcAft>
              <a:buClr>
                <a:schemeClr val="dk1"/>
              </a:buClr>
              <a:buSzPts val="1500"/>
              <a:buAutoNum type="arabicPeriod"/>
            </a:pPr>
            <a:r>
              <a:rPr b="1" lang="en" sz="1500">
                <a:solidFill>
                  <a:schemeClr val="dk1"/>
                </a:solidFill>
              </a:rPr>
              <a:t>Better Security:</a:t>
            </a:r>
            <a:r>
              <a:rPr lang="en" sz="1500">
                <a:solidFill>
                  <a:schemeClr val="dk1"/>
                </a:solidFill>
              </a:rPr>
              <a:t> You can protect sensitive documents by password-protecting folders, keeping your personal and financial information safe.</a:t>
            </a:r>
            <a:endParaRPr sz="1500">
              <a:solidFill>
                <a:schemeClr val="dk1"/>
              </a:solidFill>
            </a:endParaRPr>
          </a:p>
          <a:p>
            <a:pPr indent="-323850" lvl="0" marL="457200" rtl="0" algn="l">
              <a:spcBef>
                <a:spcPts val="0"/>
              </a:spcBef>
              <a:spcAft>
                <a:spcPts val="0"/>
              </a:spcAft>
              <a:buClr>
                <a:schemeClr val="dk1"/>
              </a:buClr>
              <a:buSzPts val="1500"/>
              <a:buAutoNum type="arabicPeriod"/>
            </a:pPr>
            <a:r>
              <a:rPr b="1" lang="en" sz="1500">
                <a:solidFill>
                  <a:schemeClr val="dk1"/>
                </a:solidFill>
              </a:rPr>
              <a:t>Quick Backup:</a:t>
            </a:r>
            <a:r>
              <a:rPr lang="en" sz="1500">
                <a:solidFill>
                  <a:schemeClr val="dk1"/>
                </a:solidFill>
              </a:rPr>
              <a:t> It's easier to back up organized folders, ensuring your documents are safe and can be restored if something goes wrong.</a:t>
            </a:r>
            <a:endParaRPr sz="1500">
              <a:solidFill>
                <a:schemeClr val="dk1"/>
              </a:solidFill>
            </a:endParaRPr>
          </a:p>
          <a:p>
            <a:pPr indent="0" lvl="0" marL="0" rtl="0" algn="l">
              <a:spcBef>
                <a:spcPts val="1200"/>
              </a:spcBef>
              <a:spcAft>
                <a:spcPts val="1200"/>
              </a:spcAft>
              <a:buNone/>
            </a:pPr>
            <a:r>
              <a:t/>
            </a:r>
            <a:endParaRPr sz="1500"/>
          </a:p>
        </p:txBody>
      </p:sp>
      <p:pic>
        <p:nvPicPr>
          <p:cNvPr id="120" name="Google Shape;120;p23" title="images (8).png"/>
          <p:cNvPicPr preferRelativeResize="0"/>
          <p:nvPr/>
        </p:nvPicPr>
        <p:blipFill>
          <a:blip r:embed="rId3">
            <a:alphaModFix/>
          </a:blip>
          <a:stretch>
            <a:fillRect/>
          </a:stretch>
        </p:blipFill>
        <p:spPr>
          <a:xfrm>
            <a:off x="2691878" y="3083100"/>
            <a:ext cx="3913525" cy="1797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idx="1" type="body"/>
          </p:nvPr>
        </p:nvSpPr>
        <p:spPr>
          <a:xfrm>
            <a:off x="311700" y="504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chemeClr val="dk1"/>
                </a:solidFill>
              </a:rPr>
              <a:t>4. Efficient Collaboration:</a:t>
            </a:r>
            <a:r>
              <a:rPr lang="en" sz="1500">
                <a:solidFill>
                  <a:schemeClr val="dk1"/>
                </a:solidFill>
              </a:rPr>
              <a:t> Sharing organized folders with others makes teamwork smoother, as everyone can easily find the right files.</a:t>
            </a:r>
            <a:endParaRPr sz="1500">
              <a:solidFill>
                <a:schemeClr val="dk1"/>
              </a:solidFill>
            </a:endParaRPr>
          </a:p>
          <a:p>
            <a:pPr indent="0" lvl="0" marL="457200" rtl="0" algn="l">
              <a:spcBef>
                <a:spcPts val="1200"/>
              </a:spcBef>
              <a:spcAft>
                <a:spcPts val="0"/>
              </a:spcAft>
              <a:buNone/>
            </a:pPr>
            <a:r>
              <a:rPr b="1" lang="en" sz="1500">
                <a:solidFill>
                  <a:schemeClr val="dk1"/>
                </a:solidFill>
              </a:rPr>
              <a:t>5.Simplified Personal Management:</a:t>
            </a:r>
            <a:r>
              <a:rPr lang="en" sz="1500">
                <a:solidFill>
                  <a:schemeClr val="dk1"/>
                </a:solidFill>
              </a:rPr>
              <a:t> Storing scanned copies of important documents (like bills, tax papers) in one folder makes managing your personal and financial tasks easier.</a:t>
            </a:r>
            <a:endParaRPr sz="1500">
              <a:solidFill>
                <a:schemeClr val="dk1"/>
              </a:solidFill>
            </a:endParaRPr>
          </a:p>
          <a:p>
            <a:pPr indent="0" lvl="0" marL="457200" rtl="0" algn="l">
              <a:spcBef>
                <a:spcPts val="1200"/>
              </a:spcBef>
              <a:spcAft>
                <a:spcPts val="0"/>
              </a:spcAft>
              <a:buNone/>
            </a:pPr>
            <a:r>
              <a:rPr b="1" lang="en" sz="1500">
                <a:solidFill>
                  <a:schemeClr val="dk1"/>
                </a:solidFill>
              </a:rPr>
              <a:t>6.Always Have Copies on Hand:</a:t>
            </a:r>
            <a:r>
              <a:rPr lang="en" sz="1500">
                <a:solidFill>
                  <a:schemeClr val="dk1"/>
                </a:solidFill>
              </a:rPr>
              <a:t> Scanned copies of important documents, such as IDs or passports, are easy to access and share when needed, like for travel or applications.</a:t>
            </a:r>
            <a:endParaRPr sz="1500">
              <a:solidFill>
                <a:schemeClr val="dk1"/>
              </a:solidFill>
            </a:endParaRPr>
          </a:p>
          <a:p>
            <a:pPr indent="0" lvl="0" marL="0" rtl="0" algn="l">
              <a:spcBef>
                <a:spcPts val="1200"/>
              </a:spcBef>
              <a:spcAft>
                <a:spcPts val="1200"/>
              </a:spcAft>
              <a:buNone/>
            </a:pPr>
            <a:r>
              <a:t/>
            </a:r>
            <a:endParaRPr sz="1500"/>
          </a:p>
        </p:txBody>
      </p:sp>
      <p:pic>
        <p:nvPicPr>
          <p:cNvPr id="126" name="Google Shape;126;p24" title="images (33).jpg"/>
          <p:cNvPicPr preferRelativeResize="0"/>
          <p:nvPr/>
        </p:nvPicPr>
        <p:blipFill>
          <a:blip r:embed="rId3">
            <a:alphaModFix/>
          </a:blip>
          <a:stretch>
            <a:fillRect/>
          </a:stretch>
        </p:blipFill>
        <p:spPr>
          <a:xfrm>
            <a:off x="3004402" y="2713500"/>
            <a:ext cx="2936679" cy="2199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idx="1" type="body"/>
          </p:nvPr>
        </p:nvSpPr>
        <p:spPr>
          <a:xfrm>
            <a:off x="311700" y="615850"/>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500">
                <a:solidFill>
                  <a:schemeClr val="dk1"/>
                </a:solidFill>
              </a:rPr>
              <a:t>7. Disaster Preparedness:</a:t>
            </a:r>
            <a:r>
              <a:rPr lang="en" sz="1500">
                <a:solidFill>
                  <a:schemeClr val="dk1"/>
                </a:solidFill>
              </a:rPr>
              <a:t> If physical documents are lost or damaged, you can access scanned copies stored digitally.</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8. Environmentally Friendly:</a:t>
            </a:r>
            <a:r>
              <a:rPr lang="en" sz="1500">
                <a:solidFill>
                  <a:schemeClr val="dk1"/>
                </a:solidFill>
              </a:rPr>
              <a:t> Less paper means more space and a cleaner environment.</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9. Easy Updates:</a:t>
            </a:r>
            <a:r>
              <a:rPr lang="en" sz="1500">
                <a:solidFill>
                  <a:schemeClr val="dk1"/>
                </a:solidFill>
              </a:rPr>
              <a:t> Digital files are easy to update, keeping your records current without losing older versions.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10. Simplified Legal/Official Processes:</a:t>
            </a:r>
            <a:r>
              <a:rPr lang="en" sz="1500">
                <a:solidFill>
                  <a:schemeClr val="dk1"/>
                </a:solidFill>
              </a:rPr>
              <a:t> Having soft copies of important documents makes applying for loans or completing official tasks faster and more efficient.</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OPENING FILES</a:t>
            </a:r>
            <a:endParaRPr/>
          </a:p>
        </p:txBody>
      </p:sp>
      <p:sp>
        <p:nvSpPr>
          <p:cNvPr id="137" name="Google Shape;13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AutoNum type="arabicParenR"/>
            </a:pPr>
            <a:r>
              <a:rPr b="1" lang="en" sz="1500">
                <a:solidFill>
                  <a:schemeClr val="dk1"/>
                </a:solidFill>
              </a:rPr>
              <a:t>Windows:</a:t>
            </a:r>
            <a:endParaRPr b="1" sz="1500">
              <a:solidFill>
                <a:schemeClr val="dk1"/>
              </a:solidFill>
            </a:endParaRPr>
          </a:p>
          <a:p>
            <a:pPr indent="-323850" lvl="0" marL="457200" rtl="0" algn="l">
              <a:spcBef>
                <a:spcPts val="0"/>
              </a:spcBef>
              <a:spcAft>
                <a:spcPts val="0"/>
              </a:spcAft>
              <a:buClr>
                <a:schemeClr val="dk1"/>
              </a:buClr>
              <a:buSzPts val="1500"/>
              <a:buAutoNum type="arabicParenR"/>
            </a:pPr>
            <a:r>
              <a:rPr b="1" lang="en" sz="1500">
                <a:solidFill>
                  <a:schemeClr val="dk1"/>
                </a:solidFill>
              </a:rPr>
              <a:t>File Explorer</a:t>
            </a:r>
            <a:r>
              <a:rPr lang="en" sz="1500">
                <a:solidFill>
                  <a:schemeClr val="dk1"/>
                </a:solidFill>
              </a:rPr>
              <a:t> is the tool used to manage files and folders.</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Open </a:t>
            </a:r>
            <a:r>
              <a:rPr b="1" lang="en" sz="1500">
                <a:solidFill>
                  <a:schemeClr val="dk1"/>
                </a:solidFill>
              </a:rPr>
              <a:t>File Explorer</a:t>
            </a:r>
            <a:r>
              <a:rPr lang="en" sz="1500">
                <a:solidFill>
                  <a:schemeClr val="dk1"/>
                </a:solidFill>
              </a:rPr>
              <a:t> by pressing </a:t>
            </a:r>
            <a:r>
              <a:rPr b="1" lang="en" sz="1500">
                <a:solidFill>
                  <a:schemeClr val="dk1"/>
                </a:solidFill>
              </a:rPr>
              <a:t>Windows + E</a:t>
            </a:r>
            <a:r>
              <a:rPr lang="en" sz="1500">
                <a:solidFill>
                  <a:schemeClr val="dk1"/>
                </a:solidFill>
              </a:rPr>
              <a:t> on your keyboard, or click the </a:t>
            </a:r>
            <a:r>
              <a:rPr b="1" lang="en" sz="1500">
                <a:solidFill>
                  <a:schemeClr val="dk1"/>
                </a:solidFill>
              </a:rPr>
              <a:t>File Explorer</a:t>
            </a:r>
            <a:r>
              <a:rPr lang="en" sz="1500">
                <a:solidFill>
                  <a:schemeClr val="dk1"/>
                </a:solidFill>
              </a:rPr>
              <a:t> icon in the taskbar.</a:t>
            </a:r>
            <a:endParaRPr sz="1500">
              <a:solidFill>
                <a:schemeClr val="dk1"/>
              </a:solidFill>
            </a:endParaRPr>
          </a:p>
          <a:p>
            <a:pPr indent="-323850" lvl="1" marL="914400" rtl="0" algn="l">
              <a:spcBef>
                <a:spcPts val="0"/>
              </a:spcBef>
              <a:spcAft>
                <a:spcPts val="0"/>
              </a:spcAft>
              <a:buClr>
                <a:schemeClr val="dk1"/>
              </a:buClr>
              <a:buSzPts val="1500"/>
              <a:buAutoNum type="alphaLcParenR"/>
            </a:pPr>
            <a:r>
              <a:rPr b="1" lang="en" sz="1500">
                <a:solidFill>
                  <a:schemeClr val="dk1"/>
                </a:solidFill>
              </a:rPr>
              <a:t>Quick Access</a:t>
            </a:r>
            <a:r>
              <a:rPr lang="en" sz="1500">
                <a:solidFill>
                  <a:schemeClr val="dk1"/>
                </a:solidFill>
              </a:rPr>
              <a:t> shows recent files and frequently accessed folders.</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You can also open a specific folder by clicking </a:t>
            </a:r>
            <a:r>
              <a:rPr b="1" lang="en" sz="1500">
                <a:solidFill>
                  <a:schemeClr val="dk1"/>
                </a:solidFill>
              </a:rPr>
              <a:t>This PC</a:t>
            </a:r>
            <a:r>
              <a:rPr lang="en" sz="1500">
                <a:solidFill>
                  <a:schemeClr val="dk1"/>
                </a:solidFill>
              </a:rPr>
              <a:t> or </a:t>
            </a:r>
            <a:r>
              <a:rPr b="1" lang="en" sz="1500">
                <a:solidFill>
                  <a:schemeClr val="dk1"/>
                </a:solidFill>
              </a:rPr>
              <a:t>Documents</a:t>
            </a:r>
            <a:r>
              <a:rPr lang="en" sz="1500">
                <a:solidFill>
                  <a:schemeClr val="dk1"/>
                </a:solidFill>
              </a:rPr>
              <a:t> in the left sidebar.</a:t>
            </a:r>
            <a:endParaRPr sz="1500">
              <a:solidFill>
                <a:schemeClr val="dk1"/>
              </a:solidFill>
            </a:endParaRPr>
          </a:p>
          <a:p>
            <a:pPr indent="0" lvl="0" marL="0" rtl="0" algn="l">
              <a:spcBef>
                <a:spcPts val="1200"/>
              </a:spcBef>
              <a:spcAft>
                <a:spcPts val="1200"/>
              </a:spcAft>
              <a:buNone/>
            </a:pPr>
            <a:r>
              <a:t/>
            </a:r>
            <a:endParaRPr sz="1500"/>
          </a:p>
        </p:txBody>
      </p:sp>
      <p:pic>
        <p:nvPicPr>
          <p:cNvPr id="138" name="Google Shape;138;p26" title="download (99).jpg"/>
          <p:cNvPicPr preferRelativeResize="0"/>
          <p:nvPr/>
        </p:nvPicPr>
        <p:blipFill>
          <a:blip r:embed="rId3">
            <a:alphaModFix/>
          </a:blip>
          <a:stretch>
            <a:fillRect/>
          </a:stretch>
        </p:blipFill>
        <p:spPr>
          <a:xfrm>
            <a:off x="2989575" y="3195125"/>
            <a:ext cx="3210600" cy="1867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
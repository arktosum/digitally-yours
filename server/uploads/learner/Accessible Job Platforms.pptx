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400f319f4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400f319f4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400f319f4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400f319f4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400f319f4e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400f319f4e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400f319f4e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400f319f4e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400f319f4e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400f319f4e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400f319f4e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400f319f4e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400f319f4e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400f319f4e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400f319f4e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400f319f4e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400f319f4e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400f319f4e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ACCESSIBLE JOB PLATFORMS </a:t>
            </a:r>
            <a:endParaRPr/>
          </a:p>
        </p:txBody>
      </p:sp>
      <p:pic>
        <p:nvPicPr>
          <p:cNvPr id="55" name="Google Shape;55;p13" title="images (51).jpg"/>
          <p:cNvPicPr preferRelativeResize="0"/>
          <p:nvPr/>
        </p:nvPicPr>
        <p:blipFill>
          <a:blip r:embed="rId3">
            <a:alphaModFix/>
          </a:blip>
          <a:stretch>
            <a:fillRect/>
          </a:stretch>
        </p:blipFill>
        <p:spPr>
          <a:xfrm>
            <a:off x="2551330" y="2916675"/>
            <a:ext cx="4249935" cy="2052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LINKEDIN</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sz="1800">
                <a:solidFill>
                  <a:schemeClr val="dk1"/>
                </a:solidFill>
              </a:rPr>
              <a:t> LinkedIn is a globally recognized professional networking platform that has become widely used in India for job searching and professional networking. It offers a variety of tools for job seekers, including those with disabilities.</a:t>
            </a:r>
            <a:endParaRPr sz="1800">
              <a:solidFill>
                <a:schemeClr val="dk1"/>
              </a:solidFill>
            </a:endParaRPr>
          </a:p>
          <a:p>
            <a:pPr indent="0" lvl="0" marL="0" rtl="0" algn="l">
              <a:spcBef>
                <a:spcPts val="1200"/>
              </a:spcBef>
              <a:spcAft>
                <a:spcPts val="1200"/>
              </a:spcAft>
              <a:buNone/>
            </a:pPr>
            <a:r>
              <a:t/>
            </a:r>
            <a:endParaRPr/>
          </a:p>
        </p:txBody>
      </p:sp>
      <p:pic>
        <p:nvPicPr>
          <p:cNvPr id="62" name="Google Shape;62;p14" title="download (76).png"/>
          <p:cNvPicPr preferRelativeResize="0"/>
          <p:nvPr/>
        </p:nvPicPr>
        <p:blipFill>
          <a:blip r:embed="rId3">
            <a:alphaModFix/>
          </a:blip>
          <a:stretch>
            <a:fillRect/>
          </a:stretch>
        </p:blipFill>
        <p:spPr>
          <a:xfrm>
            <a:off x="3142725" y="2441477"/>
            <a:ext cx="3189800" cy="1988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FEATURES</a:t>
            </a:r>
            <a:endParaRPr/>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sz="1500">
                <a:solidFill>
                  <a:schemeClr val="dk1"/>
                </a:solidFill>
              </a:rPr>
              <a:t>Accessibility Options</a:t>
            </a:r>
            <a:r>
              <a:rPr lang="en" sz="1500">
                <a:solidFill>
                  <a:schemeClr val="dk1"/>
                </a:solidFill>
              </a:rPr>
              <a:t>: LinkedIn is designed to work with screen readers, which helps visually impaired users to navigate their profiles and job listings. LinkedIn also supports keyboard navigation, allowing users to browse without a mouse.</a:t>
            </a:r>
            <a:endParaRPr sz="1500">
              <a:solidFill>
                <a:schemeClr val="dk1"/>
              </a:solidFill>
            </a:endParaRPr>
          </a:p>
          <a:p>
            <a:pPr indent="0" lvl="0" marL="0" rtl="0" algn="l">
              <a:spcBef>
                <a:spcPts val="1200"/>
              </a:spcBef>
              <a:spcAft>
                <a:spcPts val="0"/>
              </a:spcAft>
              <a:buNone/>
            </a:pPr>
            <a:r>
              <a:t/>
            </a:r>
            <a:endParaRPr sz="1500">
              <a:solidFill>
                <a:schemeClr val="dk1"/>
              </a:solidFill>
            </a:endParaRPr>
          </a:p>
          <a:p>
            <a:pPr indent="0" lvl="0" marL="0" rtl="0" algn="l">
              <a:spcBef>
                <a:spcPts val="1200"/>
              </a:spcBef>
              <a:spcAft>
                <a:spcPts val="0"/>
              </a:spcAft>
              <a:buNone/>
            </a:pPr>
            <a:r>
              <a:rPr b="1" lang="en" sz="1500">
                <a:solidFill>
                  <a:schemeClr val="dk1"/>
                </a:solidFill>
              </a:rPr>
              <a:t>Profile Customization</a:t>
            </a:r>
            <a:r>
              <a:rPr lang="en" sz="1500">
                <a:solidFill>
                  <a:schemeClr val="dk1"/>
                </a:solidFill>
              </a:rPr>
              <a:t>: Users can highlight their skills and experience and include accessibility requirements in their profiles, making it easier for inclusive employers to understand the needs of applicants.</a:t>
            </a:r>
            <a:endParaRPr sz="1500">
              <a:solidFill>
                <a:schemeClr val="dk1"/>
              </a:solidFill>
            </a:endParaRPr>
          </a:p>
          <a:p>
            <a:pPr indent="0" lvl="0" marL="0" rtl="0" algn="l">
              <a:spcBef>
                <a:spcPts val="1200"/>
              </a:spcBef>
              <a:spcAft>
                <a:spcPts val="1200"/>
              </a:spcAft>
              <a:buNone/>
            </a:pPr>
            <a:r>
              <a:t/>
            </a:r>
            <a:endParaRPr sz="1500"/>
          </a:p>
        </p:txBody>
      </p:sp>
      <p:pic>
        <p:nvPicPr>
          <p:cNvPr id="69" name="Google Shape;69;p15"/>
          <p:cNvPicPr preferRelativeResize="0"/>
          <p:nvPr/>
        </p:nvPicPr>
        <p:blipFill rotWithShape="1">
          <a:blip r:embed="rId3">
            <a:alphaModFix/>
          </a:blip>
          <a:srcRect b="20514" l="6354" r="5392" t="15057"/>
          <a:stretch/>
        </p:blipFill>
        <p:spPr>
          <a:xfrm>
            <a:off x="2751975" y="3356375"/>
            <a:ext cx="4609800" cy="17871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idx="1" type="body"/>
          </p:nvPr>
        </p:nvSpPr>
        <p:spPr>
          <a:xfrm>
            <a:off x="311700" y="62622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sz="1500">
                <a:solidFill>
                  <a:schemeClr val="dk1"/>
                </a:solidFill>
              </a:rPr>
              <a:t>Job Alerts</a:t>
            </a:r>
            <a:r>
              <a:rPr lang="en" sz="1500">
                <a:solidFill>
                  <a:schemeClr val="dk1"/>
                </a:solidFill>
              </a:rPr>
              <a:t>: PWD users can set up job alerts based on specific job criteria and preferences, which can include filters for companies that actively promote inclusive hiring practices.</a:t>
            </a:r>
            <a:endParaRPr sz="1500">
              <a:solidFill>
                <a:schemeClr val="dk1"/>
              </a:solidFill>
            </a:endParaRPr>
          </a:p>
          <a:p>
            <a:pPr indent="0" lvl="0" marL="0" rtl="0" algn="l">
              <a:spcBef>
                <a:spcPts val="1200"/>
              </a:spcBef>
              <a:spcAft>
                <a:spcPts val="0"/>
              </a:spcAft>
              <a:buNone/>
            </a:pPr>
            <a:r>
              <a:t/>
            </a:r>
            <a:endParaRPr sz="1500">
              <a:solidFill>
                <a:schemeClr val="dk1"/>
              </a:solidFill>
            </a:endParaRPr>
          </a:p>
          <a:p>
            <a:pPr indent="0" lvl="0" marL="0" rtl="0" algn="l">
              <a:spcBef>
                <a:spcPts val="1200"/>
              </a:spcBef>
              <a:spcAft>
                <a:spcPts val="0"/>
              </a:spcAft>
              <a:buNone/>
            </a:pPr>
            <a:r>
              <a:rPr b="1" lang="en" sz="1500">
                <a:solidFill>
                  <a:schemeClr val="dk1"/>
                </a:solidFill>
              </a:rPr>
              <a:t>Networking Opportunities</a:t>
            </a:r>
            <a:r>
              <a:rPr lang="en" sz="1500">
                <a:solidFill>
                  <a:schemeClr val="dk1"/>
                </a:solidFill>
              </a:rPr>
              <a:t>: LinkedIn helps PWD connect with professionals, organizations, and groups that promote disability inclusion in the workforce.</a:t>
            </a:r>
            <a:endParaRPr sz="1500">
              <a:solidFill>
                <a:schemeClr val="dk1"/>
              </a:solidFill>
            </a:endParaRPr>
          </a:p>
          <a:p>
            <a:pPr indent="0" lvl="0" marL="0" rtl="0" algn="l">
              <a:spcBef>
                <a:spcPts val="1200"/>
              </a:spcBef>
              <a:spcAft>
                <a:spcPts val="1200"/>
              </a:spcAft>
              <a:buNone/>
            </a:pPr>
            <a:r>
              <a:t/>
            </a:r>
            <a:endParaRPr sz="1500"/>
          </a:p>
        </p:txBody>
      </p:sp>
      <p:pic>
        <p:nvPicPr>
          <p:cNvPr id="75" name="Google Shape;75;p16" title="1628894471748.png"/>
          <p:cNvPicPr preferRelativeResize="0"/>
          <p:nvPr/>
        </p:nvPicPr>
        <p:blipFill>
          <a:blip r:embed="rId3">
            <a:alphaModFix/>
          </a:blip>
          <a:stretch>
            <a:fillRect/>
          </a:stretch>
        </p:blipFill>
        <p:spPr>
          <a:xfrm>
            <a:off x="1893100" y="2571751"/>
            <a:ext cx="5468498" cy="25046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YOUTH4JOBS (SWARAJABILITY)</a:t>
            </a:r>
            <a:endParaRPr/>
          </a:p>
        </p:txBody>
      </p:sp>
      <p:sp>
        <p:nvSpPr>
          <p:cNvPr id="81" name="Google Shape;81;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sz="1800">
                <a:solidFill>
                  <a:schemeClr val="dk1"/>
                </a:solidFill>
              </a:rPr>
              <a:t> Youth4Jobs is an Indian social enterprise that helps young people with disabilities find employment, develop skills, and become job-ready. Their platform, </a:t>
            </a:r>
            <a:r>
              <a:rPr b="1" lang="en" sz="1800">
                <a:solidFill>
                  <a:schemeClr val="dk1"/>
                </a:solidFill>
              </a:rPr>
              <a:t>Swarajability</a:t>
            </a:r>
            <a:r>
              <a:rPr lang="en" sz="1800">
                <a:solidFill>
                  <a:schemeClr val="dk1"/>
                </a:solidFill>
              </a:rPr>
              <a:t>, is specifically designed to assist PWD in finding employment.</a:t>
            </a:r>
            <a:endParaRPr sz="1800">
              <a:solidFill>
                <a:schemeClr val="dk1"/>
              </a:solidFill>
            </a:endParaRPr>
          </a:p>
          <a:p>
            <a:pPr indent="0" lvl="0" marL="0" rtl="0" algn="l">
              <a:spcBef>
                <a:spcPts val="1200"/>
              </a:spcBef>
              <a:spcAft>
                <a:spcPts val="1200"/>
              </a:spcAft>
              <a:buNone/>
            </a:pPr>
            <a:r>
              <a:t/>
            </a:r>
            <a:endParaRPr/>
          </a:p>
        </p:txBody>
      </p:sp>
      <p:pic>
        <p:nvPicPr>
          <p:cNvPr id="82" name="Google Shape;82;p17" title="download - 2025-04-03T132248.438.jpg"/>
          <p:cNvPicPr preferRelativeResize="0"/>
          <p:nvPr/>
        </p:nvPicPr>
        <p:blipFill>
          <a:blip r:embed="rId3">
            <a:alphaModFix/>
          </a:blip>
          <a:stretch>
            <a:fillRect/>
          </a:stretch>
        </p:blipFill>
        <p:spPr>
          <a:xfrm>
            <a:off x="3379838" y="2519838"/>
            <a:ext cx="2143125" cy="21431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FEATURES</a:t>
            </a:r>
            <a:endParaRPr/>
          </a:p>
        </p:txBody>
      </p:sp>
      <p:sp>
        <p:nvSpPr>
          <p:cNvPr id="88" name="Google Shape;88;p18"/>
          <p:cNvSpPr txBox="1"/>
          <p:nvPr>
            <p:ph idx="1" type="body"/>
          </p:nvPr>
        </p:nvSpPr>
        <p:spPr>
          <a:xfrm>
            <a:off x="311700" y="13607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sz="1500">
                <a:solidFill>
                  <a:schemeClr val="dk1"/>
                </a:solidFill>
              </a:rPr>
              <a:t>Skill Development</a:t>
            </a:r>
            <a:r>
              <a:rPr lang="en" sz="1500">
                <a:solidFill>
                  <a:schemeClr val="dk1"/>
                </a:solidFill>
              </a:rPr>
              <a:t>: Swarajability offers free online courses and training in various domains, such as IT, customer service, soft skills, and more, specifically for individuals with disabilities. This training helps make PWD job-ready and enhances their chances of finding employment.</a:t>
            </a:r>
            <a:endParaRPr sz="1500">
              <a:solidFill>
                <a:schemeClr val="dk1"/>
              </a:solidFill>
            </a:endParaRPr>
          </a:p>
          <a:p>
            <a:pPr indent="0" lvl="0" marL="0" rtl="0" algn="l">
              <a:spcBef>
                <a:spcPts val="1200"/>
              </a:spcBef>
              <a:spcAft>
                <a:spcPts val="0"/>
              </a:spcAft>
              <a:buNone/>
            </a:pPr>
            <a:r>
              <a:t/>
            </a:r>
            <a:endParaRPr sz="1500">
              <a:solidFill>
                <a:schemeClr val="dk1"/>
              </a:solidFill>
            </a:endParaRPr>
          </a:p>
          <a:p>
            <a:pPr indent="0" lvl="0" marL="0" rtl="0" algn="l">
              <a:spcBef>
                <a:spcPts val="1200"/>
              </a:spcBef>
              <a:spcAft>
                <a:spcPts val="1200"/>
              </a:spcAft>
              <a:buNone/>
            </a:pPr>
            <a:r>
              <a:t/>
            </a:r>
            <a:endParaRPr sz="1500"/>
          </a:p>
        </p:txBody>
      </p:sp>
      <p:pic>
        <p:nvPicPr>
          <p:cNvPr id="89" name="Google Shape;89;p18" title="Skill.jpg"/>
          <p:cNvPicPr preferRelativeResize="0"/>
          <p:nvPr/>
        </p:nvPicPr>
        <p:blipFill>
          <a:blip r:embed="rId3">
            <a:alphaModFix/>
          </a:blip>
          <a:stretch>
            <a:fillRect/>
          </a:stretch>
        </p:blipFill>
        <p:spPr>
          <a:xfrm>
            <a:off x="2730025" y="2380550"/>
            <a:ext cx="3683942" cy="27629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idx="1" type="body"/>
          </p:nvPr>
        </p:nvSpPr>
        <p:spPr>
          <a:xfrm>
            <a:off x="256875" y="461750"/>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sz="1500">
                <a:solidFill>
                  <a:schemeClr val="dk1"/>
                </a:solidFill>
              </a:rPr>
              <a:t>Employer Collaboration</a:t>
            </a:r>
            <a:r>
              <a:rPr lang="en" sz="1500">
                <a:solidFill>
                  <a:schemeClr val="dk1"/>
                </a:solidFill>
              </a:rPr>
              <a:t>: </a:t>
            </a:r>
            <a:r>
              <a:rPr lang="en" sz="1500">
                <a:solidFill>
                  <a:schemeClr val="dk1"/>
                </a:solidFill>
              </a:rPr>
              <a:t>Swaraj Ability</a:t>
            </a:r>
            <a:r>
              <a:rPr lang="en" sz="1500">
                <a:solidFill>
                  <a:schemeClr val="dk1"/>
                </a:solidFill>
              </a:rPr>
              <a:t> partners with companies across India that are committed to disability-inclusive hiring, thus increasing opportunities for PWD.</a:t>
            </a:r>
            <a:endParaRPr sz="1500">
              <a:solidFill>
                <a:schemeClr val="dk1"/>
              </a:solidFill>
            </a:endParaRPr>
          </a:p>
          <a:p>
            <a:pPr indent="0" lvl="0" marL="0" rtl="0" algn="l">
              <a:spcBef>
                <a:spcPts val="1200"/>
              </a:spcBef>
              <a:spcAft>
                <a:spcPts val="0"/>
              </a:spcAft>
              <a:buNone/>
            </a:pPr>
            <a:r>
              <a:t/>
            </a:r>
            <a:endParaRPr sz="1500">
              <a:solidFill>
                <a:schemeClr val="dk1"/>
              </a:solidFill>
            </a:endParaRPr>
          </a:p>
          <a:p>
            <a:pPr indent="0" lvl="0" marL="0" rtl="0" algn="l">
              <a:spcBef>
                <a:spcPts val="1200"/>
              </a:spcBef>
              <a:spcAft>
                <a:spcPts val="0"/>
              </a:spcAft>
              <a:buNone/>
            </a:pPr>
            <a:r>
              <a:rPr b="1" lang="en" sz="1500">
                <a:solidFill>
                  <a:schemeClr val="dk1"/>
                </a:solidFill>
              </a:rPr>
              <a:t>Support Services</a:t>
            </a:r>
            <a:r>
              <a:rPr lang="en" sz="1500">
                <a:solidFill>
                  <a:schemeClr val="dk1"/>
                </a:solidFill>
              </a:rPr>
              <a:t>: Youth4Jobs offers career counseling, resume building</a:t>
            </a:r>
            <a:r>
              <a:rPr lang="en" sz="1500">
                <a:solidFill>
                  <a:schemeClr val="dk1"/>
                </a:solidFill>
              </a:rPr>
              <a:t>, </a:t>
            </a:r>
            <a:r>
              <a:rPr lang="en" sz="1500">
                <a:solidFill>
                  <a:schemeClr val="dk1"/>
                </a:solidFill>
              </a:rPr>
              <a:t>interview preparation, and other support to help PWD navigate the hiring process.</a:t>
            </a:r>
            <a:endParaRPr sz="1500">
              <a:solidFill>
                <a:schemeClr val="dk1"/>
              </a:solidFill>
            </a:endParaRPr>
          </a:p>
          <a:p>
            <a:pPr indent="0" lvl="0" marL="0" rtl="0" algn="l">
              <a:spcBef>
                <a:spcPts val="1200"/>
              </a:spcBef>
              <a:spcAft>
                <a:spcPts val="0"/>
              </a:spcAft>
              <a:buNone/>
            </a:pPr>
            <a:r>
              <a:t/>
            </a:r>
            <a:endParaRPr sz="1500">
              <a:solidFill>
                <a:schemeClr val="dk1"/>
              </a:solidFill>
            </a:endParaRPr>
          </a:p>
          <a:p>
            <a:pPr indent="0" lvl="0" marL="0" rtl="0" algn="l">
              <a:spcBef>
                <a:spcPts val="1200"/>
              </a:spcBef>
              <a:spcAft>
                <a:spcPts val="0"/>
              </a:spcAft>
              <a:buClr>
                <a:schemeClr val="dk1"/>
              </a:buClr>
              <a:buSzPts val="1100"/>
              <a:buFont typeface="Arial"/>
              <a:buNone/>
            </a:pPr>
            <a:r>
              <a:rPr b="1" lang="en" sz="1500">
                <a:solidFill>
                  <a:schemeClr val="dk1"/>
                </a:solidFill>
              </a:rPr>
              <a:t>Job Matching</a:t>
            </a:r>
            <a:r>
              <a:rPr lang="en" sz="1500">
                <a:solidFill>
                  <a:schemeClr val="dk1"/>
                </a:solidFill>
              </a:rPr>
              <a:t>: The platform connects PWD with inclusive employers in India, matching their skills and interests with available job opportunities.</a:t>
            </a:r>
            <a:endParaRPr sz="1500">
              <a:solidFill>
                <a:schemeClr val="dk1"/>
              </a:solidFill>
            </a:endParaRPr>
          </a:p>
          <a:p>
            <a:pPr indent="0" lvl="0" marL="0" rtl="0" algn="l">
              <a:spcBef>
                <a:spcPts val="1200"/>
              </a:spcBef>
              <a:spcAft>
                <a:spcPts val="1200"/>
              </a:spcAft>
              <a:buNone/>
            </a:pPr>
            <a:r>
              <a:t/>
            </a:r>
            <a:endParaRPr sz="1500"/>
          </a:p>
        </p:txBody>
      </p:sp>
      <p:pic>
        <p:nvPicPr>
          <p:cNvPr id="95" name="Google Shape;95;p19" title="community-college-employers-collaboration-gap-1200x800-1.jpg"/>
          <p:cNvPicPr preferRelativeResize="0"/>
          <p:nvPr/>
        </p:nvPicPr>
        <p:blipFill>
          <a:blip r:embed="rId3">
            <a:alphaModFix/>
          </a:blip>
          <a:stretch>
            <a:fillRect/>
          </a:stretch>
        </p:blipFill>
        <p:spPr>
          <a:xfrm>
            <a:off x="4486000" y="3200350"/>
            <a:ext cx="2914725" cy="19431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1200"/>
              </a:spcBef>
              <a:spcAft>
                <a:spcPts val="1200"/>
              </a:spcAft>
              <a:buNone/>
            </a:pPr>
            <a:r>
              <a:rPr b="1" lang="en" sz="2500"/>
              <a:t>Divyangjan Rozgar Setu (PM DAKSH)</a:t>
            </a:r>
            <a:endParaRPr sz="2500"/>
          </a:p>
        </p:txBody>
      </p:sp>
      <p:sp>
        <p:nvSpPr>
          <p:cNvPr id="101" name="Google Shape;101;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457200" rtl="0" algn="l">
              <a:spcBef>
                <a:spcPts val="1200"/>
              </a:spcBef>
              <a:spcAft>
                <a:spcPts val="1200"/>
              </a:spcAft>
              <a:buNone/>
            </a:pPr>
            <a:r>
              <a:rPr lang="en" sz="1500">
                <a:solidFill>
                  <a:schemeClr val="dk1"/>
                </a:solidFill>
              </a:rPr>
              <a:t>The Divyangjan Rozgar Setu is a digital platform developed by the Department of Empowerment of Persons with Disabilities, Ministry of Social Justice and Empowerment. It aggregates job opportunities across India for PwDs, providing </a:t>
            </a:r>
            <a:r>
              <a:rPr lang="en" sz="1500">
                <a:solidFill>
                  <a:schemeClr val="dk1"/>
                </a:solidFill>
              </a:rPr>
              <a:t>geotagged</a:t>
            </a:r>
            <a:r>
              <a:rPr lang="en" sz="1500">
                <a:solidFill>
                  <a:schemeClr val="dk1"/>
                </a:solidFill>
              </a:rPr>
              <a:t> information on employment and earning opportunities within private companies. The platform aims to bridge the employment gap for PwDs by connecting them with suitable job openings.</a:t>
            </a:r>
            <a:br>
              <a:rPr lang="en" sz="1500">
                <a:solidFill>
                  <a:schemeClr val="dk1"/>
                </a:solidFill>
              </a:rPr>
            </a:br>
            <a:endParaRPr sz="1500"/>
          </a:p>
        </p:txBody>
      </p:sp>
      <p:pic>
        <p:nvPicPr>
          <p:cNvPr id="102" name="Google Shape;102;p20" title="2-810x540.jpg"/>
          <p:cNvPicPr preferRelativeResize="0"/>
          <p:nvPr/>
        </p:nvPicPr>
        <p:blipFill rotWithShape="1">
          <a:blip r:embed="rId3">
            <a:alphaModFix/>
          </a:blip>
          <a:srcRect b="22408" l="0" r="0" t="0"/>
          <a:stretch/>
        </p:blipFill>
        <p:spPr>
          <a:xfrm>
            <a:off x="2282250" y="2653325"/>
            <a:ext cx="4814047" cy="24901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1200"/>
              </a:spcBef>
              <a:spcAft>
                <a:spcPts val="1200"/>
              </a:spcAft>
              <a:buNone/>
            </a:pPr>
            <a:r>
              <a:rPr b="1" lang="en" sz="2500"/>
              <a:t>Telangana PwD Employment Exchange</a:t>
            </a:r>
            <a:endParaRPr sz="2500"/>
          </a:p>
        </p:txBody>
      </p:sp>
      <p:sp>
        <p:nvSpPr>
          <p:cNvPr id="108" name="Google Shape;108;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a:solidFill>
                  <a:schemeClr val="dk1"/>
                </a:solidFill>
              </a:rPr>
              <a:t> Established in 2022, the Telangana PwD Employment Exchange focuses on programs for physically handicapped candidates in the state. It provides job listings, training programs, and other resources to enhance employment opportunities for PwDs in Telangana.</a:t>
            </a:r>
            <a:br>
              <a:rPr lang="en">
                <a:solidFill>
                  <a:schemeClr val="dk1"/>
                </a:solidFill>
              </a:rPr>
            </a:br>
            <a:endParaRPr>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pic>
        <p:nvPicPr>
          <p:cNvPr id="113" name="Google Shape;113;p22" title="landing_image_1.jpeg"/>
          <p:cNvPicPr preferRelativeResize="0"/>
          <p:nvPr/>
        </p:nvPicPr>
        <p:blipFill>
          <a:blip r:embed="rId3">
            <a:alphaModFix/>
          </a:blip>
          <a:stretch>
            <a:fillRect/>
          </a:stretch>
        </p:blipFill>
        <p:spPr>
          <a:xfrm>
            <a:off x="28100" y="299800"/>
            <a:ext cx="9087800" cy="45439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
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00da0910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00da0910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00da0910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00da0910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00da0910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00da0910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400da0910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400da0910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400da0910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400da0910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00da0910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00da0910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400da0910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400da0910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400da0910e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400da0910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00da0910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00da0910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00da0910e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00da0910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00da0910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400da0910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00da0910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00da0910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microsoft.com/en-us/microsoft-365/microsoft-copilo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421333" y="18540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AI IN EXCEL</a:t>
            </a:r>
            <a:endParaRPr/>
          </a:p>
        </p:txBody>
      </p:sp>
      <p:pic>
        <p:nvPicPr>
          <p:cNvPr id="55" name="Google Shape;55;p13" title="download - 2025-04-03T114740.883.jpg"/>
          <p:cNvPicPr preferRelativeResize="0"/>
          <p:nvPr/>
        </p:nvPicPr>
        <p:blipFill>
          <a:blip r:embed="rId3">
            <a:alphaModFix/>
          </a:blip>
          <a:stretch>
            <a:fillRect/>
          </a:stretch>
        </p:blipFill>
        <p:spPr>
          <a:xfrm>
            <a:off x="2725137" y="2571750"/>
            <a:ext cx="3912975" cy="2268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6700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rgbClr val="17253D"/>
                </a:solidFill>
              </a:rPr>
              <a:t>AI in Excel uses Microsoft 365 Copilot to help you work smarter by speeding up certain spreadsheet tasks, like adding columns and formulas, formatting tables, and coming up with insights about your data.</a:t>
            </a:r>
            <a:endParaRPr>
              <a:solidFill>
                <a:srgbClr val="17253D"/>
              </a:solidFill>
            </a:endParaRPr>
          </a:p>
          <a:p>
            <a:pPr indent="0" lvl="0" marL="0" rtl="0" algn="l">
              <a:spcBef>
                <a:spcPts val="0"/>
              </a:spcBef>
              <a:spcAft>
                <a:spcPts val="1200"/>
              </a:spcAft>
              <a:buNone/>
            </a:pPr>
            <a:r>
              <a:t/>
            </a:r>
            <a:endParaRPr/>
          </a:p>
        </p:txBody>
      </p:sp>
      <p:pic>
        <p:nvPicPr>
          <p:cNvPr id="61" name="Google Shape;61;p14" title="download - 2025-04-03T114913.563.jpg"/>
          <p:cNvPicPr preferRelativeResize="0"/>
          <p:nvPr/>
        </p:nvPicPr>
        <p:blipFill>
          <a:blip r:embed="rId3">
            <a:alphaModFix/>
          </a:blip>
          <a:stretch>
            <a:fillRect/>
          </a:stretch>
        </p:blipFill>
        <p:spPr>
          <a:xfrm>
            <a:off x="2190930" y="2272130"/>
            <a:ext cx="4224600" cy="2014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USE?</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To get started with Copilot in Excel, follow these steps:</a:t>
            </a:r>
            <a:endParaRPr sz="1500">
              <a:solidFill>
                <a:schemeClr val="dk1"/>
              </a:solidFill>
            </a:endParaRPr>
          </a:p>
          <a:p>
            <a:pPr indent="0" lvl="0" marL="0" rtl="0" algn="l">
              <a:spcBef>
                <a:spcPts val="0"/>
              </a:spcBef>
              <a:spcAft>
                <a:spcPts val="0"/>
              </a:spcAft>
              <a:buClr>
                <a:schemeClr val="dk1"/>
              </a:buClr>
              <a:buSzPts val="1100"/>
              <a:buFont typeface="Arial"/>
              <a:buNone/>
            </a:pPr>
            <a:r>
              <a:rPr lang="en" sz="1500">
                <a:solidFill>
                  <a:schemeClr val="dk1"/>
                </a:solidFill>
              </a:rPr>
              <a:t>  </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Open an existing Excel spreadsheet stored on OneDrive or SharePoint.</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From the Home tab, select the Copilot icon to open the chat pane. If you don’t see the icon, you’ll first need to sign up for </a:t>
            </a:r>
            <a:r>
              <a:rPr lang="en" sz="1500" u="sng">
                <a:solidFill>
                  <a:schemeClr val="dk1"/>
                </a:solidFill>
                <a:hlinkClick r:id="rId3">
                  <a:extLst>
                    <a:ext uri="{A12FA001-AC4F-418D-AE19-62706E023703}">
                      <ahyp:hlinkClr val="tx"/>
                    </a:ext>
                  </a:extLst>
                </a:hlinkClick>
              </a:rPr>
              <a:t>Microsoft 365 Copilot</a:t>
            </a:r>
            <a:r>
              <a:rPr lang="en"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Choose one of the prompt suggestions or type your own.</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If you’re feeling stuck about what to ask, select the View Prompts icon from the chat box to explore some of what you can do with Copilot in Excel.</a:t>
            </a:r>
            <a:endParaRPr sz="1500">
              <a:solidFill>
                <a:schemeClr val="dk1"/>
              </a:solidFill>
            </a:endParaRPr>
          </a:p>
          <a:p>
            <a:pPr indent="0" lvl="0" marL="0" rtl="0" algn="l">
              <a:spcBef>
                <a:spcPts val="1200"/>
              </a:spcBef>
              <a:spcAft>
                <a:spcPts val="1200"/>
              </a:spcAft>
              <a:buNone/>
            </a:pPr>
            <a:r>
              <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 OF AI IN EXCEL</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Data Cleaning:</a:t>
            </a:r>
            <a:endParaRPr b="1">
              <a:solidFill>
                <a:schemeClr val="dk1"/>
              </a:solidFill>
            </a:endParaRPr>
          </a:p>
          <a:p>
            <a:pPr indent="0" lvl="0" marL="0" rtl="0" algn="l">
              <a:spcBef>
                <a:spcPts val="1200"/>
              </a:spcBef>
              <a:spcAft>
                <a:spcPts val="1200"/>
              </a:spcAft>
              <a:buNone/>
            </a:pPr>
            <a:r>
              <a:rPr lang="en">
                <a:solidFill>
                  <a:schemeClr val="dk1"/>
                </a:solidFill>
              </a:rPr>
              <a:t>Excel AI can help clean up messy data quickly. Big datasets often have mistakes, duplicates, or inconsistent formats. You can ask Copilot in Excel to find and fix these issues, making your data accurate and easier to work with.</a:t>
            </a:r>
            <a:endParaRPr/>
          </a:p>
        </p:txBody>
      </p:sp>
      <p:pic>
        <p:nvPicPr>
          <p:cNvPr id="74" name="Google Shape;74;p16" title="download (73).png"/>
          <p:cNvPicPr preferRelativeResize="0"/>
          <p:nvPr/>
        </p:nvPicPr>
        <p:blipFill>
          <a:blip r:embed="rId3">
            <a:alphaModFix/>
          </a:blip>
          <a:stretch>
            <a:fillRect/>
          </a:stretch>
        </p:blipFill>
        <p:spPr>
          <a:xfrm>
            <a:off x="2992175" y="2981975"/>
            <a:ext cx="3473400" cy="1809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6481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Trend Identification:</a:t>
            </a:r>
            <a:endParaRPr b="1">
              <a:solidFill>
                <a:schemeClr val="dk1"/>
              </a:solidFill>
            </a:endParaRPr>
          </a:p>
          <a:p>
            <a:pPr indent="0" lvl="0" marL="0" rtl="0" algn="l">
              <a:spcBef>
                <a:spcPts val="1200"/>
              </a:spcBef>
              <a:spcAft>
                <a:spcPts val="1200"/>
              </a:spcAft>
              <a:buNone/>
            </a:pPr>
            <a:r>
              <a:rPr lang="en">
                <a:solidFill>
                  <a:schemeClr val="dk1"/>
                </a:solidFill>
              </a:rPr>
              <a:t>Finding patterns in lots of data can be tough. Excel AI makes this easier by spotting trends and highlighting important details. You can even ask Copilot to create charts or graphs to show the data more clearly.</a:t>
            </a:r>
            <a:endParaRPr/>
          </a:p>
        </p:txBody>
      </p:sp>
      <p:pic>
        <p:nvPicPr>
          <p:cNvPr id="80" name="Google Shape;80;p17" title="download - 2025-04-03T120800.500.jpg"/>
          <p:cNvPicPr preferRelativeResize="0"/>
          <p:nvPr/>
        </p:nvPicPr>
        <p:blipFill>
          <a:blip r:embed="rId3">
            <a:alphaModFix/>
          </a:blip>
          <a:stretch>
            <a:fillRect/>
          </a:stretch>
        </p:blipFill>
        <p:spPr>
          <a:xfrm>
            <a:off x="2619650" y="2484025"/>
            <a:ext cx="3904700" cy="2186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idx="1" type="body"/>
          </p:nvPr>
        </p:nvSpPr>
        <p:spPr>
          <a:xfrm>
            <a:off x="311700" y="6700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Complex Formulas:</a:t>
            </a:r>
            <a:endParaRPr b="1">
              <a:solidFill>
                <a:schemeClr val="dk1"/>
              </a:solidFill>
            </a:endParaRPr>
          </a:p>
          <a:p>
            <a:pPr indent="0" lvl="0" marL="0" rtl="0" algn="l">
              <a:spcBef>
                <a:spcPts val="1200"/>
              </a:spcBef>
              <a:spcAft>
                <a:spcPts val="1200"/>
              </a:spcAft>
              <a:buNone/>
            </a:pPr>
            <a:r>
              <a:rPr lang="en">
                <a:solidFill>
                  <a:schemeClr val="dk1"/>
                </a:solidFill>
              </a:rPr>
              <a:t>Some Excel formulas are complicated and can take a lot of time to get right. Excel AI can suggest the correct formulas based on your data, helping you save time and avoid mistakes. It can even guide you through tricky calculations.</a:t>
            </a:r>
            <a:endParaRPr/>
          </a:p>
        </p:txBody>
      </p:sp>
      <p:pic>
        <p:nvPicPr>
          <p:cNvPr id="86" name="Google Shape;86;p18" title="download - 2025-04-03T120912.819.jpg"/>
          <p:cNvPicPr preferRelativeResize="0"/>
          <p:nvPr/>
        </p:nvPicPr>
        <p:blipFill>
          <a:blip r:embed="rId3">
            <a:alphaModFix/>
          </a:blip>
          <a:stretch>
            <a:fillRect/>
          </a:stretch>
        </p:blipFill>
        <p:spPr>
          <a:xfrm>
            <a:off x="3500451" y="2571751"/>
            <a:ext cx="2365300" cy="2365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idx="1" type="body"/>
          </p:nvPr>
        </p:nvSpPr>
        <p:spPr>
          <a:xfrm>
            <a:off x="311700" y="6591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Smart Suggestions:</a:t>
            </a:r>
            <a:endParaRPr b="1">
              <a:solidFill>
                <a:schemeClr val="dk1"/>
              </a:solidFill>
            </a:endParaRPr>
          </a:p>
          <a:p>
            <a:pPr indent="0" lvl="0" marL="0" rtl="0" algn="l">
              <a:spcBef>
                <a:spcPts val="1200"/>
              </a:spcBef>
              <a:spcAft>
                <a:spcPts val="1200"/>
              </a:spcAft>
              <a:buNone/>
            </a:pPr>
            <a:r>
              <a:rPr lang="en">
                <a:solidFill>
                  <a:schemeClr val="dk1"/>
                </a:solidFill>
              </a:rPr>
              <a:t>As you work, Copilot gives helpful tips based on what you’re doing. For example, if you’re sorting data, it might suggest faster ways to do it or shortcuts to improve your workflow.</a:t>
            </a:r>
            <a:endParaRPr/>
          </a:p>
        </p:txBody>
      </p:sp>
      <p:pic>
        <p:nvPicPr>
          <p:cNvPr id="92" name="Google Shape;92;p19" title="download (74).png"/>
          <p:cNvPicPr preferRelativeResize="0"/>
          <p:nvPr/>
        </p:nvPicPr>
        <p:blipFill>
          <a:blip r:embed="rId3">
            <a:alphaModFix/>
          </a:blip>
          <a:stretch>
            <a:fillRect/>
          </a:stretch>
        </p:blipFill>
        <p:spPr>
          <a:xfrm>
            <a:off x="3292113" y="2319563"/>
            <a:ext cx="2143125" cy="2143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idx="1" type="body"/>
          </p:nvPr>
        </p:nvSpPr>
        <p:spPr>
          <a:xfrm>
            <a:off x="311700" y="6042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Automated Reports:</a:t>
            </a:r>
            <a:endParaRPr b="1">
              <a:solidFill>
                <a:schemeClr val="dk1"/>
              </a:solidFill>
            </a:endParaRPr>
          </a:p>
          <a:p>
            <a:pPr indent="0" lvl="0" marL="0" rtl="0" algn="l">
              <a:spcBef>
                <a:spcPts val="1200"/>
              </a:spcBef>
              <a:spcAft>
                <a:spcPts val="1200"/>
              </a:spcAft>
              <a:buNone/>
            </a:pPr>
            <a:r>
              <a:rPr lang="en">
                <a:solidFill>
                  <a:schemeClr val="dk1"/>
                </a:solidFill>
              </a:rPr>
              <a:t>Excel AI can automatically create detailed reports by understanding your data. It can add summaries, charts, and key insights—all formatted professionally. This makes it easy to prepare presentations or share findings without doing everything manually.</a:t>
            </a:r>
            <a:endParaRPr/>
          </a:p>
        </p:txBody>
      </p:sp>
      <p:pic>
        <p:nvPicPr>
          <p:cNvPr id="98" name="Google Shape;98;p20" title="download - 2025-04-03T121340.900.jpg"/>
          <p:cNvPicPr preferRelativeResize="0"/>
          <p:nvPr/>
        </p:nvPicPr>
        <p:blipFill>
          <a:blip r:embed="rId3">
            <a:alphaModFix/>
          </a:blip>
          <a:stretch>
            <a:fillRect/>
          </a:stretch>
        </p:blipFill>
        <p:spPr>
          <a:xfrm>
            <a:off x="2787981" y="2341500"/>
            <a:ext cx="3747012" cy="2571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BENEFITS</a:t>
            </a:r>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17253D"/>
                </a:solidFill>
              </a:rPr>
              <a:t>Increased efficiency</a:t>
            </a:r>
            <a:endParaRPr b="1">
              <a:solidFill>
                <a:srgbClr val="17253D"/>
              </a:solidFill>
            </a:endParaRPr>
          </a:p>
          <a:p>
            <a:pPr indent="0" lvl="0" marL="0" rtl="0" algn="l">
              <a:spcBef>
                <a:spcPts val="0"/>
              </a:spcBef>
              <a:spcAft>
                <a:spcPts val="0"/>
              </a:spcAft>
              <a:buNone/>
            </a:pPr>
            <a:r>
              <a:t/>
            </a:r>
            <a:endParaRPr b="1">
              <a:solidFill>
                <a:srgbClr val="17253D"/>
              </a:solidFill>
            </a:endParaRPr>
          </a:p>
          <a:p>
            <a:pPr indent="0" lvl="0" marL="0" rtl="0" algn="l">
              <a:spcBef>
                <a:spcPts val="0"/>
              </a:spcBef>
              <a:spcAft>
                <a:spcPts val="0"/>
              </a:spcAft>
              <a:buNone/>
            </a:pPr>
            <a:r>
              <a:rPr lang="en">
                <a:solidFill>
                  <a:srgbClr val="17253D"/>
                </a:solidFill>
              </a:rPr>
              <a:t>Automate tasks that would otherwise be time-consuming to increase how efficiently you work. For example, AI in Excel can automatically clean up data, suggest formulas, and generate reports. This makes work easier because you’ll complete tasks faster and be able to focus on more important details.</a:t>
            </a:r>
            <a:endParaRPr>
              <a:solidFill>
                <a:srgbClr val="17253D"/>
              </a:solidFill>
            </a:endParaRPr>
          </a:p>
          <a:p>
            <a:pPr indent="0" lvl="0" marL="1371600" rtl="0" algn="l">
              <a:spcBef>
                <a:spcPts val="0"/>
              </a:spcBef>
              <a:spcAft>
                <a:spcPts val="0"/>
              </a:spcAft>
              <a:buClr>
                <a:schemeClr val="dk1"/>
              </a:buClr>
              <a:buSzPts val="1100"/>
              <a:buFont typeface="Arial"/>
              <a:buNone/>
            </a:pPr>
            <a:r>
              <a:t/>
            </a:r>
            <a:endParaRPr/>
          </a:p>
        </p:txBody>
      </p:sp>
      <p:pic>
        <p:nvPicPr>
          <p:cNvPr id="105" name="Google Shape;105;p21" title="download (75).png"/>
          <p:cNvPicPr preferRelativeResize="0"/>
          <p:nvPr/>
        </p:nvPicPr>
        <p:blipFill>
          <a:blip r:embed="rId3">
            <a:alphaModFix/>
          </a:blip>
          <a:stretch>
            <a:fillRect/>
          </a:stretch>
        </p:blipFill>
        <p:spPr>
          <a:xfrm>
            <a:off x="2696787" y="3292700"/>
            <a:ext cx="3553075" cy="1850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idx="1" type="body"/>
          </p:nvPr>
        </p:nvSpPr>
        <p:spPr>
          <a:xfrm>
            <a:off x="311700" y="6042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17253D"/>
                </a:solidFill>
              </a:rPr>
              <a:t>Improved accuracy</a:t>
            </a:r>
            <a:endParaRPr b="1">
              <a:solidFill>
                <a:srgbClr val="17253D"/>
              </a:solidFill>
            </a:endParaRPr>
          </a:p>
          <a:p>
            <a:pPr indent="0" lvl="0" marL="1371600" rtl="0" algn="l">
              <a:spcBef>
                <a:spcPts val="0"/>
              </a:spcBef>
              <a:spcAft>
                <a:spcPts val="0"/>
              </a:spcAft>
              <a:buClr>
                <a:schemeClr val="dk1"/>
              </a:buClr>
              <a:buSzPts val="1100"/>
              <a:buFont typeface="Arial"/>
              <a:buNone/>
            </a:pPr>
            <a:r>
              <a:t/>
            </a:r>
            <a:endParaRPr b="1">
              <a:solidFill>
                <a:srgbClr val="17253D"/>
              </a:solidFill>
            </a:endParaRPr>
          </a:p>
          <a:p>
            <a:pPr indent="0" lvl="0" marL="0" rtl="0" algn="l">
              <a:lnSpc>
                <a:spcPct val="100000"/>
              </a:lnSpc>
              <a:spcBef>
                <a:spcPts val="0"/>
              </a:spcBef>
              <a:spcAft>
                <a:spcPts val="0"/>
              </a:spcAft>
              <a:buClr>
                <a:schemeClr val="dk1"/>
              </a:buClr>
              <a:buSzPts val="1100"/>
              <a:buFont typeface="Arial"/>
              <a:buNone/>
            </a:pPr>
            <a:r>
              <a:rPr lang="en">
                <a:solidFill>
                  <a:srgbClr val="17253D"/>
                </a:solidFill>
              </a:rPr>
              <a:t>It’s not unusual for people to accidentally introduce errors in data analysis and management, which can then lead to incorrect conclusions and decisions. Help reduce these errors by having Copilot in Excel suggest formulas and perform complex calculations.</a:t>
            </a:r>
            <a:endParaRPr>
              <a:solidFill>
                <a:srgbClr val="17253D"/>
              </a:solidFill>
            </a:endParaRPr>
          </a:p>
          <a:p>
            <a:pPr indent="0" lvl="0" marL="0" rtl="0" algn="l">
              <a:spcBef>
                <a:spcPts val="0"/>
              </a:spcBef>
              <a:spcAft>
                <a:spcPts val="1200"/>
              </a:spcAft>
              <a:buNone/>
            </a:pPr>
            <a:r>
              <a:t/>
            </a:r>
            <a:endParaRPr/>
          </a:p>
        </p:txBody>
      </p:sp>
      <p:pic>
        <p:nvPicPr>
          <p:cNvPr id="111" name="Google Shape;111;p22" title="download - 2025-04-03T121549.819.jpg"/>
          <p:cNvPicPr preferRelativeResize="0"/>
          <p:nvPr/>
        </p:nvPicPr>
        <p:blipFill>
          <a:blip r:embed="rId3">
            <a:alphaModFix/>
          </a:blip>
          <a:stretch>
            <a:fillRect/>
          </a:stretch>
        </p:blipFill>
        <p:spPr>
          <a:xfrm>
            <a:off x="2372000" y="2874725"/>
            <a:ext cx="3835350" cy="2004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idx="1" type="body"/>
          </p:nvPr>
        </p:nvSpPr>
        <p:spPr>
          <a:xfrm>
            <a:off x="311700" y="5494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17253D"/>
                </a:solidFill>
              </a:rPr>
              <a:t>Stronger decision-making</a:t>
            </a:r>
            <a:endParaRPr b="1">
              <a:solidFill>
                <a:srgbClr val="17253D"/>
              </a:solidFill>
            </a:endParaRPr>
          </a:p>
          <a:p>
            <a:pPr indent="0" lvl="0" marL="1371600" rtl="0" algn="l">
              <a:spcBef>
                <a:spcPts val="0"/>
              </a:spcBef>
              <a:spcAft>
                <a:spcPts val="0"/>
              </a:spcAft>
              <a:buClr>
                <a:schemeClr val="dk1"/>
              </a:buClr>
              <a:buSzPts val="1100"/>
              <a:buFont typeface="Arial"/>
              <a:buNone/>
            </a:pPr>
            <a:r>
              <a:t/>
            </a:r>
            <a:endParaRPr b="1">
              <a:solidFill>
                <a:srgbClr val="17253D"/>
              </a:solidFill>
            </a:endParaRPr>
          </a:p>
          <a:p>
            <a:pPr indent="0" lvl="0" marL="0" rtl="0" algn="l">
              <a:spcBef>
                <a:spcPts val="0"/>
              </a:spcBef>
              <a:spcAft>
                <a:spcPts val="0"/>
              </a:spcAft>
              <a:buClr>
                <a:schemeClr val="dk1"/>
              </a:buClr>
              <a:buSzPts val="1100"/>
              <a:buFont typeface="Arial"/>
              <a:buNone/>
            </a:pPr>
            <a:r>
              <a:rPr lang="en">
                <a:solidFill>
                  <a:srgbClr val="17253D"/>
                </a:solidFill>
              </a:rPr>
              <a:t>Good decisions rely on good data. Enhance your decision-making by asking Copilot for insights based on your data. AI in Excel can identify patterns, trends, and key information that might not be immediately obvious.</a:t>
            </a:r>
            <a:endParaRPr>
              <a:solidFill>
                <a:srgbClr val="17253D"/>
              </a:solidFill>
            </a:endParaRPr>
          </a:p>
          <a:p>
            <a:pPr indent="0" lvl="0" marL="0" rtl="0" algn="l">
              <a:spcBef>
                <a:spcPts val="0"/>
              </a:spcBef>
              <a:spcAft>
                <a:spcPts val="1200"/>
              </a:spcAft>
              <a:buNone/>
            </a:pPr>
            <a:r>
              <a:t/>
            </a:r>
            <a:endParaRPr/>
          </a:p>
        </p:txBody>
      </p:sp>
      <p:pic>
        <p:nvPicPr>
          <p:cNvPr id="117" name="Google Shape;117;p23"/>
          <p:cNvPicPr preferRelativeResize="0"/>
          <p:nvPr/>
        </p:nvPicPr>
        <p:blipFill>
          <a:blip r:embed="rId3">
            <a:alphaModFix/>
          </a:blip>
          <a:stretch>
            <a:fillRect/>
          </a:stretch>
        </p:blipFill>
        <p:spPr>
          <a:xfrm>
            <a:off x="3015125" y="2382650"/>
            <a:ext cx="3620851" cy="2715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idx="1" type="body"/>
          </p:nvPr>
        </p:nvSpPr>
        <p:spPr>
          <a:xfrm>
            <a:off x="311700" y="5933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17253D"/>
                </a:solidFill>
              </a:rPr>
              <a:t>Scalability</a:t>
            </a:r>
            <a:endParaRPr b="1">
              <a:solidFill>
                <a:srgbClr val="17253D"/>
              </a:solidFill>
            </a:endParaRPr>
          </a:p>
          <a:p>
            <a:pPr indent="0" lvl="0" marL="1371600" rtl="0" algn="l">
              <a:spcBef>
                <a:spcPts val="0"/>
              </a:spcBef>
              <a:spcAft>
                <a:spcPts val="0"/>
              </a:spcAft>
              <a:buClr>
                <a:schemeClr val="dk1"/>
              </a:buClr>
              <a:buSzPts val="1100"/>
              <a:buFont typeface="Arial"/>
              <a:buNone/>
            </a:pPr>
            <a:r>
              <a:t/>
            </a:r>
            <a:endParaRPr b="1">
              <a:solidFill>
                <a:srgbClr val="17253D"/>
              </a:solidFill>
            </a:endParaRPr>
          </a:p>
          <a:p>
            <a:pPr indent="0" lvl="0" marL="0" rtl="0" algn="l">
              <a:spcBef>
                <a:spcPts val="0"/>
              </a:spcBef>
              <a:spcAft>
                <a:spcPts val="0"/>
              </a:spcAft>
              <a:buClr>
                <a:schemeClr val="dk1"/>
              </a:buClr>
              <a:buSzPts val="1100"/>
              <a:buFont typeface="Arial"/>
              <a:buNone/>
            </a:pPr>
            <a:r>
              <a:rPr lang="en">
                <a:solidFill>
                  <a:srgbClr val="17253D"/>
                </a:solidFill>
              </a:rPr>
              <a:t>Handling large datasets can be overwhelming and challenging, but Copilot in Excel makes it simpler to scale your work by processing large amounts of data quickly. This scalability means that no matter how large or complex your data is—like thousands of rows or multiple complex sheets—you can manage it more easily.</a:t>
            </a:r>
            <a:endParaRPr>
              <a:solidFill>
                <a:srgbClr val="17253D"/>
              </a:solidFill>
            </a:endParaRPr>
          </a:p>
          <a:p>
            <a:pPr indent="0" lvl="0" marL="0" rtl="0" algn="l">
              <a:spcBef>
                <a:spcPts val="0"/>
              </a:spcBef>
              <a:spcAft>
                <a:spcPts val="1200"/>
              </a:spcAft>
              <a:buNone/>
            </a:pPr>
            <a:r>
              <a:t/>
            </a:r>
            <a:endParaRPr/>
          </a:p>
        </p:txBody>
      </p:sp>
      <p:pic>
        <p:nvPicPr>
          <p:cNvPr id="123" name="Google Shape;123;p24" title="download - 2025-04-03T121743.243.jpg"/>
          <p:cNvPicPr preferRelativeResize="0"/>
          <p:nvPr/>
        </p:nvPicPr>
        <p:blipFill>
          <a:blip r:embed="rId3">
            <a:alphaModFix/>
          </a:blip>
          <a:stretch>
            <a:fillRect/>
          </a:stretch>
        </p:blipFill>
        <p:spPr>
          <a:xfrm>
            <a:off x="3119775" y="2993977"/>
            <a:ext cx="3048931" cy="2028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idx="1" type="body"/>
          </p:nvPr>
        </p:nvSpPr>
        <p:spPr>
          <a:xfrm>
            <a:off x="311700" y="6481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17253D"/>
                </a:solidFill>
              </a:rPr>
              <a:t>User friendly</a:t>
            </a:r>
            <a:endParaRPr b="1">
              <a:solidFill>
                <a:srgbClr val="17253D"/>
              </a:solidFill>
            </a:endParaRPr>
          </a:p>
          <a:p>
            <a:pPr indent="0" lvl="0" marL="1371600" rtl="0" algn="l">
              <a:spcBef>
                <a:spcPts val="0"/>
              </a:spcBef>
              <a:spcAft>
                <a:spcPts val="0"/>
              </a:spcAft>
              <a:buClr>
                <a:schemeClr val="dk1"/>
              </a:buClr>
              <a:buSzPts val="1100"/>
              <a:buFont typeface="Arial"/>
              <a:buNone/>
            </a:pPr>
            <a:r>
              <a:t/>
            </a:r>
            <a:endParaRPr b="1">
              <a:solidFill>
                <a:srgbClr val="17253D"/>
              </a:solidFill>
            </a:endParaRPr>
          </a:p>
          <a:p>
            <a:pPr indent="0" lvl="0" marL="0" rtl="0" algn="l">
              <a:spcBef>
                <a:spcPts val="0"/>
              </a:spcBef>
              <a:spcAft>
                <a:spcPts val="0"/>
              </a:spcAft>
              <a:buClr>
                <a:schemeClr val="dk1"/>
              </a:buClr>
              <a:buSzPts val="1100"/>
              <a:buFont typeface="Arial"/>
              <a:buNone/>
            </a:pPr>
            <a:r>
              <a:rPr lang="en">
                <a:solidFill>
                  <a:srgbClr val="17253D"/>
                </a:solidFill>
              </a:rPr>
              <a:t>Even if you’re not an Excel expert, the user-friendly design of Copilot in Excel makes it straightforward to use. Get help with tasks and receive suggestions and explanations about different functions by just explaining what you need or choosing an existing sample prompt.</a:t>
            </a:r>
            <a:endParaRPr>
              <a:solidFill>
                <a:srgbClr val="17253D"/>
              </a:solidFill>
            </a:endParaRPr>
          </a:p>
          <a:p>
            <a:pPr indent="0" lvl="0" marL="0" rtl="0" algn="l">
              <a:spcBef>
                <a:spcPts val="0"/>
              </a:spcBef>
              <a:spcAft>
                <a:spcPts val="1200"/>
              </a:spcAft>
              <a:buNone/>
            </a:pPr>
            <a:r>
              <a:t/>
            </a:r>
            <a:endParaRPr/>
          </a:p>
        </p:txBody>
      </p:sp>
      <p:pic>
        <p:nvPicPr>
          <p:cNvPr id="129" name="Google Shape;129;p25" title="download - 2025-04-03T121836.555.jpg"/>
          <p:cNvPicPr preferRelativeResize="0"/>
          <p:nvPr/>
        </p:nvPicPr>
        <p:blipFill>
          <a:blip r:embed="rId3">
            <a:alphaModFix/>
          </a:blip>
          <a:stretch>
            <a:fillRect/>
          </a:stretch>
        </p:blipFill>
        <p:spPr>
          <a:xfrm>
            <a:off x="3092625" y="2818550"/>
            <a:ext cx="3322525" cy="2202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
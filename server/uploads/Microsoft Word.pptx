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349d2a1d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349d2a1d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349d2a1d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349d2a1d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349d2a1d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349d2a1d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349d2a1d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349d2a1d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349d2a1d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349d2a1d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349d2a1d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349d2a1d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349d2a1d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349d2a1d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349d2a1d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349d2a1d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349d2a1d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349d2a1d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349d2a1d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349d2a1d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 WORD</a:t>
            </a:r>
            <a:endParaRPr/>
          </a:p>
        </p:txBody>
      </p:sp>
      <p:pic>
        <p:nvPicPr>
          <p:cNvPr id="55" name="Google Shape;55;p13" title="download (6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775" y="2741200"/>
            <a:ext cx="2192052" cy="20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648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Word processors allow you to create, edit, and format text documents. Here’s how to use a basic word processing application: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HOW TO OPEN?</a:t>
            </a:r>
            <a:endParaRPr sz="1500"/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For </a:t>
            </a:r>
            <a:r>
              <a:rPr b="1" lang="en" sz="1500">
                <a:solidFill>
                  <a:schemeClr val="dk1"/>
                </a:solidFill>
              </a:rPr>
              <a:t>Microsoft Word</a:t>
            </a:r>
            <a:r>
              <a:rPr lang="en" sz="1500">
                <a:solidFill>
                  <a:schemeClr val="dk1"/>
                </a:solidFill>
              </a:rPr>
              <a:t>, click the Word icon on your desktop or Start menu (Windows) or Applications folder (Mac).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1" name="Google Shape;61;p14" title="download (6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800" y="2499800"/>
            <a:ext cx="3626050" cy="254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FUNCTIONS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07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❖"/>
            </a:pPr>
            <a:r>
              <a:rPr b="1" lang="en" sz="1900">
                <a:solidFill>
                  <a:schemeClr val="dk1"/>
                </a:solidFill>
              </a:rPr>
              <a:t>Typing Text:</a:t>
            </a:r>
            <a:endParaRPr b="1" sz="19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Click into the blank document and begin typing using the keyboard.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If typing is difficult, use </a:t>
            </a:r>
            <a:r>
              <a:rPr b="1" lang="en" sz="1500">
                <a:solidFill>
                  <a:schemeClr val="dk1"/>
                </a:solidFill>
              </a:rPr>
              <a:t>speech-to-text</a:t>
            </a:r>
            <a:r>
              <a:rPr lang="en" sz="1500">
                <a:solidFill>
                  <a:schemeClr val="dk1"/>
                </a:solidFill>
              </a:rPr>
              <a:t> tools: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Windows</a:t>
            </a:r>
            <a:r>
              <a:rPr lang="en" sz="1500">
                <a:solidFill>
                  <a:schemeClr val="dk1"/>
                </a:solidFill>
              </a:rPr>
              <a:t>: Use </a:t>
            </a:r>
            <a:r>
              <a:rPr b="1" lang="en" sz="1500">
                <a:solidFill>
                  <a:schemeClr val="dk1"/>
                </a:solidFill>
              </a:rPr>
              <a:t>Windows Speech Recognition</a:t>
            </a:r>
            <a:r>
              <a:rPr lang="en" sz="1500">
                <a:solidFill>
                  <a:schemeClr val="dk1"/>
                </a:solidFill>
              </a:rPr>
              <a:t> to dictate text.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Mac</a:t>
            </a:r>
            <a:r>
              <a:rPr lang="en" sz="1500">
                <a:solidFill>
                  <a:schemeClr val="dk1"/>
                </a:solidFill>
              </a:rPr>
              <a:t>: Use </a:t>
            </a:r>
            <a:r>
              <a:rPr b="1" lang="en" sz="1500">
                <a:solidFill>
                  <a:schemeClr val="dk1"/>
                </a:solidFill>
              </a:rPr>
              <a:t>Voice Dictation</a:t>
            </a:r>
            <a:r>
              <a:rPr lang="en" sz="1500">
                <a:solidFill>
                  <a:schemeClr val="dk1"/>
                </a:solidFill>
              </a:rPr>
              <a:t> by pressing the </a:t>
            </a:r>
            <a:r>
              <a:rPr b="1" lang="en" sz="1500">
                <a:solidFill>
                  <a:schemeClr val="dk1"/>
                </a:solidFill>
              </a:rPr>
              <a:t>Function (fn)</a:t>
            </a:r>
            <a:r>
              <a:rPr lang="en" sz="1500">
                <a:solidFill>
                  <a:schemeClr val="dk1"/>
                </a:solidFill>
              </a:rPr>
              <a:t> key twice to start dictation.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download (64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1525" y="3278250"/>
            <a:ext cx="3151975" cy="179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505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❖"/>
            </a:pPr>
            <a:r>
              <a:rPr b="1" lang="en" sz="1900">
                <a:solidFill>
                  <a:schemeClr val="dk1"/>
                </a:solidFill>
              </a:rPr>
              <a:t>Formatting Text: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Highlight the text you want to format, and then: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b="1" lang="en" sz="1500">
                <a:solidFill>
                  <a:schemeClr val="dk1"/>
                </a:solidFill>
              </a:rPr>
              <a:t>Bold</a:t>
            </a:r>
            <a:r>
              <a:rPr lang="en" sz="1500">
                <a:solidFill>
                  <a:schemeClr val="dk1"/>
                </a:solidFill>
              </a:rPr>
              <a:t> (Ctrl + B or Command + B)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b="1" lang="en" sz="1500">
                <a:solidFill>
                  <a:schemeClr val="dk1"/>
                </a:solidFill>
              </a:rPr>
              <a:t>Italic</a:t>
            </a:r>
            <a:r>
              <a:rPr lang="en" sz="1500">
                <a:solidFill>
                  <a:schemeClr val="dk1"/>
                </a:solidFill>
              </a:rPr>
              <a:t> (Ctrl + I or Command + I)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b="1" lang="en" sz="1500">
                <a:solidFill>
                  <a:schemeClr val="dk1"/>
                </a:solidFill>
              </a:rPr>
              <a:t>Underline</a:t>
            </a:r>
            <a:r>
              <a:rPr lang="en" sz="1500">
                <a:solidFill>
                  <a:schemeClr val="dk1"/>
                </a:solidFill>
              </a:rPr>
              <a:t> (Ctrl + U or Command + U)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Change Font Size and Style</a:t>
            </a:r>
            <a:r>
              <a:rPr lang="en" sz="1500">
                <a:solidFill>
                  <a:schemeClr val="dk1"/>
                </a:solidFill>
              </a:rPr>
              <a:t>: Use the toolbar at the top to adjust the font style, size, and color.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4" name="Google Shape;74;p16" title="download (2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1475" y="3504250"/>
            <a:ext cx="3992000" cy="130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❖"/>
            </a:pPr>
            <a:r>
              <a:rPr b="1" lang="en" sz="1900">
                <a:solidFill>
                  <a:schemeClr val="dk1"/>
                </a:solidFill>
              </a:rPr>
              <a:t>Saving Your Document:</a:t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Microsoft Word</a:t>
            </a:r>
            <a:r>
              <a:rPr lang="en" sz="1500">
                <a:solidFill>
                  <a:schemeClr val="dk1"/>
                </a:solidFill>
              </a:rPr>
              <a:t>: Click </a:t>
            </a:r>
            <a:r>
              <a:rPr b="1" lang="en" sz="1500">
                <a:solidFill>
                  <a:schemeClr val="dk1"/>
                </a:solidFill>
              </a:rPr>
              <a:t>File &gt; Save As</a:t>
            </a:r>
            <a:r>
              <a:rPr lang="en" sz="1500">
                <a:solidFill>
                  <a:schemeClr val="dk1"/>
                </a:solidFill>
              </a:rPr>
              <a:t> and choose a location on your computer.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0" name="Google Shape;80;p17" title="download (2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4302" y="2691175"/>
            <a:ext cx="3333000" cy="182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571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❖"/>
            </a:pPr>
            <a:r>
              <a:rPr b="1" lang="en" sz="1900">
                <a:solidFill>
                  <a:schemeClr val="dk1"/>
                </a:solidFill>
              </a:rPr>
              <a:t>Inserting Images/Links</a:t>
            </a:r>
            <a:r>
              <a:rPr lang="en" sz="1900">
                <a:solidFill>
                  <a:schemeClr val="dk1"/>
                </a:solidFill>
              </a:rPr>
              <a:t>: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Insert an Image</a:t>
            </a:r>
            <a:r>
              <a:rPr lang="en" sz="1500">
                <a:solidFill>
                  <a:schemeClr val="dk1"/>
                </a:solidFill>
              </a:rPr>
              <a:t>: Click on the </a:t>
            </a:r>
            <a:r>
              <a:rPr b="1" lang="en" sz="1500">
                <a:solidFill>
                  <a:schemeClr val="dk1"/>
                </a:solidFill>
              </a:rPr>
              <a:t>Insert</a:t>
            </a:r>
            <a:r>
              <a:rPr lang="en" sz="1500">
                <a:solidFill>
                  <a:schemeClr val="dk1"/>
                </a:solidFill>
              </a:rPr>
              <a:t> tab, then </a:t>
            </a:r>
            <a:r>
              <a:rPr b="1" lang="en" sz="1500">
                <a:solidFill>
                  <a:schemeClr val="dk1"/>
                </a:solidFill>
              </a:rPr>
              <a:t>Pictures</a:t>
            </a:r>
            <a:r>
              <a:rPr lang="en" sz="1500">
                <a:solidFill>
                  <a:schemeClr val="dk1"/>
                </a:solidFill>
              </a:rPr>
              <a:t> (for Word) or </a:t>
            </a:r>
            <a:r>
              <a:rPr b="1" lang="en" sz="1500">
                <a:solidFill>
                  <a:schemeClr val="dk1"/>
                </a:solidFill>
              </a:rPr>
              <a:t>Image</a:t>
            </a:r>
            <a:r>
              <a:rPr lang="en" sz="1500">
                <a:solidFill>
                  <a:schemeClr val="dk1"/>
                </a:solidFill>
              </a:rPr>
              <a:t> (for Google Docs) to add images from your computer or the web.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Insert a Link</a:t>
            </a:r>
            <a:r>
              <a:rPr lang="en" sz="1500">
                <a:solidFill>
                  <a:schemeClr val="dk1"/>
                </a:solidFill>
              </a:rPr>
              <a:t>: Highlight the text you want to link, click the </a:t>
            </a:r>
            <a:r>
              <a:rPr b="1" lang="en" sz="1500">
                <a:solidFill>
                  <a:schemeClr val="dk1"/>
                </a:solidFill>
              </a:rPr>
              <a:t>Insert Link</a:t>
            </a:r>
            <a:r>
              <a:rPr lang="en" sz="1500">
                <a:solidFill>
                  <a:schemeClr val="dk1"/>
                </a:solidFill>
              </a:rPr>
              <a:t> button (chain icon), and enter the URL.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6" name="Google Shape;86;p18" title="download (2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788" y="2928775"/>
            <a:ext cx="4292425" cy="209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483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Paragraph Formatting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Text Alignment</a:t>
            </a:r>
            <a:r>
              <a:rPr lang="en" sz="1500">
                <a:solidFill>
                  <a:schemeClr val="dk1"/>
                </a:solidFill>
              </a:rPr>
              <a:t>: You can align the text in different ways: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Left</a:t>
            </a:r>
            <a:r>
              <a:rPr b="1" lang="en" sz="1500">
                <a:solidFill>
                  <a:schemeClr val="dk1"/>
                </a:solidFill>
              </a:rPr>
              <a:t>-aligned</a:t>
            </a:r>
            <a:r>
              <a:rPr lang="en" sz="1500">
                <a:solidFill>
                  <a:schemeClr val="dk1"/>
                </a:solidFill>
              </a:rPr>
              <a:t>: Aligns text to the left margin.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Center-aligned</a:t>
            </a:r>
            <a:r>
              <a:rPr lang="en" sz="1500">
                <a:solidFill>
                  <a:schemeClr val="dk1"/>
                </a:solidFill>
              </a:rPr>
              <a:t>: Centers text in the middle of the page.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Right-aligned</a:t>
            </a:r>
            <a:r>
              <a:rPr lang="en" sz="1500">
                <a:solidFill>
                  <a:schemeClr val="dk1"/>
                </a:solidFill>
              </a:rPr>
              <a:t>: Aligns text to the right margin.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Justify</a:t>
            </a:r>
            <a:r>
              <a:rPr lang="en" sz="1500">
                <a:solidFill>
                  <a:schemeClr val="dk1"/>
                </a:solidFill>
              </a:rPr>
              <a:t>: Aligns the text to both the left and right margins, creating a clean, uniform edge on both sides.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2" name="Google Shape;92;p19" title="download (65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9475" y="3490125"/>
            <a:ext cx="293370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13025" y="335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 ELEMENTS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Tables</a:t>
            </a:r>
            <a:r>
              <a:rPr lang="en" sz="1500">
                <a:solidFill>
                  <a:schemeClr val="dk1"/>
                </a:solidFill>
              </a:rPr>
              <a:t>: Word lets you add </a:t>
            </a:r>
            <a:r>
              <a:rPr b="1" lang="en" sz="1500">
                <a:solidFill>
                  <a:schemeClr val="dk1"/>
                </a:solidFill>
              </a:rPr>
              <a:t>tables</a:t>
            </a:r>
            <a:r>
              <a:rPr lang="en" sz="1500">
                <a:solidFill>
                  <a:schemeClr val="dk1"/>
                </a:solidFill>
              </a:rPr>
              <a:t> to organize information in rows and columns. You can insert a table of any size and format it to fit your needs.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Shapes and Icons</a:t>
            </a:r>
            <a:r>
              <a:rPr lang="en" sz="1500">
                <a:solidFill>
                  <a:schemeClr val="dk1"/>
                </a:solidFill>
              </a:rPr>
              <a:t>: You can insert </a:t>
            </a:r>
            <a:r>
              <a:rPr b="1" lang="en" sz="1500">
                <a:solidFill>
                  <a:schemeClr val="dk1"/>
                </a:solidFill>
              </a:rPr>
              <a:t>shapes</a:t>
            </a:r>
            <a:r>
              <a:rPr lang="en" sz="1500">
                <a:solidFill>
                  <a:schemeClr val="dk1"/>
                </a:solidFill>
              </a:rPr>
              <a:t> (e.g., rectangles, circles, arrows) and </a:t>
            </a:r>
            <a:r>
              <a:rPr b="1" lang="en" sz="1500">
                <a:solidFill>
                  <a:schemeClr val="dk1"/>
                </a:solidFill>
              </a:rPr>
              <a:t>icons</a:t>
            </a:r>
            <a:r>
              <a:rPr lang="en" sz="1500">
                <a:solidFill>
                  <a:schemeClr val="dk1"/>
                </a:solidFill>
              </a:rPr>
              <a:t> to help illustrate points or make the document more interactive.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Links</a:t>
            </a:r>
            <a:r>
              <a:rPr lang="en" sz="1500">
                <a:solidFill>
                  <a:schemeClr val="dk1"/>
                </a:solidFill>
              </a:rPr>
              <a:t>: You can insert </a:t>
            </a:r>
            <a:r>
              <a:rPr b="1" lang="en" sz="1500">
                <a:solidFill>
                  <a:schemeClr val="dk1"/>
                </a:solidFill>
              </a:rPr>
              <a:t>hyperlinks</a:t>
            </a:r>
            <a:r>
              <a:rPr lang="en" sz="1500">
                <a:solidFill>
                  <a:schemeClr val="dk1"/>
                </a:solidFill>
              </a:rPr>
              <a:t> that link to websites, other documents, or even specific places within the current document.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Text Boxes</a:t>
            </a:r>
            <a:r>
              <a:rPr lang="en" sz="1500">
                <a:solidFill>
                  <a:schemeClr val="dk1"/>
                </a:solidFill>
              </a:rPr>
              <a:t>: Use </a:t>
            </a:r>
            <a:r>
              <a:rPr b="1" lang="en" sz="1500">
                <a:solidFill>
                  <a:schemeClr val="dk1"/>
                </a:solidFill>
              </a:rPr>
              <a:t>text boxes</a:t>
            </a:r>
            <a:r>
              <a:rPr lang="en" sz="1500">
                <a:solidFill>
                  <a:schemeClr val="dk1"/>
                </a:solidFill>
              </a:rPr>
              <a:t> to place text in a specific area of the page. This can be useful for adding side notes or drawing attention to certain parts of the page.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9" name="Google Shape;99;p20" title="download (2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8624" y="3845100"/>
            <a:ext cx="3170875" cy="123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Layout and Design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1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Margins</a:t>
            </a:r>
            <a:r>
              <a:rPr lang="en" sz="1500">
                <a:solidFill>
                  <a:schemeClr val="dk1"/>
                </a:solidFill>
              </a:rPr>
              <a:t>: </a:t>
            </a:r>
            <a:r>
              <a:rPr b="1" lang="en" sz="1500">
                <a:solidFill>
                  <a:schemeClr val="dk1"/>
                </a:solidFill>
              </a:rPr>
              <a:t>Margins</a:t>
            </a:r>
            <a:r>
              <a:rPr lang="en" sz="1500">
                <a:solidFill>
                  <a:schemeClr val="dk1"/>
                </a:solidFill>
              </a:rPr>
              <a:t> are the spaces around the edges of your document. You can adjust them to create a larger or smaller gap between your text and the edge of the page.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Orientation</a:t>
            </a:r>
            <a:r>
              <a:rPr lang="en" sz="1500">
                <a:solidFill>
                  <a:schemeClr val="dk1"/>
                </a:solidFill>
              </a:rPr>
              <a:t>: You can choose between </a:t>
            </a:r>
            <a:r>
              <a:rPr b="1" lang="en" sz="1500">
                <a:solidFill>
                  <a:schemeClr val="dk1"/>
                </a:solidFill>
              </a:rPr>
              <a:t>portrait orientation</a:t>
            </a:r>
            <a:r>
              <a:rPr lang="en" sz="1500">
                <a:solidFill>
                  <a:schemeClr val="dk1"/>
                </a:solidFill>
              </a:rPr>
              <a:t> (vertical) and </a:t>
            </a:r>
            <a:r>
              <a:rPr b="1" lang="en" sz="1500">
                <a:solidFill>
                  <a:schemeClr val="dk1"/>
                </a:solidFill>
              </a:rPr>
              <a:t>landscape orientation</a:t>
            </a:r>
            <a:r>
              <a:rPr lang="en" sz="1500">
                <a:solidFill>
                  <a:schemeClr val="dk1"/>
                </a:solidFill>
              </a:rPr>
              <a:t> (horizontal) for the layout of your pages.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Page Size</a:t>
            </a:r>
            <a:r>
              <a:rPr lang="en" sz="1500">
                <a:solidFill>
                  <a:schemeClr val="dk1"/>
                </a:solidFill>
              </a:rPr>
              <a:t>: Microsoft Word allows you to set the </a:t>
            </a:r>
            <a:r>
              <a:rPr b="1" lang="en" sz="1500">
                <a:solidFill>
                  <a:schemeClr val="dk1"/>
                </a:solidFill>
              </a:rPr>
              <a:t>page size</a:t>
            </a:r>
            <a:r>
              <a:rPr lang="en" sz="1500">
                <a:solidFill>
                  <a:schemeClr val="dk1"/>
                </a:solidFill>
              </a:rPr>
              <a:t> (A4, letter, etc.) to match the requirements of your document.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106" name="Google Shape;106;p21" title="download (2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925" y="3398375"/>
            <a:ext cx="4056675" cy="14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Spell Check and Grammar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Word automatically checks spelling and grammar as you type. Misspelled words are underlined in red, and grammar errors are underlined in blue. Right-clicking these words gives you suggestions for corrections.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13" name="Google Shape;113;p22" title="images (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1000" y="2142175"/>
            <a:ext cx="3400250" cy="264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582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Word Count</a:t>
            </a:r>
            <a:r>
              <a:rPr lang="en" sz="1500">
                <a:solidFill>
                  <a:schemeClr val="dk1"/>
                </a:solidFill>
              </a:rPr>
              <a:t>: You can easily check how many words, characters, and pages are in your document by using the </a:t>
            </a:r>
            <a:r>
              <a:rPr b="1" lang="en" sz="1500">
                <a:solidFill>
                  <a:schemeClr val="dk1"/>
                </a:solidFill>
              </a:rPr>
              <a:t>Word Count</a:t>
            </a:r>
            <a:r>
              <a:rPr lang="en" sz="1500">
                <a:solidFill>
                  <a:schemeClr val="dk1"/>
                </a:solidFill>
              </a:rPr>
              <a:t> feature.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Read Aloud</a:t>
            </a:r>
            <a:r>
              <a:rPr lang="en" sz="1500">
                <a:solidFill>
                  <a:schemeClr val="dk1"/>
                </a:solidFill>
              </a:rPr>
              <a:t>: </a:t>
            </a:r>
            <a:r>
              <a:rPr b="1" lang="en" sz="1500">
                <a:solidFill>
                  <a:schemeClr val="dk1"/>
                </a:solidFill>
              </a:rPr>
              <a:t>Read Aloud</a:t>
            </a:r>
            <a:r>
              <a:rPr lang="en" sz="1500">
                <a:solidFill>
                  <a:schemeClr val="dk1"/>
                </a:solidFill>
              </a:rPr>
              <a:t> is a feature where Word reads your text out loud. This is helpful to catch mistakes you might not notice while reading silently.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Translation</a:t>
            </a:r>
            <a:r>
              <a:rPr lang="en" sz="1500">
                <a:solidFill>
                  <a:schemeClr val="dk1"/>
                </a:solidFill>
              </a:rPr>
              <a:t>: If you need to translate your document into another language, Word has built-in </a:t>
            </a:r>
            <a:r>
              <a:rPr b="1" lang="en" sz="1500">
                <a:solidFill>
                  <a:schemeClr val="dk1"/>
                </a:solidFill>
              </a:rPr>
              <a:t>translation</a:t>
            </a:r>
            <a:r>
              <a:rPr lang="en" sz="1500">
                <a:solidFill>
                  <a:schemeClr val="dk1"/>
                </a:solidFill>
              </a:rPr>
              <a:t> tools to help you quickly convert text.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9" name="Google Shape;119;p23" title="download (2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4850" y="3334325"/>
            <a:ext cx="3242125" cy="1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